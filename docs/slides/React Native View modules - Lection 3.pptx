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5"/>
  </p:sldMasterIdLst>
  <p:notesMasterIdLst>
    <p:notesMasterId r:id="rId24"/>
  </p:notesMasterIdLst>
  <p:handoutMasterIdLst>
    <p:handoutMasterId r:id="rId25"/>
  </p:handoutMasterIdLst>
  <p:sldIdLst>
    <p:sldId id="259" r:id="rId6"/>
    <p:sldId id="260" r:id="rId7"/>
    <p:sldId id="277" r:id="rId37"/>
    <p:sldId id="263" r:id="rId8"/>
    <p:sldId id="264" r:id="rId9"/>
    <p:sldId id="265" r:id="rId10"/>
    <p:sldId id="261" r:id="rId11"/>
    <p:sldId id="262" r:id="rId12"/>
    <p:sldId id="267" r:id="rId13"/>
    <p:sldId id="278" r:id="rId33"/>
    <p:sldId id="266" r:id="rId14"/>
    <p:sldId id="268" r:id="rId15"/>
    <p:sldId id="269" r:id="rId16"/>
    <p:sldId id="270" r:id="rId17"/>
    <p:sldId id="271" r:id="rId18"/>
    <p:sldId id="279" r:id="rId34"/>
    <p:sldId id="280" r:id="rId35"/>
    <p:sldId id="281" r:id="rId36"/>
    <p:sldId id="282" r:id="rId38"/>
    <p:sldId id="272" r:id="rId19"/>
    <p:sldId id="273" r:id="rId20"/>
    <p:sldId id="274" r:id="rId21"/>
    <p:sldId id="275" r:id="rId22"/>
    <p:sldId id="276" r:id="rId23"/>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4" orient="horz" pos="220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zhalika Levandouskaya" initials="AL" lastIdx="0" clrIdx="0">
    <p:extLst>
      <p:ext uri="{19B8F6BF-5375-455C-9EA6-DF929625EA0E}">
        <p15:presenceInfo xmlns:p15="http://schemas.microsoft.com/office/powerpoint/2012/main" userId="S::Anzhalika_Levandouskaya@epam.com::92adfee3-e19f-494c-b48e-2a057e813db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90046-72CC-EC4A-9C9A-A0D35DECDB12}" v="38" dt="2025-09-05T12:11:26.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8" autoAdjust="0"/>
    <p:restoredTop sz="95698"/>
  </p:normalViewPr>
  <p:slideViewPr>
    <p:cSldViewPr snapToGrid="0">
      <p:cViewPr varScale="1">
        <p:scale>
          <a:sx n="128" d="100"/>
          <a:sy n="128" d="100"/>
        </p:scale>
        <p:origin x="192" y="304"/>
      </p:cViewPr>
      <p:guideLst>
        <p:guide pos="3840"/>
        <p:guide orient="horz" pos="2208"/>
      </p:guideLst>
    </p:cSldViewPr>
  </p:slideViewPr>
  <p:notesTextViewPr>
    <p:cViewPr>
      <p:scale>
        <a:sx n="3" d="2"/>
        <a:sy n="3" d="2"/>
      </p:scale>
      <p:origin x="0" y="0"/>
    </p:cViewPr>
  </p:notesTextViewPr>
  <p:sorterViewPr>
    <p:cViewPr>
      <p:scale>
        <a:sx n="80" d="100"/>
        <a:sy n="80" d="100"/>
      </p:scale>
      <p:origin x="0" y="0"/>
    </p:cViewPr>
  </p:sorterViewPr>
  <p:notesViewPr>
    <p:cSldViewPr snapToGrid="0">
      <p:cViewPr varScale="1">
        <p:scale>
          <a:sx n="59" d="100"/>
          <a:sy n="59" d="100"/>
        </p:scale>
        <p:origin x="3226" y="72"/>
      </p:cViewPr>
      <p:guideLst/>
    </p:cSldViewPr>
  </p:notesViewPr>
  <p:gridSpacing cx="76200" cy="76200"/>
</p:viewPr>
</file>

<file path=ppt/_rels/presentation.xml.rels><?xml version="1.0" encoding="utf-8"?>
<Relationships xmlns="http://schemas.openxmlformats.org/package/2006/relationships">
  <Relationship Id="rId8" Type="http://schemas.openxmlformats.org/officeDocument/2006/relationships/slide" Target="slides/slide3.xml"/>
  <Relationship Id="rId13" Type="http://schemas.openxmlformats.org/officeDocument/2006/relationships/slide" Target="slides/slide8.xml"/>
  <Relationship Id="rId18" Type="http://schemas.openxmlformats.org/officeDocument/2006/relationships/slide" Target="slides/slide13.xml"/>
  <Relationship Id="rId26" Type="http://schemas.openxmlformats.org/officeDocument/2006/relationships/tags" Target="tags/tag1.xml"/>
  <Relationship Id="rId3" Type="http://schemas.openxmlformats.org/officeDocument/2006/relationships/customXml" Target="../customXml/item3.xml"/>
  <Relationship Id="rId21" Type="http://schemas.openxmlformats.org/officeDocument/2006/relationships/slide" Target="slides/slide16.xml"/>
  <Relationship Id="rId7" Type="http://schemas.openxmlformats.org/officeDocument/2006/relationships/slide" Target="slides/slide2.xml"/>
  <Relationship Id="rId12" Type="http://schemas.openxmlformats.org/officeDocument/2006/relationships/slide" Target="slides/slide7.xml"/>
  <Relationship Id="rId17" Type="http://schemas.openxmlformats.org/officeDocument/2006/relationships/slide" Target="slides/slide12.xml"/>
  <Relationship Id="rId25" Type="http://schemas.openxmlformats.org/officeDocument/2006/relationships/handoutMaster" Target="handoutMasters/handoutMaster1.xml"/>
  <Relationship Id="rId2" Type="http://schemas.openxmlformats.org/officeDocument/2006/relationships/customXml" Target="../customXml/item2.xml"/>
  <Relationship Id="rId16" Type="http://schemas.openxmlformats.org/officeDocument/2006/relationships/slide" Target="slides/slide11.xml"/>
  <Relationship Id="rId20" Type="http://schemas.openxmlformats.org/officeDocument/2006/relationships/slide" Target="slides/slide15.xml"/>
  <Relationship Id="rId29"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1.xml"/>
  <Relationship Id="rId11" Type="http://schemas.openxmlformats.org/officeDocument/2006/relationships/slide" Target="slides/slide6.xml"/>
  <Relationship Id="rId24" Type="http://schemas.openxmlformats.org/officeDocument/2006/relationships/notesMaster" Target="notesMasters/notesMaster1.xml"/>
  <Relationship Id="rId32" Type="http://schemas.microsoft.com/office/2015/10/relationships/revisionInfo" Target="revisionInfo.xml"/>
  <Relationship Id="rId5" Type="http://schemas.openxmlformats.org/officeDocument/2006/relationships/slideMaster" Target="slideMasters/slideMaster1.xml"/>
  <Relationship Id="rId15" Type="http://schemas.openxmlformats.org/officeDocument/2006/relationships/slide" Target="slides/slide10.xml"/>
  <Relationship Id="rId23" Type="http://schemas.openxmlformats.org/officeDocument/2006/relationships/slide" Target="slides/slide18.xml"/>
  <Relationship Id="rId28" Type="http://schemas.openxmlformats.org/officeDocument/2006/relationships/presProps" Target="presProps.xml"/>
  <Relationship Id="rId10" Type="http://schemas.openxmlformats.org/officeDocument/2006/relationships/slide" Target="slides/slide5.xml"/>
  <Relationship Id="rId19" Type="http://schemas.openxmlformats.org/officeDocument/2006/relationships/slide" Target="slides/slide14.xml"/>
  <Relationship Id="rId31" Type="http://schemas.openxmlformats.org/officeDocument/2006/relationships/tableStyles" Target="tableStyles.xml"/>
  <Relationship Id="rId4" Type="http://schemas.openxmlformats.org/officeDocument/2006/relationships/customXml" Target="../customXml/item4.xml"/>
  <Relationship Id="rId9" Type="http://schemas.openxmlformats.org/officeDocument/2006/relationships/slide" Target="slides/slide4.xml"/>
  <Relationship Id="rId14" Type="http://schemas.openxmlformats.org/officeDocument/2006/relationships/slide" Target="slides/slide9.xml"/>
  <Relationship Id="rId22" Type="http://schemas.openxmlformats.org/officeDocument/2006/relationships/slide" Target="slides/slide17.xml"/>
  <Relationship Id="rId27" Type="http://schemas.openxmlformats.org/officeDocument/2006/relationships/commentAuthors" Target="commentAuthors.xml"/>
  <Relationship Id="rId30" Type="http://schemas.openxmlformats.org/officeDocument/2006/relationships/theme" Target="theme/theme1.xml"/>
  <Relationship Id="rId33" Type="http://schemas.openxmlformats.org/officeDocument/2006/relationships/slide" Target="slides/slide19.xml"/>
  <Relationship Id="rId34" Type="http://schemas.openxmlformats.org/officeDocument/2006/relationships/slide" Target="slides/slide20.xml"/>
  <Relationship Id="rId35" Type="http://schemas.openxmlformats.org/officeDocument/2006/relationships/slide" Target="slides/slide21.xml"/>
  <Relationship Id="rId36" Type="http://schemas.openxmlformats.org/officeDocument/2006/relationships/slide" Target="slides/slide22.xml"/>
  <Relationship Id="rId37" Type="http://schemas.openxmlformats.org/officeDocument/2006/relationships/slide" Target="slides/slide23.xml"/>
  <Relationship Id="rId38" Type="http://schemas.openxmlformats.org/officeDocument/2006/relationships/slide" Target="slides/slide24.xml"/>
</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6235F4-21D9-B4E1-34F4-E9E9E34487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DE02ED4-AC14-DC4E-906D-84CDE05E72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27DFA4-1D6B-4317-8919-A3D08A74BF56}" type="datetimeFigureOut">
              <a:rPr lang="en-US" smtClean="0"/>
              <a:t>9/5/25</a:t>
            </a:fld>
            <a:endParaRPr lang="en-US"/>
          </a:p>
        </p:txBody>
      </p:sp>
      <p:sp>
        <p:nvSpPr>
          <p:cNvPr id="4" name="Footer Placeholder 3">
            <a:extLst>
              <a:ext uri="{FF2B5EF4-FFF2-40B4-BE49-F238E27FC236}">
                <a16:creationId xmlns:a16="http://schemas.microsoft.com/office/drawing/2014/main" id="{1FE70CD3-D2D7-F5A0-C166-C5EA2850BD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5EE7575-87B0-01EC-9E74-2888EFDA1E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A32CD5-53B6-47D5-92CB-E19DE595B427}" type="slidenum">
              <a:rPr lang="en-US" smtClean="0"/>
              <a:t>‹#›</a:t>
            </a:fld>
            <a:endParaRPr lang="en-US"/>
          </a:p>
        </p:txBody>
      </p:sp>
    </p:spTree>
    <p:extLst>
      <p:ext uri="{BB962C8B-B14F-4D97-AF65-F5344CB8AC3E}">
        <p14:creationId xmlns:p14="http://schemas.microsoft.com/office/powerpoint/2010/main" val="2432330804"/>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DA449-81D0-4C65-80FA-E84926361CC3}" type="datetimeFigureOut">
              <a:rPr lang="en-US" smtClean="0"/>
              <a:t>9/5/25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5C3A5-A464-4897-B884-BB9B35180A5B}" type="slidenum">
              <a:rPr lang="en-US" smtClean="0"/>
              <a:t>‹#›</a:t>
            </a:fld>
            <a:endParaRPr lang="en-US"/>
          </a:p>
        </p:txBody>
      </p:sp>
    </p:spTree>
    <p:extLst>
      <p:ext uri="{BB962C8B-B14F-4D97-AF65-F5344CB8AC3E}">
        <p14:creationId xmlns:p14="http://schemas.microsoft.com/office/powerpoint/2010/main" val="1117570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A" dirty="0"/>
          </a:p>
        </p:txBody>
      </p:sp>
      <p:sp>
        <p:nvSpPr>
          <p:cNvPr id="4" name="Slide Number Placeholder 3"/>
          <p:cNvSpPr>
            <a:spLocks noGrp="1"/>
          </p:cNvSpPr>
          <p:nvPr>
            <p:ph type="sldNum" sz="quarter" idx="5"/>
          </p:nvPr>
        </p:nvSpPr>
        <p:spPr/>
        <p:txBody>
          <a:bodyPr/>
          <a:lstStyle/>
          <a:p>
            <a:fld id="{4BA5C3A5-A464-4897-B884-BB9B35180A5B}" type="slidenum">
              <a:rPr lang="en-US" smtClean="0"/>
              <a:t>6</a:t>
            </a:fld>
            <a:endParaRPr lang="en-US"/>
          </a:p>
        </p:txBody>
      </p:sp>
    </p:spTree>
    <p:extLst>
      <p:ext uri="{BB962C8B-B14F-4D97-AF65-F5344CB8AC3E}">
        <p14:creationId xmlns:p14="http://schemas.microsoft.com/office/powerpoint/2010/main" val="1637501130"/>
      </p:ext>
    </p:extLst>
  </p:cSld>
  <p:clrMapOvr>
    <a:masterClrMapping/>
  </p:clrMapOvr>
</p:notes>
</file>

<file path=ppt/slideLayouts/_rels/slideLayout1.xml.rels><?xml version="1.0" encoding="utf-8"?>
<Relationships xmlns="http://schemas.openxmlformats.org/package/2006/relationships">
  <Relationship Id="rId3" Type="http://schemas.openxmlformats.org/officeDocument/2006/relationships/image" Target="../media/image4.emf"/>
  <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3.xml.rels><?xml version="1.0" encoding="utf-8"?>
<Relationships xmlns="http://schemas.openxmlformats.org/package/2006/relationships">
  <Relationship Id="rId2" Type="http://schemas.openxmlformats.org/officeDocument/2006/relationships/image" Target="../media/image4.emf"/>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2" Type="http://schemas.openxmlformats.org/officeDocument/2006/relationships/image" Target="../media/image4.emf"/>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3" Type="http://schemas.openxmlformats.org/officeDocument/2006/relationships/image" Target="../media/image6.png"/>
  <Relationship Id="rId2" Type="http://schemas.openxmlformats.org/officeDocument/2006/relationships/image" Target="../media/image9.png"/>
  <Relationship Id="rId1" Type="http://schemas.openxmlformats.org/officeDocument/2006/relationships/slideMaster" Target="../slideMasters/slideMaster1.xml"/>
  <Relationship Id="rId4" Type="http://schemas.openxmlformats.org/officeDocument/2006/relationships/image" Target="../media/image8.svg"/>
</Relationships>

</file>

<file path=ppt/slideLayouts/_rels/slideLayout10.xml.rels><?xml version="1.0" encoding="utf-8"?>
<Relationships xmlns="http://schemas.openxmlformats.org/package/2006/relationships">
  <Relationship Id="rId3" Type="http://schemas.openxmlformats.org/officeDocument/2006/relationships/image" Target="../media/image6.png"/>
  <Relationship Id="rId2" Type="http://schemas.openxmlformats.org/officeDocument/2006/relationships/image" Target="../media/image10.png"/>
  <Relationship Id="rId1" Type="http://schemas.openxmlformats.org/officeDocument/2006/relationships/slideMaster" Target="../slideMasters/slideMaster1.xml"/>
  <Relationship Id="rId4" Type="http://schemas.openxmlformats.org/officeDocument/2006/relationships/image" Target="../media/image8.svg"/>
</Relationships>

</file>

<file path=ppt/slideLayouts/_rels/slideLayout11.xml.rels><?xml version="1.0" encoding="utf-8"?>
<Relationships xmlns="http://schemas.openxmlformats.org/package/2006/relationships">
  <Relationship Id="rId3" Type="http://schemas.openxmlformats.org/officeDocument/2006/relationships/image" Target="../media/image6.png"/>
  <Relationship Id="rId2" Type="http://schemas.openxmlformats.org/officeDocument/2006/relationships/image" Target="../media/image11.png"/>
  <Relationship Id="rId1" Type="http://schemas.openxmlformats.org/officeDocument/2006/relationships/slideMaster" Target="../slideMasters/slideMaster1.xml"/>
  <Relationship Id="rId4" Type="http://schemas.openxmlformats.org/officeDocument/2006/relationships/image" Target="../media/image8.svg"/>
</Relationships>

</file>

<file path=ppt/slideLayouts/_rels/slideLayout12.xml.rels><?xml version="1.0" encoding="utf-8"?>
<Relationships xmlns="http://schemas.openxmlformats.org/package/2006/relationships">
  <Relationship Id="rId3" Type="http://schemas.openxmlformats.org/officeDocument/2006/relationships/image" Target="../media/image6.png"/>
  <Relationship Id="rId2" Type="http://schemas.openxmlformats.org/officeDocument/2006/relationships/image" Target="../media/image12.png"/>
  <Relationship Id="rId1" Type="http://schemas.openxmlformats.org/officeDocument/2006/relationships/slideMaster" Target="../slideMasters/slideMaster1.xml"/>
  <Relationship Id="rId4" Type="http://schemas.openxmlformats.org/officeDocument/2006/relationships/image" Target="../media/image8.svg"/>
</Relationships>

</file>

<file path=ppt/slideLayouts/_rels/slideLayout13.xml.rels><?xml version="1.0" encoding="utf-8"?>
<Relationships xmlns="http://schemas.openxmlformats.org/package/2006/relationships">
  <Relationship Id="rId3" Type="http://schemas.openxmlformats.org/officeDocument/2006/relationships/image" Target="../media/image13.emf"/>
  <Relationship Id="rId2" Type="http://schemas.openxmlformats.org/officeDocument/2006/relationships/image" Target="../media/image12.png"/>
  <Relationship Id="rId1" Type="http://schemas.openxmlformats.org/officeDocument/2006/relationships/slideMaster" Target="../slideMasters/slideMaster1.xml"/>
  <Relationship Id="rId5" Type="http://schemas.openxmlformats.org/officeDocument/2006/relationships/image" Target="../media/image8.svg"/>
  <Relationship Id="rId4" Type="http://schemas.openxmlformats.org/officeDocument/2006/relationships/image" Target="../media/image6.png"/>
</Relationships>

</file>

<file path=ppt/slideLayouts/_rels/slideLayout14.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14.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15.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16.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17.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15.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18.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16.png"/>
  <Relationship Id="rId1" Type="http://schemas.openxmlformats.org/officeDocument/2006/relationships/slideMaster" Target="../slideMasters/slideMaster1.xml"/>
  <Relationship Id="rId4" Type="http://schemas.openxmlformats.org/officeDocument/2006/relationships/image" Target="../media/image2.svg"/>
</Relationships>

</file>

<file path=ppt/slideLayouts/_rels/slideLayout1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
  <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
  <Relationship Id="rId3" Type="http://schemas.openxmlformats.org/officeDocument/2006/relationships/image" Target="../media/image18.svg"/>
  <Relationship Id="rId2" Type="http://schemas.openxmlformats.org/officeDocument/2006/relationships/image" Target="../media/image17.png"/>
  <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
  <Relationship Id="rId3" Type="http://schemas.openxmlformats.org/officeDocument/2006/relationships/image" Target="../media/image18.svg"/>
  <Relationship Id="rId2" Type="http://schemas.openxmlformats.org/officeDocument/2006/relationships/image" Target="../media/image17.png"/>
  <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
  <Relationship Id="rId3" Type="http://schemas.openxmlformats.org/officeDocument/2006/relationships/image" Target="../media/image8.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8.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49.xml.rels><?xml version="1.0" encoding="utf-8"?>
<Relationships xmlns="http://schemas.openxmlformats.org/package/2006/relationships">
  <Relationship Id="rId3" Type="http://schemas.openxmlformats.org/officeDocument/2006/relationships/image" Target="../media/image18.svg"/>
  <Relationship Id="rId2" Type="http://schemas.openxmlformats.org/officeDocument/2006/relationships/image" Target="../media/image17.png"/>
  <Relationship Id="rId1" Type="http://schemas.openxmlformats.org/officeDocument/2006/relationships/slideMaster" Target="../slideMasters/slideMaster1.xml"/>
</Relationships>

</file>

<file path=ppt/slideLayouts/_rels/slideLayout5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1.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52.xml.rels><?xml version="1.0" encoding="utf-8"?>
<Relationships xmlns="http://schemas.openxmlformats.org/package/2006/relationships">
  <Relationship Id="rId3" Type="http://schemas.openxmlformats.org/officeDocument/2006/relationships/image" Target="../media/image18.svg"/>
  <Relationship Id="rId2" Type="http://schemas.openxmlformats.org/officeDocument/2006/relationships/image" Target="../media/image17.png"/>
  <Relationship Id="rId1" Type="http://schemas.openxmlformats.org/officeDocument/2006/relationships/slideMaster" Target="../slideMasters/slideMaster1.xml"/>
</Relationships>

</file>

<file path=ppt/slideLayouts/_rels/slideLayout53.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5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8.xml.rels><?xml version="1.0" encoding="utf-8"?>
<Relationships xmlns="http://schemas.openxmlformats.org/package/2006/relationships">
  <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5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1.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62.xml.rels><?xml version="1.0" encoding="utf-8"?>
<Relationships xmlns="http://schemas.openxmlformats.org/package/2006/relationships">
  <Relationship Id="rId2" Type="http://schemas.openxmlformats.org/officeDocument/2006/relationships/image" Target="../media/image19.png"/>
  <Relationship Id="rId1" Type="http://schemas.openxmlformats.org/officeDocument/2006/relationships/slideMaster" Target="../slideMasters/slideMaster1.xml"/>
</Relationships>

</file>

<file path=ppt/slideLayouts/_rels/slideLayout63.xml.rels><?xml version="1.0" encoding="utf-8"?>
<Relationships xmlns="http://schemas.openxmlformats.org/package/2006/relationships">
  <Relationship Id="rId3" Type="http://schemas.openxmlformats.org/officeDocument/2006/relationships/image" Target="../media/image7.svg"/>
  <Relationship Id="rId2" Type="http://schemas.openxmlformats.org/officeDocument/2006/relationships/image" Target="../media/image6.png"/>
  <Relationship Id="rId1" Type="http://schemas.openxmlformats.org/officeDocument/2006/relationships/slideMaster" Target="../slideMasters/slideMaster1.xml"/>
</Relationships>

</file>

<file path=ppt/slideLayouts/_rels/slideLayout64.xml.rels><?xml version="1.0" encoding="utf-8"?>
<Relationships xmlns="http://schemas.openxmlformats.org/package/2006/relationships">
  <Relationship Id="rId2" Type="http://schemas.openxmlformats.org/officeDocument/2006/relationships/image" Target="../media/image20.emf"/>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BG">
    <p:bg>
      <p:bgPr>
        <a:solidFill>
          <a:schemeClr val="bg1"/>
        </a:solidFill>
        <a:effectLst/>
      </p:bgPr>
    </p:bg>
    <p:spTree>
      <p:nvGrpSpPr>
        <p:cNvPr id="1" name=""/>
        <p:cNvGrpSpPr/>
        <p:nvPr/>
      </p:nvGrpSpPr>
      <p:grpSpPr>
        <a:xfrm>
          <a:off x="0" y="0"/>
          <a:ext cx="0" cy="0"/>
          <a:chOff x="0" y="0"/>
          <a:chExt cx="0" cy="0"/>
        </a:xfrm>
      </p:grpSpPr>
      <p:pic>
        <p:nvPicPr>
          <p:cNvPr id="4" name="Picture 3" descr="A bright light in the dark  Description automatically generated with medium confidence">
            <a:extLst>
              <a:ext uri="{FF2B5EF4-FFF2-40B4-BE49-F238E27FC236}">
                <a16:creationId xmlns:a16="http://schemas.microsoft.com/office/drawing/2014/main" id="{292D94B7-0233-C940-0B7E-BB187340B7C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58001"/>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8" name="Picture 7">
            <a:extLst>
              <a:ext uri="{FF2B5EF4-FFF2-40B4-BE49-F238E27FC236}">
                <a16:creationId xmlns:a16="http://schemas.microsoft.com/office/drawing/2014/main" id="{3AAC7376-20F0-E0B1-E7D5-414FC5DC35F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18838136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G-Light">
    <p:bg>
      <p:bgPr>
        <a:solidFill>
          <a:schemeClr val="bg1"/>
        </a:solidFill>
        <a:effectLst/>
      </p:bgPr>
    </p:bg>
    <p:spTree>
      <p:nvGrpSpPr>
        <p:cNvPr id="1" name=""/>
        <p:cNvGrpSpPr/>
        <p:nvPr/>
      </p:nvGrpSpPr>
      <p:grpSpPr>
        <a:xfrm>
          <a:off x="0" y="0"/>
          <a:ext cx="0" cy="0"/>
          <a:chOff x="0" y="0"/>
          <a:chExt cx="0" cy="0"/>
        </a:xfrm>
      </p:grpSpPr>
      <p:pic>
        <p:nvPicPr>
          <p:cNvPr id="2" name="Picture 1" descr="Background pattern  Description automatically generated">
            <a:extLst>
              <a:ext uri="{FF2B5EF4-FFF2-40B4-BE49-F238E27FC236}">
                <a16:creationId xmlns:a16="http://schemas.microsoft.com/office/drawing/2014/main" id="{DE3A7CEE-E1C9-5E29-7BD1-4DC1A1B47F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tx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tx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3" name="Graphic 2">
            <a:extLst>
              <a:ext uri="{FF2B5EF4-FFF2-40B4-BE49-F238E27FC236}">
                <a16:creationId xmlns:a16="http://schemas.microsoft.com/office/drawing/2014/main" id="{D046FBA0-34E7-8BA0-8C70-B6AFD4D64D86}"/>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5414" y="748727"/>
            <a:ext cx="1226857" cy="432373"/>
          </a:xfrm>
          <a:prstGeom prst="rect">
            <a:avLst/>
          </a:prstGeom>
        </p:spPr>
      </p:pic>
    </p:spTree>
    <p:extLst>
      <p:ext uri="{BB962C8B-B14F-4D97-AF65-F5344CB8AC3E}">
        <p14:creationId xmlns:p14="http://schemas.microsoft.com/office/powerpoint/2010/main" val="375355450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r>
              <a:rPr lang="en-US"/>
              <a:t>Click icon to add picture</a:t>
            </a:r>
          </a:p>
        </p:txBody>
      </p:sp>
      <p:sp>
        <p:nvSpPr>
          <p:cNvPr id="4" name="Text Placeholder 4">
            <a:extLst>
              <a:ext uri="{FF2B5EF4-FFF2-40B4-BE49-F238E27FC236}">
                <a16:creationId xmlns:a16="http://schemas.microsoft.com/office/drawing/2014/main" id="{0BD2E969-F100-6B32-8DFD-11A45E5E43FA}"/>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5" name="Text Placeholder 4">
            <a:extLst>
              <a:ext uri="{FF2B5EF4-FFF2-40B4-BE49-F238E27FC236}">
                <a16:creationId xmlns:a16="http://schemas.microsoft.com/office/drawing/2014/main" id="{2C67B491-F517-CB8D-96B1-B02A50D72325}"/>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6" name="Title 2">
            <a:extLst>
              <a:ext uri="{FF2B5EF4-FFF2-40B4-BE49-F238E27FC236}">
                <a16:creationId xmlns:a16="http://schemas.microsoft.com/office/drawing/2014/main" id="{430FF820-B532-1296-E817-DF961B67DF09}"/>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7" name="Picture 6">
            <a:extLst>
              <a:ext uri="{FF2B5EF4-FFF2-40B4-BE49-F238E27FC236}">
                <a16:creationId xmlns:a16="http://schemas.microsoft.com/office/drawing/2014/main" id="{5754D4BD-6E7A-841D-F70C-31FAEF56CD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1922949869"/>
      </p:ext>
    </p:extLst>
  </p:cSld>
  <p:clrMapOvr>
    <a:masterClrMapping/>
  </p:clrMapOv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r>
              <a:rPr lang="en-US"/>
              <a:t>Click icon to add picture</a:t>
            </a:r>
          </a:p>
        </p:txBody>
      </p:sp>
      <p:sp>
        <p:nvSpPr>
          <p:cNvPr id="3" name="Text Placeholder 4">
            <a:extLst>
              <a:ext uri="{FF2B5EF4-FFF2-40B4-BE49-F238E27FC236}">
                <a16:creationId xmlns:a16="http://schemas.microsoft.com/office/drawing/2014/main" id="{30094E5E-6EFF-CE7E-D775-2FA95EEE2F1D}"/>
              </a:ext>
            </a:extLst>
          </p:cNvPr>
          <p:cNvSpPr>
            <a:spLocks noGrp="1"/>
          </p:cNvSpPr>
          <p:nvPr>
            <p:ph type="body" sz="quarter" idx="11" hasCustomPrompt="1"/>
          </p:nvPr>
        </p:nvSpPr>
        <p:spPr>
          <a:xfrm>
            <a:off x="468775" y="4663440"/>
            <a:ext cx="5309027"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4E632B84-D810-D682-26F1-538579099EAB}"/>
              </a:ext>
            </a:extLst>
          </p:cNvPr>
          <p:cNvSpPr>
            <a:spLocks noGrp="1"/>
          </p:cNvSpPr>
          <p:nvPr>
            <p:ph type="body" sz="quarter" idx="12" hasCustomPrompt="1"/>
          </p:nvPr>
        </p:nvSpPr>
        <p:spPr>
          <a:xfrm>
            <a:off x="468775" y="5245390"/>
            <a:ext cx="5309027"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5" name="Title 2">
            <a:extLst>
              <a:ext uri="{FF2B5EF4-FFF2-40B4-BE49-F238E27FC236}">
                <a16:creationId xmlns:a16="http://schemas.microsoft.com/office/drawing/2014/main" id="{7E6BD730-15BB-8DAE-B807-85A733E0F752}"/>
              </a:ext>
            </a:extLst>
          </p:cNvPr>
          <p:cNvSpPr>
            <a:spLocks noGrp="1"/>
          </p:cNvSpPr>
          <p:nvPr>
            <p:ph type="title"/>
          </p:nvPr>
        </p:nvSpPr>
        <p:spPr>
          <a:xfrm>
            <a:off x="466165" y="1696496"/>
            <a:ext cx="5311637" cy="1846659"/>
          </a:xfrm>
        </p:spPr>
        <p:txBody>
          <a:bodyPr vert="horz" wrap="square" lIns="0" tIns="0" rIns="0" bIns="0" rtlCol="0">
            <a:spAutoFit/>
          </a:bodyPr>
          <a:lstStyle>
            <a:lvl1pPr>
              <a:defRPr lang="en-US" sz="6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US"/>
              <a:t>Click to edit Master title style</a:t>
            </a:r>
          </a:p>
        </p:txBody>
      </p:sp>
      <p:pic>
        <p:nvPicPr>
          <p:cNvPr id="2" name="Picture 1">
            <a:extLst>
              <a:ext uri="{FF2B5EF4-FFF2-40B4-BE49-F238E27FC236}">
                <a16:creationId xmlns:a16="http://schemas.microsoft.com/office/drawing/2014/main" id="{58229A6F-36FA-05D5-E223-1581D31CE2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3578860878"/>
      </p:ext>
    </p:extLst>
  </p:cSld>
  <p:clrMapOvr>
    <a:masterClrMapping/>
  </p:clrMapOv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Tree>
    <p:extLst>
      <p:ext uri="{BB962C8B-B14F-4D97-AF65-F5344CB8AC3E}">
        <p14:creationId xmlns:p14="http://schemas.microsoft.com/office/powerpoint/2010/main" val="2101568522"/>
      </p:ext>
    </p:extLst>
  </p:cSld>
  <p:clrMapOvr>
    <a:masterClrMapping/>
  </p:clrMapOvr>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 name="Title 2">
            <a:extLst>
              <a:ext uri="{FF2B5EF4-FFF2-40B4-BE49-F238E27FC236}">
                <a16:creationId xmlns:a16="http://schemas.microsoft.com/office/drawing/2014/main" id="{37B4F039-C58D-468E-394C-C92CD517A82F}"/>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Contents</a:t>
            </a:r>
          </a:p>
        </p:txBody>
      </p:sp>
      <p:sp>
        <p:nvSpPr>
          <p:cNvPr id="7" name="Text Placeholder 4">
            <a:extLst>
              <a:ext uri="{FF2B5EF4-FFF2-40B4-BE49-F238E27FC236}">
                <a16:creationId xmlns:a16="http://schemas.microsoft.com/office/drawing/2014/main" id="{EEBDF361-F375-D313-8D06-BDA2782784FE}"/>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01</a:t>
            </a:r>
          </a:p>
        </p:txBody>
      </p:sp>
      <p:sp>
        <p:nvSpPr>
          <p:cNvPr id="8" name="Text Placeholder 4">
            <a:extLst>
              <a:ext uri="{FF2B5EF4-FFF2-40B4-BE49-F238E27FC236}">
                <a16:creationId xmlns:a16="http://schemas.microsoft.com/office/drawing/2014/main" id="{BBC6E842-5D88-CC5C-F1DA-808D61BEE757}"/>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02</a:t>
            </a:r>
          </a:p>
        </p:txBody>
      </p:sp>
      <p:sp>
        <p:nvSpPr>
          <p:cNvPr id="11" name="Text Placeholder 4">
            <a:extLst>
              <a:ext uri="{FF2B5EF4-FFF2-40B4-BE49-F238E27FC236}">
                <a16:creationId xmlns:a16="http://schemas.microsoft.com/office/drawing/2014/main" id="{CD37A923-9C8E-6CA3-1F51-1680DBD25361}"/>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03</a:t>
            </a:r>
          </a:p>
        </p:txBody>
      </p:sp>
      <p:sp>
        <p:nvSpPr>
          <p:cNvPr id="12" name="Text Placeholder 4">
            <a:extLst>
              <a:ext uri="{FF2B5EF4-FFF2-40B4-BE49-F238E27FC236}">
                <a16:creationId xmlns:a16="http://schemas.microsoft.com/office/drawing/2014/main" id="{3DB5EB1A-8556-A82E-AC69-301BA431D9AC}"/>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04</a:t>
            </a:r>
          </a:p>
        </p:txBody>
      </p:sp>
      <p:sp>
        <p:nvSpPr>
          <p:cNvPr id="24" name="Text Placeholder 4">
            <a:extLst>
              <a:ext uri="{FF2B5EF4-FFF2-40B4-BE49-F238E27FC236}">
                <a16:creationId xmlns:a16="http://schemas.microsoft.com/office/drawing/2014/main" id="{11E3B50A-6363-7824-DFC1-3035609DF67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05</a:t>
            </a:r>
          </a:p>
        </p:txBody>
      </p:sp>
      <p:sp>
        <p:nvSpPr>
          <p:cNvPr id="27" name="Text Placeholder 4">
            <a:extLst>
              <a:ext uri="{FF2B5EF4-FFF2-40B4-BE49-F238E27FC236}">
                <a16:creationId xmlns:a16="http://schemas.microsoft.com/office/drawing/2014/main" id="{13E6F179-1003-654A-7321-F8FE6D12AC32}"/>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06</a:t>
            </a:r>
          </a:p>
        </p:txBody>
      </p:sp>
      <p:sp>
        <p:nvSpPr>
          <p:cNvPr id="28" name="Text Placeholder 4">
            <a:extLst>
              <a:ext uri="{FF2B5EF4-FFF2-40B4-BE49-F238E27FC236}">
                <a16:creationId xmlns:a16="http://schemas.microsoft.com/office/drawing/2014/main" id="{9A7166E3-13D7-44C2-45BA-F8800FCD1D93}"/>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9" name="Text Placeholder 4">
            <a:extLst>
              <a:ext uri="{FF2B5EF4-FFF2-40B4-BE49-F238E27FC236}">
                <a16:creationId xmlns:a16="http://schemas.microsoft.com/office/drawing/2014/main" id="{342EBD53-BF92-55A6-E85A-50AD5A80A5B1}"/>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0" name="Text Placeholder 4">
            <a:extLst>
              <a:ext uri="{FF2B5EF4-FFF2-40B4-BE49-F238E27FC236}">
                <a16:creationId xmlns:a16="http://schemas.microsoft.com/office/drawing/2014/main" id="{41709A76-8AD3-E8A8-447B-E2C8D00A4A1D}"/>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1" name="Text Placeholder 4">
            <a:extLst>
              <a:ext uri="{FF2B5EF4-FFF2-40B4-BE49-F238E27FC236}">
                <a16:creationId xmlns:a16="http://schemas.microsoft.com/office/drawing/2014/main" id="{FA4DA4A4-AEAC-105E-34C0-12EBA35F10E6}"/>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2" name="Text Placeholder 4">
            <a:extLst>
              <a:ext uri="{FF2B5EF4-FFF2-40B4-BE49-F238E27FC236}">
                <a16:creationId xmlns:a16="http://schemas.microsoft.com/office/drawing/2014/main" id="{B6DD83F2-9BFD-E0B8-4706-D7200B45DE3C}"/>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3" name="Text Placeholder 4">
            <a:extLst>
              <a:ext uri="{FF2B5EF4-FFF2-40B4-BE49-F238E27FC236}">
                <a16:creationId xmlns:a16="http://schemas.microsoft.com/office/drawing/2014/main" id="{0D94FEEB-2EA8-081B-0B69-F0ED7A8348AC}"/>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 name="TextBox 2">
            <a:extLst>
              <a:ext uri="{FF2B5EF4-FFF2-40B4-BE49-F238E27FC236}">
                <a16:creationId xmlns:a16="http://schemas.microsoft.com/office/drawing/2014/main" id="{A90CA163-9EEA-54E4-57D2-BFE989F6F9C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8A0B6ADF-5C55-9945-3F05-7FFC190F1FD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566586859"/>
      </p:ext>
    </p:extLst>
  </p:cSld>
  <p:clrMapOvr>
    <a:masterClrMapping/>
  </p:clrMapOvr>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Agenda</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 name="Text Placeholder 4">
            <a:extLst>
              <a:ext uri="{FF2B5EF4-FFF2-40B4-BE49-F238E27FC236}">
                <a16:creationId xmlns:a16="http://schemas.microsoft.com/office/drawing/2014/main" id="{749D503E-C57A-9E5B-19CF-94AF46BB63B3}"/>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6" name="Text Placeholder 4">
            <a:extLst>
              <a:ext uri="{FF2B5EF4-FFF2-40B4-BE49-F238E27FC236}">
                <a16:creationId xmlns:a16="http://schemas.microsoft.com/office/drawing/2014/main" id="{42BD3FFC-05D4-6AF7-0434-C1AC0298E5CD}"/>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7" name="Text Placeholder 4">
            <a:extLst>
              <a:ext uri="{FF2B5EF4-FFF2-40B4-BE49-F238E27FC236}">
                <a16:creationId xmlns:a16="http://schemas.microsoft.com/office/drawing/2014/main" id="{D0952C60-604F-9F1A-9D20-17D094CE4831}"/>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8" name="Text Placeholder 4">
            <a:extLst>
              <a:ext uri="{FF2B5EF4-FFF2-40B4-BE49-F238E27FC236}">
                <a16:creationId xmlns:a16="http://schemas.microsoft.com/office/drawing/2014/main" id="{BD164F81-CDD1-C1B4-ED55-A3321E1032B0}"/>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1" name="Text Placeholder 4">
            <a:extLst>
              <a:ext uri="{FF2B5EF4-FFF2-40B4-BE49-F238E27FC236}">
                <a16:creationId xmlns:a16="http://schemas.microsoft.com/office/drawing/2014/main" id="{7DF71D53-1D3F-D8F8-96D5-6DE13F1A9CC8}"/>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2" name="Text Placeholder 4">
            <a:extLst>
              <a:ext uri="{FF2B5EF4-FFF2-40B4-BE49-F238E27FC236}">
                <a16:creationId xmlns:a16="http://schemas.microsoft.com/office/drawing/2014/main" id="{142F11AF-BF37-8BBB-B5E7-A8655CF9477B}"/>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666871011"/>
      </p:ext>
    </p:extLst>
  </p:cSld>
  <p:clrMapOvr>
    <a:masterClrMapping/>
  </p:clrMapOv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Agenda</a:t>
            </a:r>
          </a:p>
        </p:txBody>
      </p:sp>
      <p:pic>
        <p:nvPicPr>
          <p:cNvPr id="27" name="Graphic 26">
            <a:extLst>
              <a:ext uri="{FF2B5EF4-FFF2-40B4-BE49-F238E27FC236}">
                <a16:creationId xmlns:a16="http://schemas.microsoft.com/office/drawing/2014/main" id="{404C027E-E5F6-C4D1-7BE4-B87D52F48E6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5" name="Text Placeholder 4">
            <a:extLst>
              <a:ext uri="{FF2B5EF4-FFF2-40B4-BE49-F238E27FC236}">
                <a16:creationId xmlns:a16="http://schemas.microsoft.com/office/drawing/2014/main" id="{6672B4D0-A39C-FAF6-B1FC-E8138006004A}"/>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9" name="Text Placeholder 4">
            <a:extLst>
              <a:ext uri="{FF2B5EF4-FFF2-40B4-BE49-F238E27FC236}">
                <a16:creationId xmlns:a16="http://schemas.microsoft.com/office/drawing/2014/main" id="{A00A134C-93F9-0B06-D8F4-9B3C7532A426}"/>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0" name="Text Placeholder 4">
            <a:extLst>
              <a:ext uri="{FF2B5EF4-FFF2-40B4-BE49-F238E27FC236}">
                <a16:creationId xmlns:a16="http://schemas.microsoft.com/office/drawing/2014/main" id="{E37B92C4-122A-5377-7B74-D58A2319E90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3" name="Text Placeholder 4">
            <a:extLst>
              <a:ext uri="{FF2B5EF4-FFF2-40B4-BE49-F238E27FC236}">
                <a16:creationId xmlns:a16="http://schemas.microsoft.com/office/drawing/2014/main" id="{D28A167B-CD8D-159B-58DB-AD9C0600F651}"/>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4" name="Text Placeholder 4">
            <a:extLst>
              <a:ext uri="{FF2B5EF4-FFF2-40B4-BE49-F238E27FC236}">
                <a16:creationId xmlns:a16="http://schemas.microsoft.com/office/drawing/2014/main" id="{D3238DD8-4A7D-554B-8216-37EA1F023174}"/>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5" name="Text Placeholder 4">
            <a:extLst>
              <a:ext uri="{FF2B5EF4-FFF2-40B4-BE49-F238E27FC236}">
                <a16:creationId xmlns:a16="http://schemas.microsoft.com/office/drawing/2014/main" id="{11D58AB5-54CF-F584-79F8-821E69DF6010}"/>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6" name="Text Placeholder 4">
            <a:extLst>
              <a:ext uri="{FF2B5EF4-FFF2-40B4-BE49-F238E27FC236}">
                <a16:creationId xmlns:a16="http://schemas.microsoft.com/office/drawing/2014/main" id="{6367AC01-84C2-7E8C-3BF8-201856803E21}"/>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3" name="Text Placeholder 4">
            <a:extLst>
              <a:ext uri="{FF2B5EF4-FFF2-40B4-BE49-F238E27FC236}">
                <a16:creationId xmlns:a16="http://schemas.microsoft.com/office/drawing/2014/main" id="{60B1A9C8-7F43-7DB1-4F91-53075745C4B6}"/>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4" name="Text Placeholder 4">
            <a:extLst>
              <a:ext uri="{FF2B5EF4-FFF2-40B4-BE49-F238E27FC236}">
                <a16:creationId xmlns:a16="http://schemas.microsoft.com/office/drawing/2014/main" id="{46C8629B-DFA8-41AA-9C67-96D3D02BED28}"/>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6" name="Text Placeholder 4">
            <a:extLst>
              <a:ext uri="{FF2B5EF4-FFF2-40B4-BE49-F238E27FC236}">
                <a16:creationId xmlns:a16="http://schemas.microsoft.com/office/drawing/2014/main" id="{11CC2B96-A6B1-5232-3AEE-F9B7FDBBC137}"/>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0" name="Text Placeholder 4">
            <a:extLst>
              <a:ext uri="{FF2B5EF4-FFF2-40B4-BE49-F238E27FC236}">
                <a16:creationId xmlns:a16="http://schemas.microsoft.com/office/drawing/2014/main" id="{7A18B250-73F5-69E3-5878-B1D8C984F427}"/>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1" name="Text Placeholder 4">
            <a:extLst>
              <a:ext uri="{FF2B5EF4-FFF2-40B4-BE49-F238E27FC236}">
                <a16:creationId xmlns:a16="http://schemas.microsoft.com/office/drawing/2014/main" id="{462FE180-ECE1-55D7-0248-053AC1E99B1F}"/>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 name="TextBox 1">
            <a:extLst>
              <a:ext uri="{FF2B5EF4-FFF2-40B4-BE49-F238E27FC236}">
                <a16:creationId xmlns:a16="http://schemas.microsoft.com/office/drawing/2014/main" id="{D3634F95-D03F-BB17-0BA8-0AB623989FD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50C2139A-0FDA-8116-257B-67457AE6A971}"/>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186013315"/>
      </p:ext>
    </p:extLst>
  </p:cSld>
  <p:clrMapOvr>
    <a:masterClrMapping/>
  </p:clrMapOvr>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Header_Custom_1">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19866F5-F57A-6C40-4D30-D67CB6A3D24E}"/>
              </a:ext>
            </a:extLst>
          </p:cNvPr>
          <p:cNvSpPr>
            <a:spLocks noGrp="1"/>
          </p:cNvSpPr>
          <p:nvPr>
            <p:ph type="title" hasCustomPrompt="1"/>
          </p:nvPr>
        </p:nvSpPr>
        <p:spPr>
          <a:xfrm>
            <a:off x="481265" y="1793240"/>
            <a:ext cx="5640805" cy="923330"/>
          </a:xfrm>
          <a:prstGeom prst="rect">
            <a:avLst/>
          </a:prstGeom>
        </p:spPr>
        <p:txBody>
          <a:bodyPr wrap="square">
            <a:spAutoFit/>
          </a:bodyPr>
          <a:lstStyle>
            <a:lvl1pPr>
              <a:defRPr sz="6000" b="1" i="0">
                <a:solidFill>
                  <a:schemeClr val="bg1"/>
                </a:solidFill>
                <a:latin typeface="+mj-lt"/>
                <a:cs typeface="Calibri Light" panose="020F0302020204030204" pitchFamily="34" charset="0"/>
              </a:defRPr>
            </a:lvl1pPr>
          </a:lstStyle>
          <a:p>
            <a:r>
              <a:rPr lang="en-US"/>
              <a:t>Section Header</a:t>
            </a:r>
          </a:p>
        </p:txBody>
      </p:sp>
      <p:sp>
        <p:nvSpPr>
          <p:cNvPr id="3" name="Text Placeholder 4">
            <a:extLst>
              <a:ext uri="{FF2B5EF4-FFF2-40B4-BE49-F238E27FC236}">
                <a16:creationId xmlns:a16="http://schemas.microsoft.com/office/drawing/2014/main" id="{B0EC5345-D2D0-6B03-7DDB-B62AB64329C8}"/>
              </a:ext>
            </a:extLst>
          </p:cNvPr>
          <p:cNvSpPr>
            <a:spLocks noGrp="1"/>
          </p:cNvSpPr>
          <p:nvPr>
            <p:ph type="body" sz="quarter" idx="10" hasCustomPrompt="1"/>
          </p:nvPr>
        </p:nvSpPr>
        <p:spPr>
          <a:xfrm>
            <a:off x="481265" y="1336040"/>
            <a:ext cx="498928" cy="321627"/>
          </a:xfrm>
          <a:prstGeom prst="rect">
            <a:avLst/>
          </a:prstGeom>
        </p:spPr>
        <p:txBody>
          <a:bodyPr wrap="square" anchor="t" anchorCtr="0">
            <a:spAutoFit/>
          </a:bodyPr>
          <a:lstStyle>
            <a:lvl1pPr algn="l">
              <a:defRPr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4" name="Text Placeholder 4">
            <a:extLst>
              <a:ext uri="{FF2B5EF4-FFF2-40B4-BE49-F238E27FC236}">
                <a16:creationId xmlns:a16="http://schemas.microsoft.com/office/drawing/2014/main" id="{CB32F50E-D900-4FFA-87A8-502151FBE20C}"/>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5" name="Graphic 4">
            <a:extLst>
              <a:ext uri="{FF2B5EF4-FFF2-40B4-BE49-F238E27FC236}">
                <a16:creationId xmlns:a16="http://schemas.microsoft.com/office/drawing/2014/main" id="{7BA73176-A11D-D62A-EC12-39C3DF983B1B}"/>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DDED43E1-5036-AF03-3AFC-AC404D716E4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B4AFFE7B-BAB3-2BE6-68C7-82413494811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63755009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_Header_Custiom_2">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5BDBBF2-452B-8A53-D3BC-946EEC403099}"/>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9" name="Text Placeholder 4">
            <a:extLst>
              <a:ext uri="{FF2B5EF4-FFF2-40B4-BE49-F238E27FC236}">
                <a16:creationId xmlns:a16="http://schemas.microsoft.com/office/drawing/2014/main" id="{2CA620CE-1B8B-D388-B43E-902BAFDB8F31}"/>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10" name="Text Placeholder 4">
            <a:extLst>
              <a:ext uri="{FF2B5EF4-FFF2-40B4-BE49-F238E27FC236}">
                <a16:creationId xmlns:a16="http://schemas.microsoft.com/office/drawing/2014/main" id="{9B21D373-42F2-86AB-3F79-81C1BE348209}"/>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8720EBE-A59D-52D5-044F-DF5C07F83D76}"/>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3F31129-9154-6101-E99F-40D9C428A70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BF7BD8E2-6131-A98D-36C8-080B716E4D6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8075766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_Header_Custiom_3">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BEA6F8A-F8D2-0E03-127C-C4C39351EE62}"/>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F86F72EA-0ABE-9A8E-4E77-930AA5496A56}"/>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A5E6E347-3D84-596D-2504-6BB7F3483113}"/>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5684E56-61FE-0760-81FB-D738FF31CEDA}"/>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4AFDEA9-4B5D-18D7-3B7C-ADC156E9EFC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1C818241-0582-A630-8CB0-7598682D85E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4117368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_Header_Custiom_4">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8956E04-CBD7-E482-8975-949516BE35C7}"/>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4DF04DE8-18FA-CC1C-A2E5-416F24CA0863}"/>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6BD1EAAB-FF14-59B6-EB7C-E327DBE47644}"/>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53ED1D57-42C1-01EC-FDEC-8930A13F02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FA158379-42B6-CCBC-ACEF-3055CDBB2D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8C1715E-3786-F104-88AB-8B85E2F6D91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23188968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C286D-0325-2652-6DE3-BC17B7921CDE}"/>
              </a:ext>
            </a:extLst>
          </p:cNvPr>
          <p:cNvSpPr txBox="1"/>
          <p:nvPr userDrawn="1"/>
        </p:nvSpPr>
        <p:spPr>
          <a:xfrm>
            <a:off x="481264" y="1667844"/>
            <a:ext cx="4403565" cy="1015663"/>
          </a:xfrm>
          <a:prstGeom prst="rect">
            <a:avLst/>
          </a:prstGeom>
        </p:spPr>
        <p:txBody>
          <a:bodyPr vert="horz" wrap="square" lIns="0" tIns="0" rIns="0" bIns="0" rtlCol="0" anchor="t">
            <a:spAutoFit/>
          </a:bodyPr>
          <a:lstStyle>
            <a:lvl1pPr>
              <a:lnSpc>
                <a:spcPct val="100000"/>
              </a:lnSpc>
              <a:spcBef>
                <a:spcPct val="0"/>
              </a:spcBef>
              <a:buNone/>
              <a:defRPr lang="en-US" sz="6000" b="1" i="0">
                <a:solidFill>
                  <a:schemeClr val="bg1"/>
                </a:solidFill>
                <a:latin typeface="+mj-lt"/>
                <a:ea typeface="Calibri" panose="020F0502020204030204" pitchFamily="34" charset="0"/>
                <a:cs typeface="Calibri Light" panose="020F0302020204030204" pitchFamily="34" charset="0"/>
              </a:defRPr>
            </a:lvl1pPr>
          </a:lstStyle>
          <a:p>
            <a:pPr lvl="0"/>
            <a:r>
              <a:rPr lang="en-US"/>
              <a:t>Disclaimer</a:t>
            </a:r>
          </a:p>
        </p:txBody>
      </p:sp>
      <p:sp>
        <p:nvSpPr>
          <p:cNvPr id="7" name="Title 4">
            <a:extLst>
              <a:ext uri="{FF2B5EF4-FFF2-40B4-BE49-F238E27FC236}">
                <a16:creationId xmlns:a16="http://schemas.microsoft.com/office/drawing/2014/main" id="{5C60129C-ED73-46C0-0FB7-BB32CA2BD978}"/>
              </a:ext>
            </a:extLst>
          </p:cNvPr>
          <p:cNvSpPr txBox="1"/>
          <p:nvPr userDrawn="1"/>
        </p:nvSpPr>
        <p:spPr>
          <a:xfrm>
            <a:off x="481263" y="2919114"/>
            <a:ext cx="6664971" cy="105073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nSpc>
                <a:spcPct val="150000"/>
              </a:lnSpc>
            </a:pPr>
            <a:r>
              <a:rPr lang="en-US" sz="2400" b="0">
                <a:solidFill>
                  <a:schemeClr val="bg1"/>
                </a:solidFill>
                <a:latin typeface="Calibri Light"/>
                <a:cs typeface="Calibri Light"/>
              </a:rPr>
              <a:t>Do not share this presentation without a signed NDA.</a:t>
            </a:r>
            <a:endParaRPr lang="en-US" sz="2400">
              <a:solidFill>
                <a:schemeClr val="bg1"/>
              </a:solidFill>
              <a:latin typeface="Calibri Light"/>
              <a:cs typeface="Calibri Light"/>
            </a:endParaRPr>
          </a:p>
          <a:p>
            <a:pPr>
              <a:lnSpc>
                <a:spcPct val="150000"/>
              </a:lnSpc>
            </a:pPr>
            <a:r>
              <a:rPr lang="en-US" sz="2400" b="0">
                <a:solidFill>
                  <a:schemeClr val="bg1"/>
                </a:solidFill>
                <a:latin typeface="Calibri Light"/>
                <a:cs typeface="Calibri Light"/>
              </a:rPr>
              <a:t>Convert to PDF to protect sensitive slide notes.</a:t>
            </a:r>
            <a:endParaRPr lang="en-US" sz="2400">
              <a:solidFill>
                <a:schemeClr val="bg1"/>
              </a:solidFill>
              <a:latin typeface="Calibri Light"/>
              <a:cs typeface="Calibri Light"/>
            </a:endParaRPr>
          </a:p>
        </p:txBody>
      </p:sp>
      <p:pic>
        <p:nvPicPr>
          <p:cNvPr id="8" name="Picture 7">
            <a:extLst>
              <a:ext uri="{FF2B5EF4-FFF2-40B4-BE49-F238E27FC236}">
                <a16:creationId xmlns:a16="http://schemas.microsoft.com/office/drawing/2014/main" id="{EF3464A0-B9BD-B9A5-38BA-45F5800B2DA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1264" y="872962"/>
            <a:ext cx="668294" cy="622205"/>
          </a:xfrm>
          <a:prstGeom prst="rect">
            <a:avLst/>
          </a:prstGeom>
        </p:spPr>
      </p:pic>
      <p:pic>
        <p:nvPicPr>
          <p:cNvPr id="2" name="Graphic 1">
            <a:extLst>
              <a:ext uri="{FF2B5EF4-FFF2-40B4-BE49-F238E27FC236}">
                <a16:creationId xmlns:a16="http://schemas.microsoft.com/office/drawing/2014/main" id="{C9E71BD3-C16B-E833-87BA-15C303776436}"/>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D42082F-236C-033C-4BB1-ED91055E10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3DDC278-1F97-461F-020F-97C4F17BCD4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17806764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Light">
    <p:spTree>
      <p:nvGrpSpPr>
        <p:cNvPr id="1" name=""/>
        <p:cNvGrpSpPr/>
        <p:nvPr/>
      </p:nvGrpSpPr>
      <p:grpSpPr>
        <a:xfrm>
          <a:off x="0" y="0"/>
          <a:ext cx="0" cy="0"/>
          <a:chOff x="0" y="0"/>
          <a:chExt cx="0" cy="0"/>
        </a:xfrm>
      </p:grpSpPr>
      <p:pic>
        <p:nvPicPr>
          <p:cNvPr id="4" name="Picture 3" descr="Background pattern  Description automatically generated with medium confidence">
            <a:extLst>
              <a:ext uri="{FF2B5EF4-FFF2-40B4-BE49-F238E27FC236}">
                <a16:creationId xmlns:a16="http://schemas.microsoft.com/office/drawing/2014/main" id="{93E89BDD-DFE0-2F52-8234-B4BA719C24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45299"/>
          </a:xfrm>
          <a:prstGeom prst="rect">
            <a:avLst/>
          </a:prstGeom>
        </p:spPr>
      </p:pic>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589353319"/>
      </p:ext>
    </p:extLst>
  </p:cSld>
  <p:clrMapOvr>
    <a:masterClrMapping/>
  </p:clrMapOvr>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Light-2">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8E60C0F2-79B7-EE1B-6041-90317B3CB1E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5199D6FE-5F94-4710-8291-B3438158799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13F08F0-0194-EA75-42BA-A0773D6D3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5EBCD999-82B2-EE7A-6B7F-62E9DF0FC3B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F60BC1F9-F5BB-BACB-98D9-6B1EA76689A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21A2213A-A5D0-F62A-BDB3-8BB538A659C6}"/>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500BD8D1-BEE3-CC7B-18BC-B2C6739412DA}"/>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085195792"/>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Light-3">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47254E77-EA64-0D5B-1B56-09AF228EFA4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41AD50E6-D58E-3D8C-41A0-48F21CC758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BEC493A-D2B3-E243-2D3B-B6C3183A317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AF48D13-7FE0-0CB2-89F9-E7AA85593DB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7D221B2F-F01A-3D8B-58F3-2E0CD57769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7" name="Title 8">
            <a:extLst>
              <a:ext uri="{FF2B5EF4-FFF2-40B4-BE49-F238E27FC236}">
                <a16:creationId xmlns:a16="http://schemas.microsoft.com/office/drawing/2014/main" id="{5E154CAE-C4D8-C2A0-6BE8-461C3B8FA5B3}"/>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8" name="Text Placeholder 4">
            <a:extLst>
              <a:ext uri="{FF2B5EF4-FFF2-40B4-BE49-F238E27FC236}">
                <a16:creationId xmlns:a16="http://schemas.microsoft.com/office/drawing/2014/main" id="{702DE92A-A744-9D66-5950-661ECF019C8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22776988"/>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Light-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5381F3-7ADD-A798-2917-70C400E5FC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704668" y="2820541"/>
            <a:ext cx="4487332" cy="4037459"/>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5747460E-84D6-E4C7-66CE-0A88D0D3B7E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4C926E2E-67D5-D03F-CAF1-D936DD3C015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470B9D3F-8FFD-EE49-3B30-05286E2EBB66}"/>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062202411"/>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Light-5">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35273E55-8F47-AC18-08B7-C31C53E2A2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CBBCDB36-A5F4-DF81-FE84-1CBB0550822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36520FD8-AF16-A7D1-FBFD-C07B1B5276A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BEA145C4-F1AE-010B-FC94-C27466A668E5}"/>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035649744"/>
      </p:ext>
    </p:extLst>
  </p:cSld>
  <p:clrMapOvr>
    <a:masterClrMapping/>
  </p:clrMapOvr>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730046299"/>
      </p:ext>
    </p:extLst>
  </p:cSld>
  <p:clrMapOvr>
    <a:masterClrMapping/>
  </p:clrMapOvr>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741796530"/>
      </p:ext>
    </p:extLst>
  </p:cSld>
  <p:clrMapOvr>
    <a:masterClrMapping/>
  </p:clrMapOvr>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8CBF3641-43B5-6FAC-E7AA-3C2E1B68684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55487858"/>
      </p:ext>
    </p:extLst>
  </p:cSld>
  <p:clrMapOvr>
    <a:masterClrMapping/>
  </p:clrMapOvr>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83132"/>
      </p:ext>
    </p:extLst>
  </p:cSld>
  <p:clrMapOvr>
    <a:masterClrMapping/>
  </p:clrMapOvr>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72767571"/>
      </p:ext>
    </p:extLst>
  </p:cSld>
  <p:clrMapOvr>
    <a:masterClrMapping/>
  </p:clrMapOvr>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Sub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7" name="Text Placeholder 8">
            <a:extLst>
              <a:ext uri="{FF2B5EF4-FFF2-40B4-BE49-F238E27FC236}">
                <a16:creationId xmlns:a16="http://schemas.microsoft.com/office/drawing/2014/main" id="{AA4049EA-1C80-CEF2-C39E-9249C1D295FE}"/>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bg1"/>
                </a:solidFill>
              </a:defRPr>
            </a:lvl1pPr>
          </a:lstStyle>
          <a:p>
            <a:pPr lvl="0"/>
            <a:r>
              <a:rPr lang="en-US"/>
              <a:t>Edit Master text styles</a:t>
            </a:r>
          </a:p>
        </p:txBody>
      </p:sp>
    </p:spTree>
    <p:extLst>
      <p:ext uri="{BB962C8B-B14F-4D97-AF65-F5344CB8AC3E}">
        <p14:creationId xmlns:p14="http://schemas.microsoft.com/office/powerpoint/2010/main" val="3026768076"/>
      </p:ext>
    </p:extLst>
  </p:cSld>
  <p:clrMapOvr>
    <a:masterClrMapping/>
  </p:clrMapOvr>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5"/>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9D2FFF58-70EB-C86F-9E59-1581F18B872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bg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639673853"/>
      </p:ext>
    </p:extLst>
  </p:cSld>
  <p:clrMapOvr>
    <a:masterClrMapping/>
  </p:clrMapOvr>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tx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3" name="Graphic 2">
            <a:extLst>
              <a:ext uri="{FF2B5EF4-FFF2-40B4-BE49-F238E27FC236}">
                <a16:creationId xmlns:a16="http://schemas.microsoft.com/office/drawing/2014/main" id="{99CE1444-B151-5430-2753-A94BFE598634}"/>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023428283"/>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rrow-Tw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25900"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80E4AD9-5B60-F04F-FEE1-80647A0EADEE}"/>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189EAA6-8653-D9C5-4653-C4B7BB2BB32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38379873"/>
      </p:ext>
    </p:extLst>
  </p:cSld>
  <p:clrMapOvr>
    <a:masterClrMapping/>
  </p:clrMapOvr>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2431832217"/>
      </p:ext>
    </p:extLst>
  </p:cSld>
  <p:clrMapOvr>
    <a:masterClrMapping/>
  </p:clrMapOvr>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5" y="0"/>
            <a:ext cx="2371722"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B1E6AE37-FC1E-5269-1E83-C3E9928ED25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607A8488-5F43-686E-E10B-16D16E352EE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B7DE099-ACDF-D41B-FBC3-5EE9A76F4C28}"/>
              </a:ext>
            </a:extLst>
          </p:cNvPr>
          <p:cNvSpPr>
            <a:spLocks noGrp="1"/>
          </p:cNvSpPr>
          <p:nvPr>
            <p:ph type="title"/>
          </p:nvPr>
        </p:nvSpPr>
        <p:spPr>
          <a:xfrm>
            <a:off x="457200" y="723900"/>
            <a:ext cx="7450138"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AF7055BE-CD0F-6E9E-5992-4C7B9EF5FAB5}"/>
              </a:ext>
            </a:extLst>
          </p:cNvPr>
          <p:cNvSpPr>
            <a:spLocks noGrp="1"/>
          </p:cNvSpPr>
          <p:nvPr>
            <p:ph type="body" sz="quarter" idx="15" hasCustomPrompt="1"/>
          </p:nvPr>
        </p:nvSpPr>
        <p:spPr>
          <a:xfrm>
            <a:off x="457200" y="382446"/>
            <a:ext cx="3600000"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7504625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1/6-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0FD50C-06F7-21CC-1F6A-D75586A5063A}"/>
              </a:ext>
            </a:extLst>
          </p:cNvPr>
          <p:cNvSpPr/>
          <p:nvPr userDrawn="1"/>
        </p:nvSpPr>
        <p:spPr bwMode="auto">
          <a:xfrm>
            <a:off x="5166"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56866651-9DE6-3C00-E38E-CCE80D60499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367"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07BD1CA3-DE0B-7A9B-CE98-826ACE3DFEB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05F033AD-4765-5FA3-B45B-9232B4A16A8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730864382"/>
      </p:ext>
    </p:extLst>
  </p:cSld>
  <p:clrMapOvr>
    <a:masterClrMapping/>
  </p:clrMapOvr>
  <p:transition/>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181407400"/>
      </p:ext>
    </p:extLst>
  </p:cSld>
  <p:clrMapOvr>
    <a:masterClrMapping/>
  </p:clrMapOvr>
  <p:transition/>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3-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441E88-7FE8-D22E-100F-B090659320A1}"/>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BFA5AB7F-48A8-2636-3278-4702BB8C575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64ACC802-5D81-6EBD-4496-14A01AE49DB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E233E5D9-D527-CAC4-3B1E-44AA802D724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35637567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C79FDF51-3B9F-C5D8-7A84-09B7B6CB9E8B}"/>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FD3A15A-582D-3DDB-CC40-43726E84CA43}"/>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D8F2DF5-DE6F-E2FC-0057-63CC04174C3F}"/>
              </a:ext>
            </a:extLst>
          </p:cNvPr>
          <p:cNvSpPr>
            <a:spLocks noGrp="1"/>
          </p:cNvSpPr>
          <p:nvPr>
            <p:ph type="title"/>
          </p:nvPr>
        </p:nvSpPr>
        <p:spPr>
          <a:xfrm>
            <a:off x="457200" y="723900"/>
            <a:ext cx="5764213"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74897430-924B-CB14-9A94-8DB20A76C701}"/>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90545699"/>
      </p:ext>
    </p:extLst>
  </p:cSld>
  <p:clrMapOvr>
    <a:masterClrMapping/>
  </p:clrMapOvr>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511953504"/>
      </p:ext>
    </p:extLst>
  </p:cSld>
  <p:clrMapOvr>
    <a:masterClrMapping/>
  </p:clrMapOvr>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1/2-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C5343-68AD-9879-2727-7ECBCB6A1B23}"/>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BEF0FAA-381C-3A89-42AF-830EF59119AC}"/>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56236"/>
            <a:ext cx="540540" cy="190499"/>
          </a:xfrm>
          <a:prstGeom prst="rect">
            <a:avLst/>
          </a:prstGeom>
        </p:spPr>
      </p:pic>
      <p:sp>
        <p:nvSpPr>
          <p:cNvPr id="11" name="TextBox 10">
            <a:extLst>
              <a:ext uri="{FF2B5EF4-FFF2-40B4-BE49-F238E27FC236}">
                <a16:creationId xmlns:a16="http://schemas.microsoft.com/office/drawing/2014/main" id="{8B24921F-F7DB-7A40-465F-85F610FC20C6}"/>
              </a:ext>
            </a:extLst>
          </p:cNvPr>
          <p:cNvSpPr txBox="1"/>
          <p:nvPr userDrawn="1"/>
        </p:nvSpPr>
        <p:spPr>
          <a:xfrm>
            <a:off x="10048875" y="6423925"/>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64F018D9-6B5F-8BCB-BD75-7816BF58C56F}"/>
              </a:ext>
            </a:extLst>
          </p:cNvPr>
          <p:cNvSpPr txBox="1"/>
          <p:nvPr userDrawn="1"/>
        </p:nvSpPr>
        <p:spPr>
          <a:xfrm>
            <a:off x="11498094" y="6423926"/>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567136573"/>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2122893836"/>
      </p:ext>
    </p:extLst>
  </p:cSld>
  <p:clrMapOvr>
    <a:masterClrMapping/>
  </p:clrMapOvr>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1/2 Picture-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2960BA-AA0C-9715-43A2-22B9050A4780}"/>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81783F67-AD13-06FC-C79E-DE6FBF4D057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a:solidFill>
            <a:schemeClr val="tx1">
              <a:lumMod val="85000"/>
              <a:lumOff val="1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B2F414E4-F961-7DD4-8CFB-7B93DD10B689}"/>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2BE525B-A1C0-1DD5-E075-79F96E71ED4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0" name="TextBox 9">
            <a:extLst>
              <a:ext uri="{FF2B5EF4-FFF2-40B4-BE49-F238E27FC236}">
                <a16:creationId xmlns:a16="http://schemas.microsoft.com/office/drawing/2014/main" id="{5067A229-8E7F-A1E8-7492-218AEFB06B0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1" name="Text Placeholder 3">
            <a:extLst>
              <a:ext uri="{FF2B5EF4-FFF2-40B4-BE49-F238E27FC236}">
                <a16:creationId xmlns:a16="http://schemas.microsoft.com/office/drawing/2014/main" id="{371751A4-BF09-09F2-77C6-42F2F2AEB24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442189555"/>
      </p:ext>
    </p:extLst>
  </p:cSld>
  <p:clrMapOvr>
    <a:masterClrMapping/>
  </p:clrMapOvr>
  <p:transition/>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99803361"/>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r>
              <a:rPr lang="en-US"/>
              <a:t>Click icon to add picture</a:t>
            </a:r>
          </a:p>
        </p:txBody>
      </p:sp>
      <p:sp>
        <p:nvSpPr>
          <p:cNvPr id="3" name="TextBox 2">
            <a:extLst>
              <a:ext uri="{FF2B5EF4-FFF2-40B4-BE49-F238E27FC236}">
                <a16:creationId xmlns:a16="http://schemas.microsoft.com/office/drawing/2014/main" id="{90C6BA4E-CBCB-554D-CA98-146A521CFDF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E9BB62B8-4926-8E23-51B4-D8AC31708BB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5A808058-9E6F-F0D8-A385-7B4C54766A2E}"/>
              </a:ext>
            </a:extLst>
          </p:cNvPr>
          <p:cNvSpPr>
            <a:spLocks noGrp="1"/>
          </p:cNvSpPr>
          <p:nvPr>
            <p:ph type="title"/>
          </p:nvPr>
        </p:nvSpPr>
        <p:spPr>
          <a:xfrm>
            <a:off x="457200" y="723900"/>
            <a:ext cx="5005137" cy="457200"/>
          </a:xfrm>
        </p:spPr>
        <p:txBody>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93D95AB9-CE03-7AFD-DBBE-C67756B352CB}"/>
              </a:ext>
            </a:extLst>
          </p:cNvPr>
          <p:cNvSpPr>
            <a:spLocks noGrp="1"/>
          </p:cNvSpPr>
          <p:nvPr>
            <p:ph type="body" sz="quarter" idx="15" hasCustomPrompt="1"/>
          </p:nvPr>
        </p:nvSpPr>
        <p:spPr>
          <a:xfrm>
            <a:off x="457200" y="382446"/>
            <a:ext cx="5005137"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16110783"/>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85993168"/>
      </p:ext>
    </p:extLst>
  </p:cSld>
  <p:clrMapOvr>
    <a:masterClrMapping/>
  </p:clrMapOvr>
  <p:transition/>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se Study-2/3 Pictur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63925-928E-4FE1-B9E5-B83141A2C221}"/>
              </a:ext>
            </a:extLst>
          </p:cNvPr>
          <p:cNvSpPr/>
          <p:nvPr userDrawn="1"/>
        </p:nvSpPr>
        <p:spPr bwMode="auto">
          <a:xfrm>
            <a:off x="-1"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C169AD5E-5F94-E6C0-0DB3-77E8A5A0D3C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0" y="6438901"/>
            <a:ext cx="540540" cy="190499"/>
          </a:xfrm>
          <a:prstGeom prst="rect">
            <a:avLst/>
          </a:prstGeom>
        </p:spPr>
      </p:pic>
      <p:sp>
        <p:nvSpPr>
          <p:cNvPr id="8" name="TextBox 7">
            <a:extLst>
              <a:ext uri="{FF2B5EF4-FFF2-40B4-BE49-F238E27FC236}">
                <a16:creationId xmlns:a16="http://schemas.microsoft.com/office/drawing/2014/main" id="{D63DBF0C-CA25-003D-B5D8-6EE24C1F808C}"/>
              </a:ext>
            </a:extLst>
          </p:cNvPr>
          <p:cNvSpPr txBox="1"/>
          <p:nvPr userDrawn="1"/>
        </p:nvSpPr>
        <p:spPr>
          <a:xfrm>
            <a:off x="10048874"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0" name="Text Placeholder 3">
            <a:extLst>
              <a:ext uri="{FF2B5EF4-FFF2-40B4-BE49-F238E27FC236}">
                <a16:creationId xmlns:a16="http://schemas.microsoft.com/office/drawing/2014/main" id="{697B36E0-E687-34C7-ACB3-F681FF77C582}"/>
              </a:ext>
            </a:extLst>
          </p:cNvPr>
          <p:cNvSpPr txBox="1"/>
          <p:nvPr userDrawn="1"/>
        </p:nvSpPr>
        <p:spPr>
          <a:xfrm>
            <a:off x="11498093"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a:solidFill>
            <a:schemeClr val="tx1">
              <a:lumMod val="85000"/>
              <a:lumOff val="1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90384449"/>
      </p:ext>
    </p:extLst>
  </p:cSld>
  <p:clrMapOvr>
    <a:masterClrMapping/>
  </p:clrMapOvr>
  <p:transition/>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891877948"/>
      </p:ext>
    </p:extLst>
  </p:cSld>
  <p:clrMapOvr>
    <a:masterClrMapping/>
  </p:clrMapOvr>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se Study-MockUp-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6310AE-15DA-337B-9B5E-33A904BF3549}"/>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C4F314DE-C7E3-7237-4318-0407E44F572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5" name="TextBox 4">
            <a:extLst>
              <a:ext uri="{FF2B5EF4-FFF2-40B4-BE49-F238E27FC236}">
                <a16:creationId xmlns:a16="http://schemas.microsoft.com/office/drawing/2014/main" id="{9A5B1A98-E850-C3DE-38BF-EFAE0A2DC98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6E6FC5F8-7CE5-D29D-2CCA-C5715CDD43B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529326006"/>
      </p:ext>
    </p:extLst>
  </p:cSld>
  <p:clrMapOvr>
    <a:masterClrMapping/>
  </p:clrMapOvr>
  <p:transition/>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83897628"/>
      </p:ext>
    </p:extLst>
  </p:cSld>
  <p:clrMapOvr>
    <a:masterClrMapping/>
  </p:clrMapOvr>
  <p:transition/>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se Study-Mock Up Left-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9C4A8F-5B1E-7B0E-CAF7-B9F33D92C844}"/>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6" name="Graphic 5">
            <a:extLst>
              <a:ext uri="{FF2B5EF4-FFF2-40B4-BE49-F238E27FC236}">
                <a16:creationId xmlns:a16="http://schemas.microsoft.com/office/drawing/2014/main" id="{1D6F42AB-F517-759C-A3C4-63443ED771D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TextBox 6">
            <a:extLst>
              <a:ext uri="{FF2B5EF4-FFF2-40B4-BE49-F238E27FC236}">
                <a16:creationId xmlns:a16="http://schemas.microsoft.com/office/drawing/2014/main" id="{714E9D77-5CF8-5131-6018-48DF58117EC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34280A7-4796-759A-6B00-0444E865A6A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259551208"/>
      </p:ext>
    </p:extLst>
  </p:cSld>
  <p:clrMapOvr>
    <a:masterClrMapping/>
  </p:clrMapOvr>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700771F-7FE8-2510-0C0E-734572A38145}"/>
              </a:ext>
            </a:extLst>
          </p:cNvPr>
          <p:cNvSpPr>
            <a:spLocks noGrp="1"/>
          </p:cNvSpPr>
          <p:nvPr>
            <p:ph type="title"/>
          </p:nvPr>
        </p:nvSpPr>
        <p:spPr>
          <a:xfrm>
            <a:off x="457200" y="723900"/>
            <a:ext cx="5764213" cy="457200"/>
          </a:xfrm>
        </p:spPr>
        <p:txBody>
          <a:bodyPr/>
          <a:lstStyle>
            <a:lvl1pPr>
              <a:defRPr b="1">
                <a:solidFill>
                  <a:schemeClr val="bg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E1513A24-C9FD-06A1-1015-D9656D68B888}"/>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700073607"/>
      </p:ext>
    </p:extLst>
  </p:cSld>
  <p:clrMapOvr>
    <a:masterClrMapping/>
  </p:clrMapOvr>
  <p:transition/>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950641839"/>
      </p:ext>
    </p:extLst>
  </p:cSld>
  <p:clrMapOvr>
    <a:masterClrMapping/>
  </p:clrMapOvr>
  <p:transition/>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735260412"/>
      </p:ext>
    </p:extLst>
  </p:cSld>
  <p:clrMapOvr>
    <a:masterClrMapping/>
  </p:clrMapOvr>
  <p:transition/>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N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E104305F-427E-7B08-9801-43AF5256FF7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930840214"/>
      </p:ext>
    </p:extLst>
  </p:cSld>
  <p:clrMapOvr>
    <a:masterClrMapping/>
  </p:clrMapOvr>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1C45522-9A1C-E9EB-4D96-B0CFFD2F7212}"/>
              </a:ext>
            </a:extLst>
          </p:cNvPr>
          <p:cNvSpPr>
            <a:spLocks noGrp="1"/>
          </p:cNvSpPr>
          <p:nvPr>
            <p:ph type="title"/>
          </p:nvPr>
        </p:nvSpPr>
        <p:spPr>
          <a:xfrm>
            <a:off x="457201" y="723900"/>
            <a:ext cx="250256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E6E8F6-4D6C-2884-0A7D-72BB39B21D6B}"/>
              </a:ext>
            </a:extLst>
          </p:cNvPr>
          <p:cNvSpPr>
            <a:spLocks noGrp="1"/>
          </p:cNvSpPr>
          <p:nvPr>
            <p:ph type="body" sz="quarter" idx="15" hasCustomPrompt="1"/>
          </p:nvPr>
        </p:nvSpPr>
        <p:spPr>
          <a:xfrm>
            <a:off x="457200" y="382447"/>
            <a:ext cx="2502567"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6" name="TextBox 5">
            <a:extLst>
              <a:ext uri="{FF2B5EF4-FFF2-40B4-BE49-F238E27FC236}">
                <a16:creationId xmlns:a16="http://schemas.microsoft.com/office/drawing/2014/main" id="{A3A07FC1-18DF-2355-0123-10BF2390C02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7B024407-B901-7B1F-04F9-932983C670E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967610855"/>
      </p:ext>
    </p:extLst>
  </p:cSld>
  <p:clrMapOvr>
    <a:masterClrMapping/>
  </p:clrMapOvr>
  <p:transition/>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129053304"/>
      </p:ext>
    </p:extLst>
  </p:cSld>
  <p:clrMapOvr>
    <a:masterClrMapping/>
  </p:clrMapOvr>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2/3 Black-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75DC425F-9CC1-9DF3-3F54-17DAA0EB5E7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4242603820"/>
      </p:ext>
    </p:extLst>
  </p:cSld>
  <p:clrMapOvr>
    <a:masterClrMapping/>
  </p:clrMapOvr>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32F6686-8C0A-120D-0C06-1F8DA97E3C4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5E465D26-CB94-F414-6836-638151C91C4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048228075"/>
      </p:ext>
    </p:extLst>
  </p:cSld>
  <p:clrMapOvr>
    <a:masterClrMapping/>
  </p:clrMapOvr>
  <p:transition/>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389801"/>
            <a:ext cx="2408238" cy="1371600"/>
          </a:xfrm>
          <a:prstGeom prst="rect">
            <a:avLst/>
          </a:prstGeom>
          <a:solidFill>
            <a:schemeClr val="bg1">
              <a:lumMod val="95000"/>
            </a:schemeClr>
          </a:solidFill>
        </p:spPr>
        <p:txBody>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389801"/>
            <a:ext cx="2408238" cy="1371600"/>
          </a:xfrm>
          <a:prstGeom prst="rect">
            <a:avLst/>
          </a:prstGeom>
          <a:solidFill>
            <a:schemeClr val="bg1">
              <a:lumMod val="95000"/>
            </a:schemeClr>
          </a:solidFill>
        </p:spPr>
        <p:txBody>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389801"/>
            <a:ext cx="2408238" cy="1371600"/>
          </a:xfrm>
          <a:prstGeom prst="rect">
            <a:avLst/>
          </a:prstGeom>
          <a:solidFill>
            <a:schemeClr val="bg1">
              <a:lumMod val="95000"/>
            </a:schemeClr>
          </a:solidFill>
        </p:spPr>
        <p:txBody>
          <a:bodyPr/>
          <a:lstStyle/>
          <a:p>
            <a:r>
              <a:rPr lang="en-US"/>
              <a:t>Click icon to add picture</a:t>
            </a:r>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389801"/>
            <a:ext cx="2408238" cy="1371600"/>
          </a:xfrm>
          <a:prstGeom prst="rect">
            <a:avLst/>
          </a:prstGeo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304193999"/>
      </p:ext>
    </p:extLst>
  </p:cSld>
  <p:clrMapOvr>
    <a:masterClrMapping/>
  </p:clrMapOvr>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Column Pictures-Leila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2"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2"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307656"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307656"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147867"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147867"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23"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4307338"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8140700" y="1389801"/>
            <a:ext cx="3600000" cy="1371600"/>
          </a:xfrm>
          <a:prstGeom prst="rect">
            <a:avLst/>
          </a:prstGeom>
          <a:solidFill>
            <a:schemeClr val="bg1">
              <a:lumMod val="95000"/>
            </a:schemeClr>
          </a:solidFill>
        </p:spPr>
        <p:txBody>
          <a:bodyPr>
            <a:noAutofit/>
          </a:bodyPr>
          <a:lstStyle/>
          <a:p>
            <a:r>
              <a:rPr lang="en-US"/>
              <a:t>Click icon to add picture</a:t>
            </a:r>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810725305"/>
      </p:ext>
    </p:extLst>
  </p:cSld>
  <p:clrMapOvr>
    <a:masterClrMapping/>
  </p:clrMapOvr>
  <p:transition/>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r>
              <a:rPr lang="en-US"/>
              <a:t>Click icon to add picture</a:t>
            </a:r>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2250482875"/>
      </p:ext>
    </p:extLst>
  </p:cSld>
  <p:clrMapOvr>
    <a:masterClrMapping/>
  </p:clrMapOvr>
  <p:transition/>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se Study-4 Pictures-Leil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60000" cy="3429000"/>
          </a:xfrm>
          <a:prstGeom prst="rect">
            <a:avLst/>
          </a:prstGeom>
          <a:solidFill>
            <a:schemeClr val="bg2"/>
          </a:solidFill>
        </p:spPr>
        <p:txBody>
          <a:bodyPr/>
          <a:lstStyle/>
          <a:p>
            <a:r>
              <a:rPr lang="en-US"/>
              <a:t>Click icon to add picture</a:t>
            </a:r>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43999" y="0"/>
            <a:ext cx="3060000" cy="3429000"/>
          </a:xfrm>
          <a:prstGeom prst="rect">
            <a:avLst/>
          </a:prstGeom>
          <a:solidFill>
            <a:schemeClr val="bg2"/>
          </a:solidFill>
        </p:spPr>
        <p:txBody>
          <a:bodyPr/>
          <a:lstStyle/>
          <a:p>
            <a:r>
              <a:rPr lang="en-US"/>
              <a:t>Click icon to add picture</a:t>
            </a:r>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087999" y="0"/>
            <a:ext cx="3060000" cy="3429000"/>
          </a:xfrm>
          <a:prstGeom prst="rect">
            <a:avLst/>
          </a:prstGeom>
          <a:solidFill>
            <a:schemeClr val="bg2"/>
          </a:solidFill>
        </p:spPr>
        <p:txBody>
          <a:bodyPr/>
          <a:lstStyle/>
          <a:p>
            <a:r>
              <a:rPr lang="en-US"/>
              <a:t>Click icon to add picture</a:t>
            </a:r>
          </a:p>
        </p:txBody>
      </p:sp>
      <p:sp>
        <p:nvSpPr>
          <p:cNvPr id="2" name="Picture Placeholder 12">
            <a:extLst>
              <a:ext uri="{FF2B5EF4-FFF2-40B4-BE49-F238E27FC236}">
                <a16:creationId xmlns:a16="http://schemas.microsoft.com/office/drawing/2014/main" id="{4C3044EB-579C-1960-F9EB-F116665A7292}"/>
              </a:ext>
            </a:extLst>
          </p:cNvPr>
          <p:cNvSpPr>
            <a:spLocks noGrp="1"/>
          </p:cNvSpPr>
          <p:nvPr>
            <p:ph type="pic" sz="quarter" idx="25"/>
          </p:nvPr>
        </p:nvSpPr>
        <p:spPr>
          <a:xfrm>
            <a:off x="9132000" y="0"/>
            <a:ext cx="3060000" cy="3429000"/>
          </a:xfrm>
          <a:prstGeom prst="rect">
            <a:avLst/>
          </a:prstGeom>
          <a:solidFill>
            <a:schemeClr val="bg2"/>
          </a:solidFill>
        </p:spPr>
        <p:txBody>
          <a:bodyPr/>
          <a:lstStyle/>
          <a:p>
            <a:r>
              <a:rPr lang="en-US"/>
              <a:t>Click icon to add picture</a:t>
            </a:r>
          </a:p>
        </p:txBody>
      </p:sp>
      <p:sp>
        <p:nvSpPr>
          <p:cNvPr id="3" name="Text Placeholder 2">
            <a:extLst>
              <a:ext uri="{FF2B5EF4-FFF2-40B4-BE49-F238E27FC236}">
                <a16:creationId xmlns:a16="http://schemas.microsoft.com/office/drawing/2014/main" id="{C9D6271A-50EF-A83C-8073-0A6628457E18}"/>
              </a:ext>
            </a:extLst>
          </p:cNvPr>
          <p:cNvSpPr>
            <a:spLocks noGrp="1"/>
          </p:cNvSpPr>
          <p:nvPr>
            <p:ph type="body" sz="quarter" idx="16" hasCustomPrompt="1"/>
          </p:nvPr>
        </p:nvSpPr>
        <p:spPr>
          <a:xfrm>
            <a:off x="45720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5" name="Text Placeholder 2">
            <a:extLst>
              <a:ext uri="{FF2B5EF4-FFF2-40B4-BE49-F238E27FC236}">
                <a16:creationId xmlns:a16="http://schemas.microsoft.com/office/drawing/2014/main" id="{33A26170-4FED-69CC-E7CF-6F163320DA0C}"/>
              </a:ext>
            </a:extLst>
          </p:cNvPr>
          <p:cNvSpPr>
            <a:spLocks noGrp="1"/>
          </p:cNvSpPr>
          <p:nvPr>
            <p:ph type="body" sz="quarter" idx="26" hasCustomPrompt="1"/>
          </p:nvPr>
        </p:nvSpPr>
        <p:spPr>
          <a:xfrm>
            <a:off x="45720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7" name="Text Placeholder 2">
            <a:extLst>
              <a:ext uri="{FF2B5EF4-FFF2-40B4-BE49-F238E27FC236}">
                <a16:creationId xmlns:a16="http://schemas.microsoft.com/office/drawing/2014/main" id="{EFF5574A-DA2F-79E2-5257-E464C4DCBED9}"/>
              </a:ext>
            </a:extLst>
          </p:cNvPr>
          <p:cNvSpPr>
            <a:spLocks noGrp="1"/>
          </p:cNvSpPr>
          <p:nvPr>
            <p:ph type="body" sz="quarter" idx="27" hasCustomPrompt="1"/>
          </p:nvPr>
        </p:nvSpPr>
        <p:spPr>
          <a:xfrm>
            <a:off x="3370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8" name="Text Placeholder 2">
            <a:extLst>
              <a:ext uri="{FF2B5EF4-FFF2-40B4-BE49-F238E27FC236}">
                <a16:creationId xmlns:a16="http://schemas.microsoft.com/office/drawing/2014/main" id="{2E50C4C1-6951-43AE-9158-49572E0C92C6}"/>
              </a:ext>
            </a:extLst>
          </p:cNvPr>
          <p:cNvSpPr>
            <a:spLocks noGrp="1"/>
          </p:cNvSpPr>
          <p:nvPr>
            <p:ph type="body" sz="quarter" idx="28" hasCustomPrompt="1"/>
          </p:nvPr>
        </p:nvSpPr>
        <p:spPr>
          <a:xfrm>
            <a:off x="3370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9" name="Text Placeholder 2">
            <a:extLst>
              <a:ext uri="{FF2B5EF4-FFF2-40B4-BE49-F238E27FC236}">
                <a16:creationId xmlns:a16="http://schemas.microsoft.com/office/drawing/2014/main" id="{7000C3D5-7B7C-EDA2-9F53-869EC3327CCF}"/>
              </a:ext>
            </a:extLst>
          </p:cNvPr>
          <p:cNvSpPr>
            <a:spLocks noGrp="1"/>
          </p:cNvSpPr>
          <p:nvPr>
            <p:ph type="body" sz="quarter" idx="21" hasCustomPrompt="1"/>
          </p:nvPr>
        </p:nvSpPr>
        <p:spPr>
          <a:xfrm>
            <a:off x="6414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2" name="Text Placeholder 2">
            <a:extLst>
              <a:ext uri="{FF2B5EF4-FFF2-40B4-BE49-F238E27FC236}">
                <a16:creationId xmlns:a16="http://schemas.microsoft.com/office/drawing/2014/main" id="{E9AE19AD-1845-6345-DD33-3FC9CF1784E4}"/>
              </a:ext>
            </a:extLst>
          </p:cNvPr>
          <p:cNvSpPr>
            <a:spLocks noGrp="1"/>
          </p:cNvSpPr>
          <p:nvPr>
            <p:ph type="body" sz="quarter" idx="22" hasCustomPrompt="1"/>
          </p:nvPr>
        </p:nvSpPr>
        <p:spPr>
          <a:xfrm>
            <a:off x="6414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16" name="Text Placeholder 2">
            <a:extLst>
              <a:ext uri="{FF2B5EF4-FFF2-40B4-BE49-F238E27FC236}">
                <a16:creationId xmlns:a16="http://schemas.microsoft.com/office/drawing/2014/main" id="{EFF38F98-219B-60E4-DEE4-A49FED7181F5}"/>
              </a:ext>
            </a:extLst>
          </p:cNvPr>
          <p:cNvSpPr>
            <a:spLocks noGrp="1"/>
          </p:cNvSpPr>
          <p:nvPr>
            <p:ph type="body" sz="quarter" idx="23" hasCustomPrompt="1"/>
          </p:nvPr>
        </p:nvSpPr>
        <p:spPr>
          <a:xfrm>
            <a:off x="932688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8" name="Text Placeholder 2">
            <a:extLst>
              <a:ext uri="{FF2B5EF4-FFF2-40B4-BE49-F238E27FC236}">
                <a16:creationId xmlns:a16="http://schemas.microsoft.com/office/drawing/2014/main" id="{76073D28-63C4-4EAB-D10E-E4C9A179B803}"/>
              </a:ext>
            </a:extLst>
          </p:cNvPr>
          <p:cNvSpPr>
            <a:spLocks noGrp="1"/>
          </p:cNvSpPr>
          <p:nvPr>
            <p:ph type="body" sz="quarter" idx="24" hasCustomPrompt="1"/>
          </p:nvPr>
        </p:nvSpPr>
        <p:spPr>
          <a:xfrm>
            <a:off x="932688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Tree>
    <p:extLst>
      <p:ext uri="{BB962C8B-B14F-4D97-AF65-F5344CB8AC3E}">
        <p14:creationId xmlns:p14="http://schemas.microsoft.com/office/powerpoint/2010/main" val="3223486487"/>
      </p:ext>
    </p:extLst>
  </p:cSld>
  <p:clrMapOvr>
    <a:masterClrMapping/>
  </p:clrMapOvr>
  <p:transition/>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r>
              <a:rPr lang="en-US"/>
              <a:t>Click icon to add picture</a:t>
            </a:r>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r>
              <a:rPr lang="en-US"/>
              <a:t>Click icon to add picture</a:t>
            </a:r>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r>
              <a:rPr lang="en-US"/>
              <a:t>Click icon to add picture</a:t>
            </a:r>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r>
              <a:rPr lang="en-US"/>
              <a:t>Click icon to add picture</a:t>
            </a:r>
          </a:p>
        </p:txBody>
      </p:sp>
      <p:pic>
        <p:nvPicPr>
          <p:cNvPr id="2" name="Graphic 1">
            <a:extLst>
              <a:ext uri="{FF2B5EF4-FFF2-40B4-BE49-F238E27FC236}">
                <a16:creationId xmlns:a16="http://schemas.microsoft.com/office/drawing/2014/main" id="{0F219C23-5248-6A23-1656-7F24D37DB20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9D0F7879-EF16-5C25-BC5F-DF85AD10BA3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7931746-EE72-E501-E583-1218E82991F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892438966"/>
      </p:ext>
    </p:extLst>
  </p:cSld>
  <p:clrMapOvr>
    <a:masterClrMapping/>
  </p:clrMapOvr>
  <p:transition/>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1773761795"/>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2DEA7B-FE87-E4A3-0E28-5A6940077AAF}"/>
              </a:ext>
            </a:extLst>
          </p:cNvPr>
          <p:cNvSpPr/>
          <p:nvPr userDrawn="1"/>
        </p:nvSpPr>
        <p:spPr bwMode="auto">
          <a:xfrm>
            <a:off x="1020000" y="999000"/>
            <a:ext cx="10152000" cy="4860000"/>
          </a:xfrm>
          <a:prstGeom prst="rect">
            <a:avLst/>
          </a:prstGeom>
          <a:gradFill>
            <a:gsLst>
              <a:gs pos="66000">
                <a:schemeClr val="accent5"/>
              </a:gs>
              <a:gs pos="0">
                <a:schemeClr val="accent2"/>
              </a:gs>
              <a:gs pos="100000">
                <a:schemeClr val="accent4"/>
              </a:gs>
            </a:gsLst>
            <a:lin ang="1800000" scaled="0"/>
          </a:gradFill>
          <a:ln>
            <a:noFill/>
          </a:ln>
          <a:effectLst/>
        </p:spPr>
        <p:txBody>
          <a:bodyPr wrap="square" lIns="0" tIns="0" rIns="0" bIns="0" rtlCol="0" anchor="ctr"/>
          <a:lstStyle/>
          <a:p>
            <a:pPr lvl="0"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itle 8">
            <a:extLst>
              <a:ext uri="{FF2B5EF4-FFF2-40B4-BE49-F238E27FC236}">
                <a16:creationId xmlns:a16="http://schemas.microsoft.com/office/drawing/2014/main" id="{388A2ACC-EFED-3CEF-B58F-EA44CFA34596}"/>
              </a:ext>
            </a:extLst>
          </p:cNvPr>
          <p:cNvSpPr>
            <a:spLocks noGrp="1"/>
          </p:cNvSpPr>
          <p:nvPr>
            <p:ph type="title" hasCustomPrompt="1"/>
          </p:nvPr>
        </p:nvSpPr>
        <p:spPr>
          <a:xfrm>
            <a:off x="2149475" y="2464175"/>
            <a:ext cx="7899400" cy="615553"/>
          </a:xfrm>
          <a:prstGeom prst="rect">
            <a:avLst/>
          </a:prstGeom>
        </p:spPr>
        <p:txBody>
          <a:bodyPr vert="horz" wrap="square" lIns="0" tIns="0" rIns="0" bIns="0" rtlCol="0" anchor="t">
            <a:spAutoFit/>
          </a:bodyPr>
          <a:lstStyle>
            <a:lvl1pPr>
              <a:defRPr lang="en-US" sz="4000" b="0" i="0" spc="0">
                <a:solidFill>
                  <a:schemeClr val="bg1"/>
                </a:solidFill>
                <a:effectLst/>
                <a:latin typeface="Calibri Light" panose="020F0302020204030204" pitchFamily="34" charset="0"/>
                <a:cs typeface="Calibri Light" panose="020F0302020204030204" pitchFamily="34" charset="0"/>
              </a:defRPr>
            </a:lvl1pPr>
          </a:lstStyle>
          <a:p>
            <a:pPr lvl="0"/>
            <a:r>
              <a:rPr lang="en-US"/>
              <a:t>Insert your quote here</a:t>
            </a:r>
          </a:p>
        </p:txBody>
      </p:sp>
      <p:sp>
        <p:nvSpPr>
          <p:cNvPr id="2" name="Title 8">
            <a:extLst>
              <a:ext uri="{FF2B5EF4-FFF2-40B4-BE49-F238E27FC236}">
                <a16:creationId xmlns:a16="http://schemas.microsoft.com/office/drawing/2014/main" id="{A967559A-5EC8-8B92-65E3-76928C972876}"/>
              </a:ext>
            </a:extLst>
          </p:cNvPr>
          <p:cNvSpPr txBox="1"/>
          <p:nvPr userDrawn="1"/>
        </p:nvSpPr>
        <p:spPr>
          <a:xfrm>
            <a:off x="2062976" y="1531155"/>
            <a:ext cx="1248633" cy="147732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lang="en-US" sz="4000" b="0" i="0" kern="1200" spc="0">
                <a:gradFill>
                  <a:gsLst>
                    <a:gs pos="50000">
                      <a:schemeClr val="accent2"/>
                    </a:gs>
                    <a:gs pos="70000">
                      <a:schemeClr val="accent5"/>
                    </a:gs>
                    <a:gs pos="100000">
                      <a:schemeClr val="accent4"/>
                    </a:gs>
                  </a:gsLst>
                  <a:lin ang="1200000" scaled="0"/>
                </a:gradFill>
                <a:effectLst/>
                <a:latin typeface="Calibri Light" panose="020F0302020204030204" pitchFamily="34" charset="0"/>
                <a:ea typeface="Calibri" panose="020F0502020204030204" pitchFamily="34" charset="0"/>
                <a:cs typeface="Calibri Light" panose="020F0302020204030204" pitchFamily="34" charset="0"/>
              </a:defRPr>
            </a:lvl1pPr>
          </a:lstStyle>
          <a:p>
            <a:r>
              <a:rPr lang="en-GB" sz="9600">
                <a:solidFill>
                  <a:schemeClr val="bg1"/>
                </a:solidFill>
              </a:rPr>
              <a:t>“</a:t>
            </a:r>
          </a:p>
        </p:txBody>
      </p:sp>
    </p:spTree>
    <p:extLst>
      <p:ext uri="{BB962C8B-B14F-4D97-AF65-F5344CB8AC3E}">
        <p14:creationId xmlns:p14="http://schemas.microsoft.com/office/powerpoint/2010/main" val="392048297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ank_you">
    <p:bg>
      <p:bgPr>
        <a:solidFill>
          <a:schemeClr val="tx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84736574-B51A-9653-821A-E3F5C3FCDF5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6191EA3E-7B20-955D-0C59-DF85A915365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9BB0EE7-0219-6A5E-BA7F-872F2C48D7E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882376776"/>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ank_you-Ligh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tx2">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067076"/>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ank_you_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r>
              <a:rPr lang="en-US"/>
              <a:t>Click icon to add picture</a:t>
            </a:r>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474663" y="1035424"/>
            <a:ext cx="4648200" cy="1107996"/>
          </a:xfrm>
          <a:prstGeom prst="rect">
            <a:avLst/>
          </a:prstGeom>
        </p:spPr>
        <p:txBody>
          <a:bodyPr vert="horz" wrap="square" lIns="0" tIns="0" rIns="0" bIns="0" rtlCol="0" anchor="t">
            <a:spAutoFit/>
          </a:bodyPr>
          <a:lstStyle>
            <a:lvl1pPr>
              <a:defRPr lang="en-US" sz="7200" b="0">
                <a:gradFill>
                  <a:gsLst>
                    <a:gs pos="50000">
                      <a:schemeClr val="accent2"/>
                    </a:gs>
                    <a:gs pos="70000">
                      <a:schemeClr val="accent5"/>
                    </a:gs>
                    <a:gs pos="100000">
                      <a:schemeClr val="accent4"/>
                    </a:gs>
                  </a:gsLst>
                  <a:lin ang="120000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474663"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474663"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474663"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474663"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474663"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474663"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1" name="Straight Connector 10">
            <a:extLst>
              <a:ext uri="{FF2B5EF4-FFF2-40B4-BE49-F238E27FC236}">
                <a16:creationId xmlns:a16="http://schemas.microsoft.com/office/drawing/2014/main" id="{68FF80AE-E38B-EC18-E1B5-2B5AAE36C2F4}"/>
              </a:ext>
            </a:extLst>
          </p:cNvPr>
          <p:cNvCxnSpPr/>
          <p:nvPr userDrawn="1"/>
        </p:nvCxnSpPr>
        <p:spPr>
          <a:xfrm>
            <a:off x="474663"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5E39841-8080-2E83-D8BB-7AD807F024A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598728A8-4504-9979-0928-94780E8A451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68625CBB-5BC8-9235-54D3-C8F265017D7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819991619"/>
      </p:ext>
    </p:extLst>
  </p:cSld>
  <p:clrMapOvr>
    <a:masterClrMapping/>
  </p:clrMapOvr>
  <p:transition/>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r>
              <a:rPr lang="en-US"/>
              <a:t>Click icon to add picture</a:t>
            </a:r>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584775"/>
          </a:xfrm>
          <a:prstGeom prst="rect">
            <a:avLst/>
          </a:prstGeom>
        </p:spPr>
        <p:txBody>
          <a:bodyPr wrap="square">
            <a:spAutoFit/>
          </a:bodyPr>
          <a:lstStyle>
            <a:lvl1pPr>
              <a:lnSpc>
                <a:spcPct val="100000"/>
              </a:lnSpc>
              <a:spcBef>
                <a:spcPct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Thank you!</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ct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EPAM</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flipH="1">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877451240"/>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Relationships xmlns="http://schemas.openxmlformats.org/package/2006/relationships">
  <Relationship Id="rId26" Type="http://schemas.openxmlformats.org/officeDocument/2006/relationships/slideLayout" Target="../slideLayouts/slideLayout26.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42" Type="http://schemas.openxmlformats.org/officeDocument/2006/relationships/slideLayout" Target="../slideLayouts/slideLayout42.xml"/>
  <Relationship Id="rId47" Type="http://schemas.openxmlformats.org/officeDocument/2006/relationships/slideLayout" Target="../slideLayouts/slideLayout47.xml"/>
  <Relationship Id="rId50" Type="http://schemas.openxmlformats.org/officeDocument/2006/relationships/slideLayout" Target="../slideLayouts/slideLayout50.xml"/>
  <Relationship Id="rId55" Type="http://schemas.openxmlformats.org/officeDocument/2006/relationships/slideLayout" Target="../slideLayouts/slideLayout55.xml"/>
  <Relationship Id="rId63" Type="http://schemas.openxmlformats.org/officeDocument/2006/relationships/slideLayout" Target="../slideLayouts/slideLayout6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9" Type="http://schemas.openxmlformats.org/officeDocument/2006/relationships/slideLayout" Target="../slideLayouts/slideLayout29.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40" Type="http://schemas.openxmlformats.org/officeDocument/2006/relationships/slideLayout" Target="../slideLayouts/slideLayout40.xml"/>
  <Relationship Id="rId45" Type="http://schemas.openxmlformats.org/officeDocument/2006/relationships/slideLayout" Target="../slideLayouts/slideLayout45.xml"/>
  <Relationship Id="rId53" Type="http://schemas.openxmlformats.org/officeDocument/2006/relationships/slideLayout" Target="../slideLayouts/slideLayout53.xml"/>
  <Relationship Id="rId58" Type="http://schemas.openxmlformats.org/officeDocument/2006/relationships/slideLayout" Target="../slideLayouts/slideLayout58.xml"/>
  <Relationship Id="rId66" Type="http://schemas.openxmlformats.org/officeDocument/2006/relationships/image" Target="../media/image1.png"/>
  <Relationship Id="rId5" Type="http://schemas.openxmlformats.org/officeDocument/2006/relationships/slideLayout" Target="../slideLayouts/slideLayout5.xml"/>
  <Relationship Id="rId61" Type="http://schemas.openxmlformats.org/officeDocument/2006/relationships/slideLayout" Target="../slideLayouts/slideLayout61.xml"/>
  <Relationship Id="rId19" Type="http://schemas.openxmlformats.org/officeDocument/2006/relationships/slideLayout" Target="../slideLayouts/slideLayout1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 Id="rId43" Type="http://schemas.openxmlformats.org/officeDocument/2006/relationships/slideLayout" Target="../slideLayouts/slideLayout43.xml"/>
  <Relationship Id="rId48" Type="http://schemas.openxmlformats.org/officeDocument/2006/relationships/slideLayout" Target="../slideLayouts/slideLayout48.xml"/>
  <Relationship Id="rId56" Type="http://schemas.openxmlformats.org/officeDocument/2006/relationships/slideLayout" Target="../slideLayouts/slideLayout56.xml"/>
  <Relationship Id="rId64" Type="http://schemas.openxmlformats.org/officeDocument/2006/relationships/slideLayout" Target="../slideLayouts/slideLayout64.xml"/>
  <Relationship Id="rId8" Type="http://schemas.openxmlformats.org/officeDocument/2006/relationships/slideLayout" Target="../slideLayouts/slideLayout8.xml"/>
  <Relationship Id="rId51" Type="http://schemas.openxmlformats.org/officeDocument/2006/relationships/slideLayout" Target="../slideLayouts/slideLayout51.xml"/>
  <Relationship Id="rId3" Type="http://schemas.openxmlformats.org/officeDocument/2006/relationships/slideLayout" Target="../slideLayouts/slideLayout3.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slideLayout" Target="../slideLayouts/slideLayout38.xml"/>
  <Relationship Id="rId46" Type="http://schemas.openxmlformats.org/officeDocument/2006/relationships/slideLayout" Target="../slideLayouts/slideLayout46.xml"/>
  <Relationship Id="rId59" Type="http://schemas.openxmlformats.org/officeDocument/2006/relationships/slideLayout" Target="../slideLayouts/slideLayout59.xml"/>
  <Relationship Id="rId67" Type="http://schemas.openxmlformats.org/officeDocument/2006/relationships/image" Target="../media/image2.svg"/>
  <Relationship Id="rId20" Type="http://schemas.openxmlformats.org/officeDocument/2006/relationships/slideLayout" Target="../slideLayouts/slideLayout20.xml"/>
  <Relationship Id="rId41" Type="http://schemas.openxmlformats.org/officeDocument/2006/relationships/slideLayout" Target="../slideLayouts/slideLayout41.xml"/>
  <Relationship Id="rId54" Type="http://schemas.openxmlformats.org/officeDocument/2006/relationships/slideLayout" Target="../slideLayouts/slideLayout54.xml"/>
  <Relationship Id="rId62" Type="http://schemas.openxmlformats.org/officeDocument/2006/relationships/slideLayout" Target="../slideLayouts/slideLayout6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49" Type="http://schemas.openxmlformats.org/officeDocument/2006/relationships/slideLayout" Target="../slideLayouts/slideLayout49.xml"/>
  <Relationship Id="rId57" Type="http://schemas.openxmlformats.org/officeDocument/2006/relationships/slideLayout" Target="../slideLayouts/slideLayout57.xml"/>
  <Relationship Id="rId10" Type="http://schemas.openxmlformats.org/officeDocument/2006/relationships/slideLayout" Target="../slideLayouts/slideLayout10.xml"/>
  <Relationship Id="rId31" Type="http://schemas.openxmlformats.org/officeDocument/2006/relationships/slideLayout" Target="../slideLayouts/slideLayout31.xml"/>
  <Relationship Id="rId44" Type="http://schemas.openxmlformats.org/officeDocument/2006/relationships/slideLayout" Target="../slideLayouts/slideLayout44.xml"/>
  <Relationship Id="rId52" Type="http://schemas.openxmlformats.org/officeDocument/2006/relationships/slideLayout" Target="../slideLayouts/slideLayout52.xml"/>
  <Relationship Id="rId60" Type="http://schemas.openxmlformats.org/officeDocument/2006/relationships/slideLayout" Target="../slideLayouts/slideLayout60.xml"/>
  <Relationship Id="rId65"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9" Type="http://schemas.openxmlformats.org/officeDocument/2006/relationships/slideLayout" Target="../slideLayouts/slideLayout39.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66">
            <a:extLst>
              <a:ext uri="{28A0092B-C50C-407E-A947-70E740481C1C}">
                <a14:useLocalDpi xmlns:a14="http://schemas.microsoft.com/office/drawing/2010/main"/>
              </a:ext>
              <a:ext uri="{96DAC541-7B7A-43D3-8B79-37D633B846F1}">
                <asvg:svgBlip xmlns:asvg="http://schemas.microsoft.com/office/drawing/2016/SVG/main" r:embed="rId67"/>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675150384"/>
      </p:ext>
    </p:extLst>
  </p:cSld>
  <p:clrMap bg1="lt1" tx1="dk1" bg2="lt2" tx2="dk2" accent1="accent1" accent2="accent2" accent3="accent3" accent4="accent4" accent5="accent5" accent6="accent6" hlink="hlink" folHlink="folHlink"/>
  <p:sldLayoutIdLst>
    <p:sldLayoutId id="2147483779" r:id="rId1"/>
    <p:sldLayoutId id="2147483836" r:id="rId2"/>
    <p:sldLayoutId id="2147483780" r:id="rId3"/>
    <p:sldLayoutId id="2147483781" r:id="rId4"/>
    <p:sldLayoutId id="2147483782" r:id="rId5"/>
    <p:sldLayoutId id="2147483783" r:id="rId6"/>
    <p:sldLayoutId id="2147483784" r:id="rId7"/>
    <p:sldLayoutId id="2147483785" r:id="rId8"/>
    <p:sldLayoutId id="2147483786"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38" r:id="rId26"/>
    <p:sldLayoutId id="2147483804" r:id="rId27"/>
    <p:sldLayoutId id="2147483805" r:id="rId28"/>
    <p:sldLayoutId id="2147483826" r:id="rId29"/>
    <p:sldLayoutId id="2147483806" r:id="rId30"/>
    <p:sldLayoutId id="2147483807" r:id="rId31"/>
    <p:sldLayoutId id="2147483808" r:id="rId32"/>
    <p:sldLayoutId id="2147483825" r:id="rId33"/>
    <p:sldLayoutId id="2147483809" r:id="rId34"/>
    <p:sldLayoutId id="2147483810" r:id="rId35"/>
    <p:sldLayoutId id="2147483811" r:id="rId36"/>
    <p:sldLayoutId id="2147483812" r:id="rId37"/>
    <p:sldLayoutId id="2147483824" r:id="rId38"/>
    <p:sldLayoutId id="2147483827" r:id="rId39"/>
    <p:sldLayoutId id="2147483813" r:id="rId40"/>
    <p:sldLayoutId id="2147483814" r:id="rId41"/>
    <p:sldLayoutId id="2147483815" r:id="rId42"/>
    <p:sldLayoutId id="2147483816" r:id="rId43"/>
    <p:sldLayoutId id="2147483817" r:id="rId44"/>
    <p:sldLayoutId id="2147483818" r:id="rId45"/>
    <p:sldLayoutId id="2147483822" r:id="rId46"/>
    <p:sldLayoutId id="2147483819" r:id="rId47"/>
    <p:sldLayoutId id="2147483820" r:id="rId48"/>
    <p:sldLayoutId id="2147483839" r:id="rId49"/>
    <p:sldLayoutId id="2147483823" r:id="rId50"/>
    <p:sldLayoutId id="2147483821" r:id="rId51"/>
    <p:sldLayoutId id="2147483840" r:id="rId52"/>
    <p:sldLayoutId id="2147483828" r:id="rId53"/>
    <p:sldLayoutId id="2147483829" r:id="rId54"/>
    <p:sldLayoutId id="2147483841" r:id="rId55"/>
    <p:sldLayoutId id="2147483830" r:id="rId56"/>
    <p:sldLayoutId id="2147483842" r:id="rId57"/>
    <p:sldLayoutId id="2147483831" r:id="rId58"/>
    <p:sldLayoutId id="2147483832" r:id="rId59"/>
    <p:sldLayoutId id="2147483844" r:id="rId60"/>
    <p:sldLayoutId id="2147483833" r:id="rId61"/>
    <p:sldLayoutId id="2147483837" r:id="rId62"/>
    <p:sldLayoutId id="2147483834" r:id="rId63"/>
    <p:sldLayoutId id="2147483835" r:id="rId64"/>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2.xml"/>
</Relationships>

</file>

<file path=ppt/slides/slide1.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cNvGrpSpPr/>
        <nvPr/>
      </nvGrpSpPr>
      <grpSpPr>
        <a:xfrm>
          <a:off x="0" y="0"/>
          <a:ext cx="0" cy="0"/>
          <a:chOff x="0" y="0"/>
          <a:chExt cx="0" cy="0"/>
        </a:xfrm>
      </grpSpPr>
      <sp>
        <nvSpPr>
          <cNvPr id="2" name="Text Placeholder 1">
            <a:extLst>
              <a:ext uri="{FF2B5EF4-FFF2-40B4-BE49-F238E27FC236}">
                <a16:creationId id="{7EAC1E84-81BC-302E-0A09-CFC537802A33}"/>
              </a:ext>
            </a:extLst>
          </cNvPr>
          <cNvSpPr>
            <a:spLocks noGrp="1"/>
          </cNvSpPr>
          <nvPr>
            <ph type="body" sz="quarter" idx="11"/>
          </nvPr>
        </nvSpPr>
        <spPr/>
        <txBody>
          <a:bodyPr/>
          <a:lstStyle/>
          <a:p>
            <a:r>
              <a:rPr lang="en-US" dirty="0"/>
              <a:t>Oleksandr Cherevach</a:t>
            </a:r>
          </a:p>
        </txBody>
      </sp>
      <sp>
        <nvSpPr>
          <cNvPr id="3" name="Text Placeholder 2">
            <a:extLst>
              <a:ext uri="{FF2B5EF4-FFF2-40B4-BE49-F238E27FC236}">
                <a16:creationId id="{F852E843-34EA-7C2F-5CE9-D50D892A5F3C}"/>
              </a:ext>
            </a:extLst>
          </cNvPr>
          <cNvSpPr>
            <a:spLocks noGrp="1"/>
          </cNvSpPr>
          <nvPr>
            <ph type="body" sz="quarter" idx="12"/>
          </nvPr>
        </nvSpPr>
        <spPr>
          <a:xfrm>
            <a:off x="468775" y="5245390"/>
            <a:ext cx="6489700" cy="192938"/>
          </a:xfrm>
        </spPr>
        <txBody>
          <a:bodyPr/>
          <a:lstStyle/>
          <a:p>
            <a:r>
              <a:rPr lang="en-US" dirty="0"/>
              <a:t>2025</a:t>
            </a:r>
          </a:p>
        </txBody>
      </sp>
      <sp>
        <nvSpPr>
          <cNvPr id="4" name="Title 3">
            <a:extLst>
              <a:ext uri="{FF2B5EF4-FFF2-40B4-BE49-F238E27FC236}">
                <a16:creationId id="{16EAEB26-0250-DA39-1151-D1C050842053}"/>
              </a:ext>
            </a:extLst>
          </cNvPr>
          <cNvSpPr>
            <a:spLocks noGrp="1"/>
          </cNvSpPr>
          <nvPr>
            <ph type="title"/>
          </nvPr>
        </nvSpPr>
        <spPr>
          <a:xfrm>
            <a:off x="466165" y="1696496"/>
            <a:ext cx="10002138" cy="2462213"/>
          </a:xfrm>
        </spPr>
        <txBody>
          <a:bodyPr/>
          <a:lstStyle/>
          <a:p>
            <a:r>
              <a:rPr lang="en-GB" dirty="0"/>
              <a:t>React Native: Native Components &amp; Modules</a:t>
            </a:r>
            <a:endParaRPr lang="en-US" dirty="0">
              <a:latin typeface="Calibri Light"/>
              <a:cs typeface="Calibri Light"/>
            </a:endParaRPr>
          </a:p>
        </txBody>
      </sp>
    </spTree>
    <extLst>
      <ext uri="{BB962C8B-B14F-4D97-AF65-F5344CB8AC3E}">
        <p14:creationId val="3960105347"/>
      </ext>
    </extLst>
  </cSld>
  <clrMapOvr>
    <a:masterClrMapping/>
  </clrMapOvr>
  <transition/>
</sld>
</file>

<file path=ppt/slides/slide2.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cNvGrpSpPr/>
        <nvPr/>
      </nvGrpSpPr>
      <grpSpPr>
        <a:xfrm>
          <a:off x="0" y="0"/>
          <a:ext cx="0" cy="0"/>
          <a:chOff x="0" y="0"/>
          <a:chExt cx="0" cy="0"/>
        </a:xfrm>
      </grpSpPr>
      <sp>
        <nvSpPr>
          <cNvPr id="2" name="Text Placeholder 1">
            <a:extLst>
              <a:ext uri="{FF2B5EF4-FFF2-40B4-BE49-F238E27FC236}">
                <a16:creationId id="{02B3F38D-10A3-A667-07DE-CC4FC7798896}"/>
              </a:ext>
            </a:extLst>
          </cNvPr>
          <cNvSpPr>
            <a:spLocks noGrp="1"/>
          </cNvSpPr>
          <nvPr>
            <ph type="body" sz="quarter" idx="11"/>
          </nvPr>
        </nvSpPr>
        <spPr>
          <a:xfrm>
            <a:off x="468775" y="2960903"/>
            <a:ext cx="6489700" cy="2865528"/>
          </a:xfrm>
        </spPr>
        <txBody>
          <a:bodyPr/>
          <a:lstStyle/>
          <a:p>
            <a:pPr marL="285750" indent="-285750">
              <a:lnSpc>
                <a:spcPct val="150000"/>
              </a:lnSpc>
              <a:buFont typeface="Arial" panose="020B0604020202020204" pitchFamily="34" charset="0"/>
              <a:buChar char="•"/>
            </a:pPr>
            <a:r>
              <a:rPr lang="en-GB" dirty="0"/>
              <a:t>Why Native Components (when you need platform UI vs pure JS)</a:t>
            </a:r>
          </a:p>
          <a:p>
            <a:pPr marL="285750" indent="-285750">
              <a:lnSpc>
                <a:spcPct val="150000"/>
              </a:lnSpc>
              <a:buFont typeface="Arial" panose="020B0604020202020204" pitchFamily="34" charset="0"/>
              <a:buChar char="•"/>
            </a:pPr>
            <a:r>
              <a:rPr lang="en-GB" dirty="0"/>
              <a:t>Fabric mental model: shadow tree, mounting, surface</a:t>
            </a:r>
          </a:p>
          <a:p>
            <a:pPr marL="285750" indent="-285750">
              <a:lnSpc>
                <a:spcPct val="150000"/>
              </a:lnSpc>
              <a:buFont typeface="Arial" panose="020B0604020202020204" pitchFamily="34" charset="0"/>
              <a:buChar char="•"/>
            </a:pPr>
            <a:r>
              <a:rPr lang="en-GB" dirty="0"/>
              <a:t>Build a VideoPlayer Fabric component (end-to-end)</a:t>
            </a:r>
            <a:r>
              <a:rPr lang="en-GB" b="1" dirty="0" err="1"/>
              <a:t/>
            </a:r>
            <a:r>
              <a:rPr lang="en-GB" dirty="0"/>
              <a:t/>
            </a:r>
          </a:p>
          <a:p>
            <a:pPr marL="285750" indent="-285750">
              <a:lnSpc>
                <a:spcPct val="150000"/>
              </a:lnSpc>
              <a:buFont typeface="Arial" panose="020B0604020202020204" pitchFamily="34" charset="0"/>
              <a:buChar char="•"/>
            </a:pPr>
            <a:r>
              <a:rPr lang="en-GB" dirty="0"/>
              <a:t>Props, events, and commands (Codegen)</a:t>
            </a:r>
          </a:p>
          <a:p>
            <a:pPr marL="285750" indent="-285750">
              <a:lnSpc>
                <a:spcPct val="150000"/>
              </a:lnSpc>
              <a:buFont typeface="Arial" panose="020B0604020202020204" pitchFamily="34" charset="0"/>
              <a:buChar char="•"/>
            </a:pPr>
            <a:r>
              <a:rPr lang="en-GB" dirty="0"/>
              <a:t>iOS: ComponentView + thirdPartyFabricComponents registration</a:t>
            </a:r>
          </a:p>
          <a:p>
            <a:pPr marL="285750" indent="-285750">
              <a:lnSpc>
                <a:spcPct val="150000"/>
              </a:lnSpc>
              <a:buFont typeface="Arial" panose="020B0604020202020204" pitchFamily="34" charset="0"/>
              <a:buChar char="•"/>
            </a:pPr>
            <a:r>
              <a:rPr lang="en-GB" dirty="0"/>
              <a:t>Android: ViewManager + Codegen delegate + Media3 + manual package registration</a:t>
            </a:r>
          </a:p>
          <a:p>
            <a:pPr marL="285750" indent="-285750">
              <a:lnSpc>
                <a:spcPct val="150000"/>
              </a:lnSpc>
              <a:buFont typeface="Arial" panose="020B0604020202020204" pitchFamily="34" charset="0"/>
              <a:buChar char="•"/>
            </a:pPr>
            <a:r>
              <a:rPr lang="en-GB" dirty="0"/>
              <a:t>Appendix: embedding RN views inside native screens</a:t>
            </a:r>
            <a:r>
              <a:rPr lang="en-GB" b="1" dirty="0"/>
              <a:t/>
            </a:r>
            <a:r>
              <a:rPr lang="en-GB" dirty="0"/>
              <a:t/>
            </a:r>
          </a:p>
        </txBody>
      </sp>
      <sp>
        <nvSpPr>
          <cNvPr id="4" name="Title 3">
            <a:extLst>
              <a:ext uri="{FF2B5EF4-FFF2-40B4-BE49-F238E27FC236}">
                <a16:creationId id="{EDA23037-F1E0-77A5-7A76-035C79EE40C2}"/>
              </a:ext>
            </a:extLst>
          </cNvPr>
          <cNvSpPr>
            <a:spLocks noGrp="1"/>
          </cNvSpPr>
          <nvPr>
            <ph type="title"/>
          </nvPr>
        </nvSpPr>
        <spPr>
          <a:xfrm>
            <a:off x="466165" y="1696496"/>
            <a:ext cx="7843822" cy="1231106"/>
          </a:xfrm>
        </spPr>
        <txBody>
          <a:bodyPr/>
          <a:lstStyle/>
          <a:p>
            <a:r>
              <a:rPr lang="en-US" dirty="0"/>
              <a:t>Agenda</a:t>
            </a:r>
          </a:p>
        </txBody>
      </sp>
    </spTree>
    <extLst>
      <ext uri="{BB962C8B-B14F-4D97-AF65-F5344CB8AC3E}">
        <p14:creationId val="783706854"/>
      </ext>
    </extLst>
  </cSld>
  <clrMapOvr>
    <a:masterClrMapping/>
  </clrMapOvr>
  <transition/>
</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9D121-CB0C-6EB4-B698-C75D2B47EE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9EC5DD-F6D7-8B5A-DEAC-36F45ECBC70C}"/>
              </a:ext>
            </a:extLst>
          </p:cNvPr>
          <p:cNvSpPr>
            <a:spLocks noGrp="1"/>
          </p:cNvSpPr>
          <p:nvPr>
            <p:ph type="body" sz="quarter" idx="11"/>
          </p:nvPr>
        </p:nvSpPr>
        <p:spPr>
          <a:xfrm>
            <a:off x="500305" y="1948935"/>
            <a:ext cx="9505543" cy="4588499"/>
          </a:xfrm>
        </p:spPr>
        <p:txBody>
          <a:bodyPr/>
          <a:lstStyle/>
          <a:p>
            <a:pPr>
              <a:lnSpc>
                <a:spcPct val="150000"/>
              </a:lnSpc>
            </a:pPr>
            <a:endParaRPr lang="en-GB" b="1" dirty="0"/>
          </a:p>
          <a:p>
            <a:pPr>
              <a:lnSpc>
                <a:spcPct val="150000"/>
              </a:lnSpc>
            </a:pPr>
            <a:r>
              <a:rPr lang="en-GB" b="1" dirty="0"/>
              <a:t>What is it?</a:t>
            </a:r>
          </a:p>
          <a:p>
            <a:pPr marL="285750" indent="-285750">
              <a:lnSpc>
                <a:spcPct val="150000"/>
              </a:lnSpc>
              <a:buFont typeface="Arial" panose="020B0604020202020204" pitchFamily="34" charset="0"/>
              <a:buChar char="•"/>
            </a:pPr>
            <a:r>
              <a:rPr lang="en-GB" dirty="0"/>
              <a:t>An in-memory tree that represents the structure of your UI, separate from the actual native views.</a:t>
            </a:r>
          </a:p>
          <a:p>
            <a:pPr marL="285750" indent="-285750">
              <a:lnSpc>
                <a:spcPct val="150000"/>
              </a:lnSpc>
              <a:buFont typeface="Arial" panose="020B0604020202020204" pitchFamily="34" charset="0"/>
              <a:buChar char="•"/>
            </a:pPr>
            <a:r>
              <a:rPr lang="en-GB" dirty="0"/>
              <a:t>It's created in the C++ layer, making it platform-agnostic.</a:t>
            </a:r>
          </a:p>
          <a:p>
            <a:pPr>
              <a:lnSpc>
                <a:spcPct val="150000"/>
              </a:lnSpc>
            </a:pPr>
            <a:endParaRPr lang="en-GB" dirty="0"/>
          </a:p>
          <a:p>
            <a:pPr>
              <a:lnSpc>
                <a:spcPct val="150000"/>
              </a:lnSpc>
            </a:pPr>
            <a:r>
              <a:rPr lang="en-GB" b="1" dirty="0"/>
              <a:t>How it Works:</a:t>
            </a:r>
          </a:p>
          <a:p>
            <a:pPr marL="285750" indent="-285750">
              <a:lnSpc>
                <a:spcPct val="150000"/>
              </a:lnSpc>
              <a:buFont typeface="Arial" panose="020B0604020202020204" pitchFamily="34" charset="0"/>
              <a:buChar char="•"/>
            </a:pPr>
            <a:r>
              <a:rPr lang="en-GB" dirty="0"/>
              <a:t>React creates a component tree in JavaScript.</a:t>
            </a:r>
          </a:p>
          <a:p>
            <a:pPr marL="285750" indent="-285750">
              <a:lnSpc>
                <a:spcPct val="150000"/>
              </a:lnSpc>
              <a:buFont typeface="Arial" panose="020B0604020202020204" pitchFamily="34" charset="0"/>
              <a:buChar char="•"/>
            </a:pPr>
            <a:r>
              <a:rPr lang="en-GB" dirty="0"/>
              <a:t>This tree is translated into a "Shadow Tree" in C++.</a:t>
            </a:r>
          </a:p>
          <a:p>
            <a:pPr marL="285750" indent="-285750">
              <a:lnSpc>
                <a:spcPct val="150000"/>
              </a:lnSpc>
              <a:buFont typeface="Arial" panose="020B0604020202020204" pitchFamily="34" charset="0"/>
              <a:buChar char="•"/>
            </a:pPr>
            <a:r>
              <a:rPr lang="en-GB" dirty="0"/>
              <a:t>A layout engine (Yoga) calculates the position and size of each element on the Shadow Tree.</a:t>
            </a:r>
          </a:p>
          <a:p>
            <a:pPr marL="285750" indent="-285750">
              <a:lnSpc>
                <a:spcPct val="150000"/>
              </a:lnSpc>
              <a:buFont typeface="Arial" panose="020B0604020202020204" pitchFamily="34" charset="0"/>
              <a:buChar char="•"/>
            </a:pPr>
            <a:r>
              <a:rPr lang="en-GB" dirty="0"/>
              <a:t>The Shadow Tree is then used to create the actual native views on the UI thread.</a:t>
            </a:r>
          </a:p>
          <a:p>
            <a:pPr>
              <a:lnSpc>
                <a:spcPct val="150000"/>
              </a:lnSpc>
            </a:pPr>
            <a:endParaRPr lang="en-GB" dirty="0"/>
          </a:p>
          <a:p>
            <a:pPr>
              <a:lnSpc>
                <a:spcPct val="150000"/>
              </a:lnSpc>
            </a:pPr>
            <a:endParaRPr lang="en-UA" dirty="0"/>
          </a:p>
        </p:txBody>
      </p:sp>
      <p:sp>
        <p:nvSpPr>
          <p:cNvPr id="4" name="Title 3">
            <a:extLst>
              <a:ext uri="{FF2B5EF4-FFF2-40B4-BE49-F238E27FC236}">
                <a16:creationId xmlns:a16="http://schemas.microsoft.com/office/drawing/2014/main" id="{728A677A-3AEF-BF17-1C7C-C02FC81ACB38}"/>
              </a:ext>
            </a:extLst>
          </p:cNvPr>
          <p:cNvSpPr>
            <a:spLocks noGrp="1"/>
          </p:cNvSpPr>
          <p:nvPr>
            <p:ph type="title"/>
          </p:nvPr>
        </p:nvSpPr>
        <p:spPr>
          <a:xfrm>
            <a:off x="1965434" y="551058"/>
            <a:ext cx="9217574" cy="1477328"/>
          </a:xfrm>
        </p:spPr>
        <p:txBody>
          <a:bodyPr/>
          <a:lstStyle/>
          <a:p>
            <a:r>
              <a:rPr lang="en-GB" sz="4800" dirty="0"/>
              <a:t>The Shadow Tree: The Blueprint of Your UI</a:t>
            </a:r>
            <a:endParaRPr lang="en-UA" sz="4800" dirty="0"/>
          </a:p>
        </p:txBody>
      </p:sp>
    </p:spTree>
    <p:extLst>
      <p:ext uri="{BB962C8B-B14F-4D97-AF65-F5344CB8AC3E}">
        <p14:creationId xmlns:p14="http://schemas.microsoft.com/office/powerpoint/2010/main" val="17324832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0FF1-EA32-8834-FA69-5B4C7CCF8F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98D210-D56D-F2B0-202C-53B1A9282576}"/>
              </a:ext>
            </a:extLst>
          </p:cNvPr>
          <p:cNvSpPr>
            <a:spLocks noGrp="1"/>
          </p:cNvSpPr>
          <p:nvPr>
            <p:ph type="body" sz="quarter" idx="11"/>
          </p:nvPr>
        </p:nvSpPr>
        <p:spPr>
          <a:xfrm>
            <a:off x="500305" y="2028386"/>
            <a:ext cx="9505543" cy="4725134"/>
          </a:xfrm>
        </p:spPr>
        <p:txBody>
          <a:bodyPr/>
          <a:lstStyle/>
          <a:p>
            <a:pPr>
              <a:lnSpc>
                <a:spcPct val="150000"/>
              </a:lnSpc>
            </a:pPr>
            <a:r>
              <a:rPr lang="en-GB" sz="1500" b="1" dirty="0"/>
              <a:t>// Your React Component (JS World)</a:t>
            </a:r>
          </a:p>
          <a:p>
            <a:pPr>
              <a:lnSpc>
                <a:spcPct val="150000"/>
              </a:lnSpc>
            </a:pPr>
            <a:r>
              <a:rPr lang="en-GB" sz="1500" b="1" dirty="0"/>
              <a:t>&lt;View style={{ flex: 1, </a:t>
            </a:r>
            <a:r>
              <a:rPr lang="en-GB" sz="1500" b="1" dirty="0" err="1"/>
              <a:t>justifyContent</a:t>
            </a:r>
            <a:r>
              <a:rPr lang="en-GB" sz="1500" b="1" dirty="0"/>
              <a:t>: '</a:t>
            </a:r>
            <a:r>
              <a:rPr lang="en-GB" sz="1500" b="1" dirty="0" err="1"/>
              <a:t>center</a:t>
            </a:r>
            <a:r>
              <a:rPr lang="en-GB" sz="1500" b="1" dirty="0"/>
              <a:t>' }}&gt;</a:t>
            </a:r>
          </a:p>
          <a:p>
            <a:pPr>
              <a:lnSpc>
                <a:spcPct val="150000"/>
              </a:lnSpc>
            </a:pPr>
            <a:r>
              <a:rPr lang="en-GB" sz="1500" b="1" dirty="0"/>
              <a:t>  &lt;Text&gt;Hello, Native!&lt;/Text&gt;</a:t>
            </a:r>
          </a:p>
          <a:p>
            <a:pPr>
              <a:lnSpc>
                <a:spcPct val="150000"/>
              </a:lnSpc>
            </a:pPr>
            <a:r>
              <a:rPr lang="en-GB" sz="1500" b="1" dirty="0"/>
              <a:t>&lt;/View&gt;</a:t>
            </a:r>
          </a:p>
          <a:p>
            <a:pPr>
              <a:lnSpc>
                <a:spcPct val="150000"/>
              </a:lnSpc>
            </a:pPr>
            <a:endParaRPr lang="en-GB" sz="1500" b="1" dirty="0"/>
          </a:p>
          <a:p>
            <a:pPr>
              <a:lnSpc>
                <a:spcPct val="150000"/>
              </a:lnSpc>
            </a:pPr>
            <a:r>
              <a:rPr lang="en-GB" sz="1500" b="1" dirty="0"/>
              <a:t>// Conceptual Shadow Tree (C++ World)</a:t>
            </a:r>
          </a:p>
          <a:p>
            <a:pPr>
              <a:lnSpc>
                <a:spcPct val="150000"/>
              </a:lnSpc>
            </a:pPr>
            <a:r>
              <a:rPr lang="en-GB" sz="1500" b="1" dirty="0" err="1"/>
              <a:t>ShadowNode</a:t>
            </a:r>
            <a:r>
              <a:rPr lang="en-GB" sz="1500" b="1" dirty="0"/>
              <a:t>('View', {flex: 1, </a:t>
            </a:r>
            <a:r>
              <a:rPr lang="en-GB" sz="1500" b="1" dirty="0" err="1"/>
              <a:t>justifyContent</a:t>
            </a:r>
            <a:r>
              <a:rPr lang="en-GB" sz="1500" b="1" dirty="0"/>
              <a:t>: '</a:t>
            </a:r>
            <a:r>
              <a:rPr lang="en-GB" sz="1500" b="1" dirty="0" err="1"/>
              <a:t>center</a:t>
            </a:r>
            <a:r>
              <a:rPr lang="en-GB" sz="1500" b="1" dirty="0"/>
              <a:t>'})</a:t>
            </a:r>
          </a:p>
          <a:p>
            <a:pPr>
              <a:lnSpc>
                <a:spcPct val="150000"/>
              </a:lnSpc>
            </a:pPr>
            <a:r>
              <a:rPr lang="en-GB" sz="1500" b="1" dirty="0"/>
              <a:t>  └── </a:t>
            </a:r>
            <a:r>
              <a:rPr lang="en-GB" sz="1500" b="1" dirty="0" err="1"/>
              <a:t>ShadowNode</a:t>
            </a:r>
            <a:r>
              <a:rPr lang="en-GB" sz="1500" b="1" dirty="0"/>
              <a:t>('Text', {text: 'Hello, Native!'})</a:t>
            </a:r>
          </a:p>
          <a:p>
            <a:pPr>
              <a:lnSpc>
                <a:spcPct val="150000"/>
              </a:lnSpc>
            </a:pPr>
            <a:r>
              <a:rPr lang="en-GB" sz="1500" b="1" dirty="0"/>
              <a:t>  // After Yoga runs, it has calculated frames:</a:t>
            </a:r>
          </a:p>
          <a:p>
            <a:pPr>
              <a:lnSpc>
                <a:spcPct val="150000"/>
              </a:lnSpc>
            </a:pPr>
            <a:r>
              <a:rPr lang="en-GB" sz="1500" b="1" dirty="0"/>
              <a:t>  // x: 0, y: 350, width: 400, height: 50</a:t>
            </a:r>
          </a:p>
          <a:p>
            <a:pPr>
              <a:lnSpc>
                <a:spcPct val="150000"/>
              </a:lnSpc>
            </a:pPr>
            <a:endParaRPr lang="en-GB" sz="1500" b="1" dirty="0"/>
          </a:p>
          <a:p>
            <a:pPr>
              <a:lnSpc>
                <a:spcPct val="150000"/>
              </a:lnSpc>
            </a:pPr>
            <a:r>
              <a:rPr lang="en-GB" sz="1500" b="1" dirty="0"/>
              <a:t>// Native UI (UI Thread)</a:t>
            </a:r>
          </a:p>
          <a:p>
            <a:pPr>
              <a:lnSpc>
                <a:spcPct val="150000"/>
              </a:lnSpc>
            </a:pPr>
            <a:r>
              <a:rPr lang="en-GB" sz="1500" b="1" dirty="0"/>
              <a:t>// -&gt; Creates a </a:t>
            </a:r>
            <a:r>
              <a:rPr lang="en-GB" sz="1500" b="1" dirty="0" err="1"/>
              <a:t>UIView</a:t>
            </a:r>
            <a:r>
              <a:rPr lang="en-GB" sz="1500" b="1" dirty="0"/>
              <a:t> and a </a:t>
            </a:r>
            <a:r>
              <a:rPr lang="en-GB" sz="1500" b="1" dirty="0" err="1"/>
              <a:t>UILabel</a:t>
            </a:r>
            <a:r>
              <a:rPr lang="en-GB" sz="1500" b="1" dirty="0"/>
              <a:t> with the calculated frames.</a:t>
            </a:r>
            <a:endParaRPr lang="en-GB" sz="1500" dirty="0"/>
          </a:p>
          <a:p>
            <a:pPr>
              <a:lnSpc>
                <a:spcPct val="150000"/>
              </a:lnSpc>
            </a:pPr>
            <a:endParaRPr lang="en-GB" sz="1500" dirty="0"/>
          </a:p>
          <a:p>
            <a:pPr>
              <a:lnSpc>
                <a:spcPct val="150000"/>
              </a:lnSpc>
            </a:pPr>
            <a:endParaRPr lang="en-UA" sz="1500" dirty="0"/>
          </a:p>
        </p:txBody>
      </p:sp>
      <p:sp>
        <p:nvSpPr>
          <p:cNvPr id="4" name="Title 3">
            <a:extLst>
              <a:ext uri="{FF2B5EF4-FFF2-40B4-BE49-F238E27FC236}">
                <a16:creationId xmlns:a16="http://schemas.microsoft.com/office/drawing/2014/main" id="{B5C51D49-7FEC-7BDF-1450-9D078AC37B28}"/>
              </a:ext>
            </a:extLst>
          </p:cNvPr>
          <p:cNvSpPr>
            <a:spLocks noGrp="1"/>
          </p:cNvSpPr>
          <p:nvPr>
            <p:ph type="title"/>
          </p:nvPr>
        </p:nvSpPr>
        <p:spPr>
          <a:xfrm>
            <a:off x="1965434" y="551058"/>
            <a:ext cx="9217574" cy="1477328"/>
          </a:xfrm>
        </p:spPr>
        <p:txBody>
          <a:bodyPr/>
          <a:lstStyle/>
          <a:p>
            <a:r>
              <a:rPr lang="en-GB" sz="4800" dirty="0"/>
              <a:t>The Shadow Tree: The Blueprint of Your UI</a:t>
            </a:r>
            <a:endParaRPr lang="en-UA" sz="4800" dirty="0"/>
          </a:p>
        </p:txBody>
      </p:sp>
    </p:spTree>
    <p:extLst>
      <p:ext uri="{BB962C8B-B14F-4D97-AF65-F5344CB8AC3E}">
        <p14:creationId xmlns:p14="http://schemas.microsoft.com/office/powerpoint/2010/main" val="1871819926"/>
      </p:ext>
    </p:extLst>
  </p:cSld>
  <p:clrMapOvr>
    <a:masterClrMapping/>
  </p:clrMapOvr>
  <p:transition/>
</p:sld>
</file>

<file path=ppt/slides/slide5.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a:extLst>
            <a:ext uri="{FF2B5EF4-FFF2-40B4-BE49-F238E27FC236}">
              <a16:creationId id="{107A5190-F701-A827-388B-FAD7DB42780B}"/>
            </a:ext>
          </a:extLst>
        </cNvPr>
        <cNvGrpSpPr/>
        <nvPr/>
      </nvGrpSpPr>
      <grpSpPr>
        <a:xfrm>
          <a:off x="0" y="0"/>
          <a:ext cx="0" cy="0"/>
          <a:chOff x="0" y="0"/>
          <a:chExt cx="0" cy="0"/>
        </a:xfrm>
      </grpSpPr>
      <sp>
        <nvSpPr>
          <cNvPr id="2" name="Text Placeholder 1">
            <a:extLst>
              <a:ext uri="{FF2B5EF4-FFF2-40B4-BE49-F238E27FC236}">
                <a16:creationId id="{EF5023A1-1A7B-3DDD-36C0-75B22CFBD835}"/>
              </a:ext>
            </a:extLst>
          </cNvPr>
          <cNvSpPr>
            <a:spLocks noGrp="1"/>
          </cNvSpPr>
          <nvPr>
            <ph type="body" sz="quarter" idx="11"/>
          </nvPr>
        </nvSpPr>
        <spPr>
          <a:xfrm>
            <a:off x="500305" y="1471448"/>
            <a:ext cx="9505543" cy="4527521"/>
          </a:xfrm>
        </spPr>
        <txBody>
          <a:bodyPr/>
          <a:lstStyle/>
          <a:p>
            <a:pPr>
              <a:lnSpc>
                <a:spcPct val="150000"/>
              </a:lnSpc>
            </a:pPr>
            <a:r>
              <a:rPr lang="en-GB" b="1" dirty="0"/>
              <a:t>What is it?</a:t>
            </a:r>
          </a:p>
          <a:p>
            <a:pPr>
              <a:lnSpc>
                <a:spcPct val="150000"/>
              </a:lnSpc>
            </a:pPr>
            <a:r>
              <a:rPr lang="en-GB" dirty="0"/>
              <a:t>Fabric is React Native's next-generation rendering system. It's a complete rewrite of the UI layer.</a:t>
            </a:r>
          </a:p>
          <a:p>
            <a:pPr>
              <a:lnSpc>
                <a:spcPct val="150000"/>
              </a:lnSpc>
            </a:pPr>
            <a:r>
              <a:rPr lang="en-GB" dirty="0"/>
              <a:t>Key Improvements over the Old Architecture:</a:t>
            </a:r>
          </a:p>
          <a:p>
            <a:pPr marL="285750" indent="-285750">
              <a:lnSpc>
                <a:spcPct val="150000"/>
              </a:lnSpc>
              <a:buFont typeface="Arial" panose="020B0604020202020204" pitchFamily="34" charset="0"/>
              <a:buChar char="•"/>
            </a:pPr>
            <a:r>
              <a:rPr lang="en-GB" dirty="0"/>
              <a:t>Low-overhead JS/Native Interop: The async JSON bridge is replaced by JSI (JavaScript Interface), reducing serialization overhead and enabling synchronous integration where appropriate rather than making every update or event synchronous.</a:t>
            </a:r>
          </a:p>
          <a:p>
            <a:pPr marL="285750" indent="-285750">
              <a:lnSpc>
                <a:spcPct val="150000"/>
              </a:lnSpc>
              <a:buFont typeface="Arial" panose="020B0604020202020204" pitchFamily="34" charset="0"/>
              <a:buChar char="•"/>
            </a:pPr>
            <a:r>
              <a:rPr lang="en-GB" dirty="0"/>
              <a:t>Concurrent Rendering: Allows React to prioritize urgent UI updates (like user input) over less critical ones (like network responses).</a:t>
            </a:r>
          </a:p>
          <a:p>
            <a:pPr marL="285750" indent="-285750">
              <a:lnSpc>
                <a:spcPct val="150000"/>
              </a:lnSpc>
              <a:buFont typeface="Arial" panose="020B0604020202020204" pitchFamily="34" charset="0"/>
              <a:buChar char="•"/>
            </a:pPr>
            <a:r>
              <a:rPr lang="en-GB" dirty="0"/>
              <a:t>Simplified View Tree: The Shadow Tree is used directly to mount native views, reducing steps and potential inconsistencies between JS and native state.</a:t>
            </a:r>
          </a:p>
          <a:p>
            <a:pPr>
              <a:lnSpc>
                <a:spcPct val="150000"/>
              </a:lnSpc>
            </a:pPr>
            <a:r>
              <a:rPr lang="en-GB" b="1" dirty="0"/>
              <a:t>Impact: Faster startup, smoother animations, and more responsive user interfaces.</a:t>
            </a:r>
            <a:r>
              <a:rPr lang="en-GB" dirty="0"/>
              <a:t/>
            </a:r>
            <a:endParaRPr lang="en-UA" dirty="0"/>
          </a:p>
        </txBody>
      </sp>
      <sp>
        <nvSpPr>
          <cNvPr id="4" name="Title 3">
            <a:extLst>
              <a:ext uri="{FF2B5EF4-FFF2-40B4-BE49-F238E27FC236}">
                <a16:creationId id="{21E24ACA-49FA-3F8E-377E-9555CE4D0AEF}"/>
              </a:ext>
            </a:extLst>
          </cNvPr>
          <cNvSpPr>
            <a:spLocks noGrp="1"/>
          </cNvSpPr>
          <nvPr>
            <ph type="title"/>
          </nvPr>
        </nvSpPr>
        <spPr>
          <a:xfrm>
            <a:off x="1965434" y="551058"/>
            <a:ext cx="9217574" cy="738664"/>
          </a:xfrm>
        </spPr>
        <txBody>
          <a:bodyPr/>
          <a:lstStyle/>
          <a:p>
            <a:r>
              <a:rPr lang="en-GB" sz="4800" dirty="0"/>
              <a:t>Fabric: Rendering Engine</a:t>
            </a:r>
            <a:endParaRPr lang="en-UA" sz="4800" dirty="0"/>
          </a:p>
        </txBody>
      </sp>
    </spTree>
    <extLst>
      <ext uri="{BB962C8B-B14F-4D97-AF65-F5344CB8AC3E}">
        <p14:creationId val="2329516453"/>
      </ext>
    </extLst>
  </cSld>
  <clrMapOvr>
    <a:masterClrMapping/>
  </clrMapOvr>
  <transition/>
</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B39DB7-8956-D59E-541E-EA3950D9DEF3}"/>
              </a:ext>
            </a:extLst>
          </p:cNvPr>
          <p:cNvSpPr>
            <a:spLocks noGrp="1"/>
          </p:cNvSpPr>
          <p:nvPr>
            <p:ph type="body" sz="quarter" idx="11"/>
          </p:nvPr>
        </p:nvSpPr>
        <p:spPr>
          <a:xfrm>
            <a:off x="531836" y="1917404"/>
            <a:ext cx="7403473" cy="2631490"/>
          </a:xfrm>
        </p:spPr>
        <p:txBody>
          <a:bodyPr/>
          <a:lstStyle/>
          <a:p>
            <a:r>
              <a:rPr lang="en-GB" b="1" dirty="0"/>
              <a:t>Use cases</a:t>
            </a:r>
            <a:endParaRPr lang="en-GB" dirty="0"/>
          </a:p>
          <a:p>
            <a:pPr marL="285750" indent="-285750">
              <a:lnSpc>
                <a:spcPct val="150000"/>
              </a:lnSpc>
              <a:buFont typeface="Arial" panose="020B0604020202020204" pitchFamily="34" charset="0"/>
              <a:buChar char="•"/>
            </a:pPr>
            <a:r>
              <a:rPr lang="en-GB" dirty="0"/>
              <a:t>System / OEM controls (map, camera, player, signature pad)</a:t>
            </a:r>
          </a:p>
          <a:p>
            <a:pPr marL="285750" indent="-285750">
              <a:lnSpc>
                <a:spcPct val="150000"/>
              </a:lnSpc>
              <a:buFont typeface="Arial" panose="020B0604020202020204" pitchFamily="34" charset="0"/>
              <a:buChar char="•"/>
            </a:pPr>
            <a:r>
              <a:rPr lang="en-GB" dirty="0"/>
              <a:t>Platform APIs with custom surfaces (</a:t>
            </a:r>
            <a:r>
              <a:rPr lang="en-GB" dirty="0" err="1"/>
              <a:t>ExoPlayer</a:t>
            </a:r>
            <a:r>
              <a:rPr lang="en-GB" dirty="0"/>
              <a:t>/</a:t>
            </a:r>
            <a:r>
              <a:rPr lang="en-GB" dirty="0" err="1"/>
              <a:t>AVPlayer</a:t>
            </a:r>
            <a:r>
              <a:rPr lang="en-GB" dirty="0"/>
              <a:t>, Metal/GL, PDF)</a:t>
            </a:r>
          </a:p>
          <a:p>
            <a:pPr marL="285750" indent="-285750">
              <a:lnSpc>
                <a:spcPct val="150000"/>
              </a:lnSpc>
              <a:buFont typeface="Arial" panose="020B0604020202020204" pitchFamily="34" charset="0"/>
              <a:buChar char="•"/>
            </a:pPr>
            <a:r>
              <a:rPr lang="en-GB" dirty="0"/>
              <a:t>High‑frequency gestures or frames (draw, video, AR)</a:t>
            </a:r>
          </a:p>
          <a:p>
            <a:pPr marL="285750" indent="-285750">
              <a:lnSpc>
                <a:spcPct val="150000"/>
              </a:lnSpc>
              <a:buFont typeface="Arial" panose="020B0604020202020204" pitchFamily="34" charset="0"/>
              <a:buChar char="•"/>
            </a:pPr>
            <a:r>
              <a:rPr lang="en-GB" dirty="0"/>
              <a:t>Accessibility semantics unavailable in JS</a:t>
            </a:r>
          </a:p>
          <a:p>
            <a:endParaRPr lang="en-UA" dirty="0"/>
          </a:p>
        </p:txBody>
      </p:sp>
      <p:sp>
        <p:nvSpPr>
          <p:cNvPr id="4" name="Title 3">
            <a:extLst>
              <a:ext uri="{FF2B5EF4-FFF2-40B4-BE49-F238E27FC236}">
                <a16:creationId xmlns:a16="http://schemas.microsoft.com/office/drawing/2014/main" id="{EC0B1F1D-FA5F-0D50-A81A-0C1ADDEF7016}"/>
              </a:ext>
            </a:extLst>
          </p:cNvPr>
          <p:cNvSpPr>
            <a:spLocks noGrp="1"/>
          </p:cNvSpPr>
          <p:nvPr>
            <p:ph type="title"/>
          </p:nvPr>
        </p:nvSpPr>
        <p:spPr>
          <a:xfrm>
            <a:off x="1965434" y="424934"/>
            <a:ext cx="9217574" cy="830997"/>
          </a:xfrm>
        </p:spPr>
        <p:txBody>
          <a:bodyPr/>
          <a:lstStyle/>
          <a:p>
            <a:r>
              <a:rPr lang="en-GB" sz="5400" dirty="0"/>
              <a:t>When to build a Native View</a:t>
            </a:r>
            <a:endParaRPr lang="en-UA" sz="5400" dirty="0"/>
          </a:p>
        </p:txBody>
      </p:sp>
    </p:spTree>
    <p:extLst>
      <p:ext uri="{BB962C8B-B14F-4D97-AF65-F5344CB8AC3E}">
        <p14:creationId xmlns:p14="http://schemas.microsoft.com/office/powerpoint/2010/main" val="172613219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16C6-BB06-EEE5-DCB9-876A64F36C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CE8DFB-DAA5-0B6C-0C71-179015E6F6FA}"/>
              </a:ext>
            </a:extLst>
          </p:cNvPr>
          <p:cNvSpPr>
            <a:spLocks noGrp="1"/>
          </p:cNvSpPr>
          <p:nvPr>
            <p:ph type="body" sz="quarter" idx="11"/>
          </p:nvPr>
        </p:nvSpPr>
        <p:spPr>
          <a:xfrm>
            <a:off x="468774" y="1549542"/>
            <a:ext cx="8528081" cy="4847481"/>
          </a:xfrm>
        </p:spPr>
        <p:txBody>
          <a:bodyPr/>
          <a:lstStyle/>
          <a:p>
            <a:endParaRPr lang="en-GB" b="1" dirty="0"/>
          </a:p>
          <a:p>
            <a:r>
              <a:rPr lang="en-GB" b="1" dirty="0"/>
              <a:t>Alternatives</a:t>
            </a:r>
          </a:p>
          <a:p>
            <a:endParaRPr lang="en-GB" dirty="0"/>
          </a:p>
          <a:p>
            <a:pPr marL="285750" indent="-285750">
              <a:lnSpc>
                <a:spcPct val="150000"/>
              </a:lnSpc>
              <a:buFont typeface="Arial" panose="020B0604020202020204" pitchFamily="34" charset="0"/>
              <a:buChar char="•"/>
            </a:pPr>
            <a:r>
              <a:rPr lang="en-GB" dirty="0"/>
              <a:t>JS‑only (</a:t>
            </a:r>
            <a:r>
              <a:rPr lang="en-GB" dirty="0" err="1"/>
              <a:t>Skia</a:t>
            </a:r>
            <a:r>
              <a:rPr lang="en-GB" dirty="0"/>
              <a:t>/Reanimated/GL) — simpler shipping, but may lack battery/perf/APIs</a:t>
            </a:r>
          </a:p>
          <a:p>
            <a:pPr marL="285750" indent="-285750">
              <a:lnSpc>
                <a:spcPct val="150000"/>
              </a:lnSpc>
              <a:buFont typeface="Arial" panose="020B0604020202020204" pitchFamily="34" charset="0"/>
              <a:buChar char="•"/>
            </a:pPr>
            <a:r>
              <a:rPr lang="en-GB" dirty="0"/>
              <a:t>Existing libraries — vet for Fabric compatibility &amp; maintenance</a:t>
            </a:r>
          </a:p>
          <a:p>
            <a:endParaRPr lang="en-GB" b="1" dirty="0"/>
          </a:p>
          <a:p>
            <a:r>
              <a:rPr lang="en-GB" b="1" dirty="0"/>
              <a:t>Decision checklist</a:t>
            </a:r>
          </a:p>
          <a:p>
            <a:endParaRPr lang="en-GB" dirty="0"/>
          </a:p>
          <a:p>
            <a:pPr marL="285750" indent="-285750">
              <a:lnSpc>
                <a:spcPct val="150000"/>
              </a:lnSpc>
              <a:buFont typeface="Arial" panose="020B0604020202020204" pitchFamily="34" charset="0"/>
              <a:buChar char="•"/>
            </a:pPr>
            <a:r>
              <a:rPr lang="en-GB" dirty="0"/>
              <a:t>Needs platform surface?</a:t>
            </a:r>
          </a:p>
          <a:p>
            <a:pPr marL="285750" indent="-285750">
              <a:lnSpc>
                <a:spcPct val="150000"/>
              </a:lnSpc>
              <a:buFont typeface="Arial" panose="020B0604020202020204" pitchFamily="34" charset="0"/>
              <a:buChar char="•"/>
            </a:pPr>
            <a:r>
              <a:rPr lang="en-GB" dirty="0"/>
              <a:t>Must interop with native SDK?</a:t>
            </a:r>
          </a:p>
          <a:p>
            <a:pPr marL="285750" indent="-285750">
              <a:lnSpc>
                <a:spcPct val="150000"/>
              </a:lnSpc>
              <a:buFont typeface="Arial" panose="020B0604020202020204" pitchFamily="34" charset="0"/>
              <a:buChar char="•"/>
            </a:pPr>
            <a:r>
              <a:rPr lang="en-GB" dirty="0"/>
              <a:t>Frame‑critical ≥ 60 FPS?</a:t>
            </a:r>
          </a:p>
          <a:p>
            <a:pPr marL="285750" indent="-285750">
              <a:lnSpc>
                <a:spcPct val="150000"/>
              </a:lnSpc>
              <a:buFont typeface="Arial" panose="020B0604020202020204" pitchFamily="34" charset="0"/>
              <a:buChar char="•"/>
            </a:pPr>
            <a:r>
              <a:rPr lang="en-GB" dirty="0"/>
              <a:t>Long‑term maintenance cost acceptable?</a:t>
            </a:r>
          </a:p>
          <a:p>
            <a:endParaRPr lang="en-UA" dirty="0"/>
          </a:p>
        </p:txBody>
      </p:sp>
      <p:sp>
        <p:nvSpPr>
          <p:cNvPr id="4" name="Title 3">
            <a:extLst>
              <a:ext uri="{FF2B5EF4-FFF2-40B4-BE49-F238E27FC236}">
                <a16:creationId xmlns:a16="http://schemas.microsoft.com/office/drawing/2014/main" id="{F9BCDAD6-DC30-3226-7984-6E28F6ABED18}"/>
              </a:ext>
            </a:extLst>
          </p:cNvPr>
          <p:cNvSpPr>
            <a:spLocks noGrp="1"/>
          </p:cNvSpPr>
          <p:nvPr>
            <p:ph type="title"/>
          </p:nvPr>
        </p:nvSpPr>
        <p:spPr>
          <a:xfrm>
            <a:off x="1965434" y="424934"/>
            <a:ext cx="9217574" cy="830997"/>
          </a:xfrm>
        </p:spPr>
        <p:txBody>
          <a:bodyPr/>
          <a:lstStyle/>
          <a:p>
            <a:r>
              <a:rPr lang="en-GB" sz="5400" dirty="0"/>
              <a:t>When to build a Native View</a:t>
            </a:r>
            <a:endParaRPr lang="en-UA" sz="5400" dirty="0"/>
          </a:p>
        </p:txBody>
      </p:sp>
    </p:spTree>
    <p:extLst>
      <p:ext uri="{BB962C8B-B14F-4D97-AF65-F5344CB8AC3E}">
        <p14:creationId xmlns:p14="http://schemas.microsoft.com/office/powerpoint/2010/main" val="1035881585"/>
      </p:ext>
    </p:extLst>
  </p:cSld>
  <p:clrMapOvr>
    <a:masterClrMapping/>
  </p:clrMapOvr>
  <p:transition/>
</p: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ADAE1017-76C4-F7DE-C7EB-5B2B84B02A28}"/>
            </ns1:ext>
          </ns1:extLst>
        </ns0:cNvPr>
        <ns0:cNvGrpSpPr/>
        <ns0:nvPr/>
      </ns0:nvGrpSpPr>
      <ns0:grpSpPr>
        <ns1:xfrm>
          <ns1:off x="0" y="0"/>
          <ns1:ext cx="0" cy="0"/>
          <ns1:chOff x="0" y="0"/>
          <ns1:chExt cx="0" cy="0"/>
        </ns1:xfrm>
      </ns0:grpSpPr>
      <ns0:sp>
        <ns0:nvSpPr>
          <ns0:cNvPr id="2" name="Text Placeholder 1">
            <ns1:extLst>
              <ns1:ext uri="{FF2B5EF4-FFF2-40B4-BE49-F238E27FC236}">
                <ns2:creationId id="{19DC9D46-7732-68F4-55A4-0BCF5296125B}"/>
              </ns1:ext>
            </ns1:extLst>
          </ns0:cNvPr>
          <ns0:cNvSpPr>
            <ns1:spLocks noGrp="1"/>
          </ns0:cNvSpPr>
          <ns0:nvPr>
            <ns0:ph type="body" sz="quarter" idx="11"/>
          </ns0:nvPr>
        </ns0:nvSpPr>
        <ns0:spPr>
          <ns1:xfrm>
            <ns1:off x="500305" y="1471448"/>
            <ns1:ext cx="9505543" cy="4943020"/>
          </ns1:xfrm>
        </ns0:spPr>
        <ns0:txBody>
          <ns1:bodyPr/>
          <ns1:lstStyle/>
          <ns1:p>
            <ns1:pPr>
              <ns1:lnSpc>
                <ns1:spcPct val="150000"/>
              </ns1:lnSpc>
            </ns1:pPr>
            <ns1:r>
              <ns1:rPr lang="en-GB" b="1" dirty="0"/>
              <ns1:t>What are they?</ns1:t>
            </ns1:r>
          </ns1:p>
          <ns1:p>
            <ns1:pPr marL="285750" indent="-285750">
              <ns1:lnSpc>
                <ns1:spcPct val="150000"/>
              </ns1:lnSpc>
              <ns1:buFont typeface="Arial" panose="020B0604020202020204" pitchFamily="34" charset="0"/>
              <ns1:buChar char="•"/>
            </ns1:pPr>
            <ns1:r>
              <ns1:rPr lang="en-GB" dirty="0"/>
              <ns1:t>TurboModules (non‑UI) and Fabric Native Components (UI).</ns1:t>
            </ns1:r>
          </ns1:p>
          <ns1:p>
            <ns1:pPr marL="285750" indent="-285750">
              <ns1:lnSpc>
                <ns1:spcPct val="150000"/>
              </ns1:lnSpc>
              <ns1:buFont typeface="Arial" panose="020B0604020202020204" pitchFamily="34" charset="0"/>
              <ns1:buChar char="•"/>
            </ns1:pPr>
            <ns1:r>
              <ns1:rPr lang="en-GB" dirty="0"/>
              <ns1:t>They are "type-safe" by design, using a JS spec to generate native interface code.</ns1:t>
            </ns1:r>
          </ns1:p>
          <ns1:p>
            <ns1:pPr marL="285750" indent="-285750">
              <ns1:lnSpc>
                <ns1:spcPct val="150000"/>
              </ns1:lnSpc>
              <ns1:buFont typeface="Arial" panose="020B0604020202020204" pitchFamily="34" charset="0"/>
              <ns1:buChar char="•"/>
            </ns1:pPr>
            <ns1:r>
              <ns1:rPr lang="en-GB" dirty="0"/>
              <ns1:t>Lazy Loading: initialized when first used, improving startup time.</ns1:t>
            </ns1:r>
          </ns1:p>
          <ns1:p>
            <ns1:pPr marL="285750" indent="-285750">
              <ns1:lnSpc>
                <ns1:spcPct val="150000"/>
              </ns1:lnSpc>
              <ns1:buFont typeface="Arial" panose="020B0604020202020204" pitchFamily="34" charset="0"/>
              <ns1:buChar char="•"/>
            </ns1:pPr>
            <ns1:endParaRPr lang="en-GB" dirty="0"/>
          </ns1:p>
          <ns1:p>
            <ns1:pPr>
              <ns1:lnSpc>
                <ns1:spcPct val="150000"/>
              </ns1:lnSpc>
            </ns1:pPr>
            <ns1:r>
              <ns1:rPr lang="en-GB" b="1" dirty="0"/>
              <ns1:t>Creating a Fabric Native Component (Process):</ns1:t>
            </ns1:r>
          </ns1:p>
          <ns1:p>
            <ns1:pPr marL="285750" indent="-285750">
              <ns1:lnSpc>
                <ns1:spcPct val="150000"/>
              </ns1:lnSpc>
              <ns1:buFont typeface="Arial" panose="020B0604020202020204" pitchFamily="34" charset="0"/>
              <ns1:buChar char="•"/>
            </ns1:pPr>
            <ns1:r>
              <ns1:rPr lang="en-GB" dirty="0"/>
              <ns1:t>Define a Spec (TypeScript): props / events / commands contract.</ns1:t>
            </ns1:r>
          </ns1:p>
          <ns1:p>
            <ns1:pPr marL="285750" indent="-285750">
              <ns1:lnSpc>
                <ns1:spcPct val="150000"/>
              </ns1:lnSpc>
              <ns1:buFont typeface="Arial" panose="020B0604020202020204" pitchFamily="34" charset="0"/>
              <ns1:buChar char="•"/>
            </ns1:pPr>
            <ns1:r>
              <ns1:rPr lang="en-GB" dirty="0"/>
              <ns1:t>Native Implementation (iOS/Android): implement the generated interface.</ns1:t>
            </ns1:r>
          </ns1:p>
          <ns1:p>
            <ns1:pPr marL="285750" indent="-285750">
              <ns1:lnSpc>
                <ns1:spcPct val="150000"/>
              </ns1:lnSpc>
              <ns1:buFont typeface="Arial" panose="020B0604020202020204" pitchFamily="34" charset="0"/>
              <ns1:buChar char="•"/>
            </ns1:pPr>
            <ns1:r>
              <ns1:rPr lang="en-GB" dirty="0" err="1"/>
              <ns1:t>Codegen: build-time tool generates the C++/ObjC/Java glue.</ns1:t>
            </ns1:r>
            <ns1:r>
              <ns1:rPr lang="en-GB" dirty="0"/>
              <ns1:t/>
            </ns1:r>
          </ns1:p>
          <ns1:p>
            <ns1:pPr marL="285750" indent="-285750">
              <ns1:lnSpc>
                <ns1:spcPct val="150000"/>
              </ns1:lnSpc>
              <ns1:buFont typeface="Arial" panose="020B0604020202020204" pitchFamily="34" charset="0"/>
              <ns1:buChar char="•"/>
            </ns1:pPr>
            <ns1:r>
              <ns1:rPr lang="en-GB" dirty="0"/>
              <ns1:t>Use in JavaScript: import and render like any other component.</ns1:t>
            </ns1:r>
            <ns1:endParaRPr lang="en-UA" dirty="0"/>
          </ns1:p>
        </ns0:txBody>
      </ns0:sp>
      <ns0:sp>
        <ns0:nvSpPr>
          <ns0:cNvPr id="4" name="Title 3">
            <ns1:extLst>
              <ns1:ext uri="{FF2B5EF4-FFF2-40B4-BE49-F238E27FC236}">
                <ns2:creationId id="{B4CCF7AC-6AEF-3978-CDD6-C343F7BE0D96}"/>
              </ns1:ext>
            </ns1:extLst>
          </ns0:cNvPr>
          <ns0:cNvSpPr>
            <ns1:spLocks noGrp="1"/>
          </ns0:cNvSpPr>
          <ns0:nvPr>
            <ns0:ph type="title"/>
          </ns0:nvPr>
        </ns0:nvSpPr>
        <ns0:spPr>
          <ns1:xfrm>
            <ns1:off x="1965434" y="551058"/>
            <ns1:ext cx="9550000" cy="738664"/>
          </ns1:xfrm>
        </ns0:spPr>
        <ns0:txBody>
          <ns1:bodyPr/>
          <ns1:lstStyle/>
          <ns1:p>
            <ns1:r>
              <ns1:rPr lang="en-GB" sz="3600" dirty="0"/>
              <ns1:t>Fabric Native Components</ns1:t>
            </ns1:r>
            <ns1:r>
              <ns1:rPr lang="en-GB" sz="3600" dirty="0" err="1"/>
              <ns1:t/>
            </ns1:r>
            <ns1:endParaRPr lang="en-UA" sz="3600" dirty="0"/>
          </ns1:p>
        </ns0:txBody>
      </ns0:sp>
    </ns0:spTree>
    <ns0:extLst>
      <ns0:ext uri="{BB962C8B-B14F-4D97-AF65-F5344CB8AC3E}">
        <ns3:creationId val="748682755"/>
      </ns0:ext>
    </ns0:extLst>
  </ns0:cSld>
  <ns0:clrMapOvr>
    <ns1:masterClrMapping/>
  </ns0:clrMapOvr>
  <ns0:transition/>
</ns0:sld>
</file>

<file path=ppt/slides/slide9.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A9F5534E-C408-F524-FCF7-FE46F9CBF964}"/>
            </ns1:ext>
          </ns1:extLst>
        </ns0:cNvPr>
        <ns0:cNvGrpSpPr/>
        <ns0:nvPr/>
      </ns0:nvGrpSpPr>
      <ns0:grpSpPr>
        <ns1:xfrm>
          <ns1:off x="0" y="0"/>
          <ns1:ext cx="0" cy="0"/>
          <ns1:chOff x="0" y="0"/>
          <ns1:chExt cx="0" cy="0"/>
        </ns1:xfrm>
      </ns0:grpSpPr>
      <ns0:sp>
        <ns0:nvSpPr>
          <ns0:cNvPr id="4" name="Title 3">
            <ns1:extLst>
              <ns1:ext uri="{FF2B5EF4-FFF2-40B4-BE49-F238E27FC236}">
                <ns2:creationId id="{DF8C0FF7-859B-415B-1D8E-36A884695FD7}"/>
              </ns1:ext>
            </ns1:extLst>
          </ns0:cNvPr>
          <ns0:cNvSpPr>
            <ns1:spLocks noGrp="1"/>
          </ns0:cNvSpPr>
          <ns0:nvPr>
            <ns0:ph type="title"/>
          </ns0:nvPr>
        </ns0:nvSpPr>
        <ns0:spPr>
          <ns1:xfrm>
            <ns1:off x="1965434" y="551058"/>
            <ns1:ext cx="9550000" cy="738664"/>
          </ns1:xfrm>
        </ns0:spPr>
        <ns0:txBody>
          <ns1:bodyPr/>
          <ns1:lstStyle/>
          <ns1:p>
            <ns1:r>
              <ns1:rPr lang="en-GB" sz="3600" dirty="0" err="1"/>
              <ns1:t>Component spec (TypeScript)</ns1:t>
            </ns1:r>
            <ns1:r>
              <ns1:rPr lang="en-GB" sz="3600" dirty="0"/>
              <ns1:t/>
            </ns1:r>
            <ns1:endParaRPr lang="en-UA" sz="3600" dirty="0"/>
          </ns1:p>
        </ns0:txBody>
      </ns0:sp>
      <ns0:sp>
        <ns0:nvSpPr>
          <ns0:cNvPr id="9" name="TextBox 8">
            <ns1:extLst>
              <ns1:ext uri="{FF2B5EF4-FFF2-40B4-BE49-F238E27FC236}">
                <ns2:creationId id="{A3EE2307-DD2C-3E2D-A5EB-F4D7C43A36E4}"/>
              </ns1:ext>
            </ns1:extLst>
          </ns0:cNvPr>
          <ns0:cNvSpPr txBox="1"/>
          <ns0:nvPr/>
        </ns0:nvSpPr>
        <ns0:spPr>
          <ns1:xfrm>
            <ns1:off x="542347" y="1587061"/>
            <ns1:ext cx="8675225" cy="4211538"/>
          </ns1:xfrm>
          <ns1:prstGeom prst="rect">
            <ns1:avLst/>
          </ns1:prstGeom>
          <ns1:noFill/>
        </ns0:spPr>
        <ns0:txBody>
          <ns1:bodyPr wrap="square">
            <ns1:spAutoFit/>
          </ns1:bodyPr>
          <ns1:lstStyle/>
          <ns1:p>
            <ns1:pPr>
              <ns1:lnSpc>
                <ns1:spcPct val="150000"/>
              </ns1:lnSpc>
            </ns1:pPr>
            <ns1:r>
              <ns1:rPr lang="en-GB" sz="1500" dirty="0"/>
              <ns1:t>import type {HostComponent, ViewProps} from 'react-native';</ns1:t>
            </ns1:r>
            <ns1:r>
              <ns1:rPr lang="en-GB" sz="1500" dirty="0" err="1"/>
              <ns1:t/>
            </ns1:r>
            <ns1:r>
              <ns1:rPr lang="en-GB" sz="1500" dirty="0"/>
              <ns1:t/>
            </ns1:r>
          </ns1:p>
          <ns1:p>
            <ns1:pPr>
              <ns1:lnSpc>
                <ns1:spcPct val="150000"/>
              </ns1:lnSpc>
            </ns1:pPr>
            <ns1:r>
              <ns1:rPr lang="en-GB" sz="1500" dirty="0"/>
              <ns1:t>import type {DirectEventHandler, Double} from 'react-native/Libraries/Types/CodegenTypes';</ns1:t>
            </ns1:r>
            <ns1:r>
              <ns1:rPr lang="en-GB" sz="1500" dirty="0" err="1"/>
              <ns1:t/>
            </ns1:r>
            <ns1:r>
              <ns1:rPr lang="en-GB" sz="1500" dirty="0"/>
              <ns1:t/>
            </ns1:r>
          </ns1:p>
          <ns1:p>
            <ns1:pPr>
              <ns1:lnSpc>
                <ns1:spcPct val="150000"/>
              </ns1:lnSpc>
            </ns1:pPr>
            <ns1:endParaRPr lang="en-GB" sz="1500" dirty="0"/>
          </ns1:p>
          <ns1:p>
            <ns1:pPr>
              <ns1:lnSpc>
                <ns1:spcPct val="150000"/>
              </ns1:lnSpc>
            </ns1:pPr>
            <ns1:r>
              <ns1:rPr lang="en-GB" sz="1500" dirty="0"/>
              <ns1:t>import codegenNativeComponent from 'react-native/Libraries/Utilities/codegenNativeComponent';</ns1:t>
            </ns1:r>
          </ns1:p>
          <ns1:p>
            <ns1:pPr>
              <ns1:lnSpc>
                <ns1:spcPct val="150000"/>
              </ns1:lnSpc>
            </ns1:pPr>
            <ns1:r>
              <ns1:rPr lang="en-GB" sz="1500" dirty="0"/>
              <ns1:t>type VideoProgress = Readonly&lt;{ currentTime: Double; duration: Double; progress: Double }&gt;; </ns1:t>
            </ns1:r>
            <ns1:r>
              <ns1:rPr lang="en-GB" sz="1500" dirty="0" err="1"/>
              <ns1:t/>
            </ns1:r>
            <ns1:r>
              <ns1:rPr lang="en-GB" sz="1500" dirty="0"/>
              <ns1:t/>
            </ns1:r>
            <ns1:r>
              <ns1:rPr lang="en-GB" sz="1500" dirty="0" err="1"/>
              <ns1:t/>
            </ns1:r>
            <ns1:r>
              <ns1:rPr lang="en-GB" sz="1500" dirty="0"/>
              <ns1:t/>
            </ns1:r>
          </ns1:p>
          <ns1:p>
            <ns1:pPr>
              <ns1:lnSpc>
                <ns1:spcPct val="150000"/>
              </ns1:lnSpc>
            </ns1:pPr>
            <ns1:r>
              <ns1:rPr lang="en-GB" sz="1500" dirty="0"/>
              <ns1:t>export interface NativeProps extends ViewProps {</ns1:t>
            </ns1:r>
            <ns1:r>
              <ns1:rPr lang="en-GB" sz="1500" dirty="0" err="1"/>
              <ns1:t/>
            </ns1:r>
            <ns1:r>
              <ns1:rPr lang="en-GB" sz="1500" dirty="0"/>
              <ns1:t/>
            </ns1:r>
          </ns1:p>
          <ns1:p>
            <ns1:pPr>
              <ns1:lnSpc>
                <ns1:spcPct val="150000"/>
              </ns1:lnSpc>
            </ns1:pPr>
            <ns1:r>
              <ns1:rPr lang="en-GB" sz="1500" dirty="0"/>
              <ns1:t>  sourceUrl: string; paused?: boolean;</ns1:t>
            </ns1:r>
          </ns1:p>
          <ns1:p>
            <ns1:pPr>
              <ns1:lnSpc>
                <ns1:spcPct val="150000"/>
              </ns1:lnSpc>
            </ns1:pPr>
            <ns1:r>
              <ns1:rPr lang="en-GB" sz="1500" dirty="0"/>
              <ns1:t>  onVideoProgress?: DirectEventHandler&lt;VideoProgress&gt;;</ns1:t>
            </ns1:r>
            <ns1:r>
              <ns1:rPr lang="en-GB" sz="1500" dirty="0" err="1"/>
              <ns1:t/>
            </ns1:r>
            <ns1:r>
              <ns1:rPr lang="en-GB" sz="1500" dirty="0"/>
              <ns1:t/>
            </ns1:r>
            <ns1:r>
              <ns1:rPr lang="en-GB" sz="1500" dirty="0" err="1"/>
              <ns1:t/>
            </ns1:r>
            <ns1:r>
              <ns1:rPr lang="en-GB" sz="1500" dirty="0"/>
              <ns1:t/>
            </ns1:r>
          </ns1:p>
          <ns1:p>
            <ns1:pPr>
              <ns1:lnSpc>
                <ns1:spcPct val="150000"/>
              </ns1:lnSpc>
            </ns1:pPr>
            <ns1:r>
              <ns1:rPr lang="en-GB" sz="1500" dirty="0"/>
              <ns1:t>  onVideoEnd?: DirectEventHandler&lt;Readonly&lt;{}&gt;&gt;;</ns1:t>
            </ns1:r>
          </ns1:p>
          <ns1:p>
            <ns1:pPr>
              <ns1:lnSpc>
                <ns1:spcPct val="150000"/>
              </ns1:lnSpc>
            </ns1:pPr>
            <ns1:endParaRPr lang="en-GB" sz="1500" dirty="0"/>
          </ns1:p>
          <ns1:p>
            <ns1:pPr>
              <ns1:lnSpc>
                <ns1:spcPct val="150000"/>
              </ns1:lnSpc>
            </ns1:pPr>
            <ns1:r>
              <ns1:rPr lang="en-GB" sz="1500" dirty="0"/>
              <ns1:t>}</ns1:t>
            </ns1:r>
          </ns1:p>
          <ns1:p>
            <ns1:pPr>
              <ns1:lnSpc>
                <ns1:spcPct val="150000"/>
              </ns1:lnSpc>
            </ns1:pPr>
            <ns1:r>
              <ns1:rPr lang="en-GB" sz="1500" dirty="0"/>
              <ns1:t>export default codegenNativeComponent&lt;NativeProps&gt;('RTNVideoPlayer') as HostComponent&lt;NativeProps&gt;;</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endParaRPr lang="en-UA" sz="1500" dirty="0"/>
          </ns1:p>
        </ns0:txBody>
      </ns0:sp>
    </ns0:spTree>
    <ns0:extLst>
      <ns0:ext uri="{BB962C8B-B14F-4D97-AF65-F5344CB8AC3E}">
        <ns3:creationId val="2611104886"/>
      </ns0:ext>
    </ns0:extLst>
  </ns0:cSld>
  <ns0:clrMapOvr>
    <ns1:masterClrMapping/>
  </ns0:clrMapOvr>
  <ns0:transition/>
</ns0:sld>
</file>

<file path=ppt/slides/slide10.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C1EFCE9C-C51B-DB9C-A38B-11D8955274E9}"/>
            </ns1:ext>
          </ns1:extLst>
        </ns0:cNvPr>
        <ns0:cNvGrpSpPr/>
        <ns0:nvPr/>
      </ns0:nvGrpSpPr>
      <ns0:grpSpPr>
        <ns1:xfrm>
          <ns1:off x="0" y="0"/>
          <ns1:ext cx="0" cy="0"/>
          <ns1:chOff x="0" y="0"/>
          <ns1:chExt cx="0" cy="0"/>
        </ns1:xfrm>
      </ns0:grpSpPr>
      <ns0:sp>
        <ns0:nvSpPr>
          <ns0:cNvPr id="4" name="Title 3">
            <ns1:extLst>
              <ns1:ext uri="{FF2B5EF4-FFF2-40B4-BE49-F238E27FC236}">
                <ns2:creationId id="{ECC8575E-A9C3-03CC-9A56-1BD50C9CEA2F}"/>
              </ns1:ext>
            </ns1:extLst>
          </ns0:cNvPr>
          <ns0:cNvSpPr>
            <ns1:spLocks noGrp="1"/>
          </ns0:cNvSpPr>
          <ns0:nvPr>
            <ns0:ph type="title"/>
          </ns0:nvPr>
        </ns0:nvSpPr>
        <ns0:spPr>
          <ns1:xfrm>
            <ns1:off x="1965434" y="551058"/>
            <ns1:ext cx="9550000" cy="738664"/>
          </ns1:xfrm>
        </ns0:spPr>
        <ns0:txBody>
          <ns1:bodyPr/>
          <ns1:lstStyle/>
          <ns1:p>
            <ns1:r>
              <ns1:rPr lang="en-GB" sz="3600" dirty="0" err="1"/>
              <ns1:t>iOS Component View (ObjC++)</ns1:t>
            </ns1:r>
            <ns1:r>
              <ns1:rPr lang="en-GB" sz="3600" dirty="0"/>
              <ns1:t/>
            </ns1:r>
            <ns1:r>
              <ns1:rPr lang="en-GB" sz="3600" dirty="0" err="1"/>
              <ns1:t/>
            </ns1:r>
            <ns1:r>
              <ns1:rPr lang="en-GB" sz="3600" dirty="0"/>
              <ns1:t/>
            </ns1:r>
            <ns1:endParaRPr lang="en-UA" sz="3600" dirty="0"/>
          </ns1:p>
        </ns0:txBody>
      </ns0:sp>
      <ns0:sp>
        <ns0:nvSpPr>
          <ns0:cNvPr id="9" name="TextBox 8">
            <ns1:extLst>
              <ns1:ext uri="{FF2B5EF4-FFF2-40B4-BE49-F238E27FC236}">
                <ns2:creationId id="{6D7D546A-BF80-7452-0A92-1A3AE913BB09}"/>
              </ns1:ext>
            </ns1:extLst>
          </ns0:cNvPr>
          <ns0:cNvSpPr txBox="1"/>
          <ns0:nvPr/>
        </ns0:nvSpPr>
        <ns0:spPr>
          <ns1:xfrm>
            <ns1:off x="542347" y="1587061"/>
            <ns1:ext cx="8675225" cy="4211538"/>
          </ns1:xfrm>
          <ns1:prstGeom prst="rect">
            <ns1:avLst/>
          </ns1:prstGeom>
          <ns1:noFill/>
        </ns0:spPr>
        <ns0:txBody>
          <ns1:bodyPr wrap="square">
            <ns1:spAutoFit/>
          </ns1:bodyPr>
          <ns1:lstStyle/>
          <ns1:p>
            <ns1:pPr>
              <ns1:lnSpc>
                <ns1:spcPct val="150000"/>
              </ns1:lnSpc>
            </ns1:pPr>
            <ns1:r>
              <ns1:rPr lang="en-GB" sz="1500" dirty="0"/>
              <ns1:t>#import &lt;React/RCTViewComponentView.h&gt;</ns1:t>
            </ns1:r>
            <ns1:r>
              <ns1:rPr lang="en-GB" sz="1500" dirty="0" err="1"/>
              <ns1:t/>
            </ns1:r>
            <ns1:r>
              <ns1:rPr lang="en-GB" sz="1500" dirty="0"/>
              <ns1:t/>
            </ns1:r>
          </ns1:p>
          <ns1:p>
            <ns1:pPr>
              <ns1:lnSpc>
                <ns1:spcPct val="150000"/>
              </ns1:lnSpc>
            </ns1:pPr>
            <ns1:endParaRPr lang="en-GB" sz="1500" dirty="0"/>
          </ns1:p>
          <ns1:p>
            <ns1:pPr>
              <ns1:lnSpc>
                <ns1:spcPct val="150000"/>
              </ns1:lnSpc>
            </ns1:pPr>
            <ns1:r>
              <ns1:rPr lang="en-GB" sz="1500" dirty="0"/>
              <ns1:t>#import &lt;react/renderer/components/RTNVideoPlayerSpec/Props.h&gt;</ns1:t>
            </ns1:r>
          </ns1:p>
          <ns1:p>
            <ns1:pPr>
              <ns1:lnSpc>
                <ns1:spcPct val="150000"/>
              </ns1:lnSpc>
            </ns1:pPr>
            <ns1:r>
              <ns1:rPr lang="en-GB" sz="1500" dirty="0"/>
              <ns1:t>#import &lt;react/renderer/components/RTNVideoPlayerSpec/EventEmitters.h&gt;</ns1:t>
            </ns1:r>
            <ns1:r>
              <ns1:rPr lang="en-GB" sz="1500" dirty="0" err="1"/>
              <ns1:t/>
            </ns1:r>
            <ns1:r>
              <ns1:rPr lang="en-GB" sz="1500" dirty="0"/>
              <ns1:t/>
            </ns1:r>
            <ns1:r>
              <ns1:rPr lang="en-GB" sz="1500" dirty="0" err="1"/>
              <ns1:t/>
            </ns1:r>
            <ns1:r>
              <ns1:rPr lang="en-GB" sz="1500" dirty="0"/>
              <ns1:t/>
            </ns1:r>
          </ns1:p>
          <ns1:p>
            <ns1:pPr>
              <ns1:lnSpc>
                <ns1:spcPct val="150000"/>
              </ns1:lnSpc>
            </ns1:pPr>
            <ns1:endParaRPr lang="en-GB" sz="1500" dirty="0"/>
          </ns1:p>
          <ns1:p>
            <ns1:pPr>
              <ns1:lnSpc>
                <ns1:spcPct val="150000"/>
              </ns1:lnSpc>
            </ns1:pPr>
            <ns1:r>
              <ns1:rPr lang="en-GB" sz="1500" dirty="0"/>
              <ns1:t>@interface RTNVideoPlayerView : RCTViewComponentView @end</ns1:t>
            </ns1:r>
            <ns1:r>
              <ns1:rPr lang="en-GB" sz="1500" dirty="0" err="1"/>
              <ns1:t/>
            </ns1:r>
            <ns1:r>
              <ns1:rPr lang="en-GB" sz="1500" dirty="0"/>
              <ns1:t/>
            </ns1:r>
          </ns1:p>
          <ns1:p>
            <ns1:pPr>
              <ns1:lnSpc>
                <ns1:spcPct val="150000"/>
              </ns1:lnSpc>
            </ns1:pPr>
            <ns1:r>
              <ns1:rPr lang="en-GB" sz="1500" dirty="0"/>
              <ns1:t>- (void)updateProps:(Props::Shared const &amp;)props oldProps:(Props::Shared const &amp;)oldProps;</ns1:t>
            </ns1:r>
            <ns1:r>
              <ns1:rPr lang="en-GB" sz="1500" dirty="0" err="1"/>
              <ns1:t/>
            </ns1:r>
            <ns1:r>
              <ns1:rPr lang="en-GB" sz="1500" dirty="0"/>
              <ns1:t/>
            </ns1:r>
            <ns1:r>
              <ns1:rPr lang="en-GB" sz="1500" dirty="0" err="1"/>
              <ns1:t/>
            </ns1:r>
            <ns1:r>
              <ns1:rPr lang="en-GB" sz="1500" dirty="0"/>
              <ns1:t/>
            </ns1:r>
          </ns1:p>
          <ns1:p>
            <ns1:pPr>
              <ns1:lnSpc>
                <ns1:spcPct val="150000"/>
              </ns1:lnSpc>
            </ns1:pPr>
            <ns1:endParaRPr lang="en-GB" sz="1500" dirty="0"/>
          </ns1:p>
          <ns1:p>
            <ns1:pPr>
              <ns1:lnSpc>
                <ns1:spcPct val="150000"/>
              </ns1:lnSpc>
            </ns1:pPr>
            <ns1:r>
              <ns1:rPr lang="en-GB" sz="1500" dirty="0"/>
              <ns1:t>- (void)handleCommand:(const NSString *)commandName args:(const NSArray *)args;</ns1:t>
            </ns1:r>
            <ns1:r>
              <ns1:rPr lang="en-GB" sz="1500" dirty="0" err="1"/>
              <ns1:t/>
            </ns1:r>
            <ns1:r>
              <ns1:rPr lang="en-GB" sz="1500" dirty="0"/>
              <ns1:t/>
            </ns1:r>
          </ns1:p>
          <ns1:p>
            <ns1:pPr>
              <ns1:lnSpc>
                <ns1:spcPct val="150000"/>
              </ns1:lnSpc>
            </ns1:pPr>
            <ns1:r>
              <ns1:rPr lang="en-GB" sz="1500" dirty="0"/>
              <ns1:t>// Create Swift UIView and set as contentView</ns1:t>
            </ns1:r>
            <ns1:r>
              <ns1:rPr lang="en-GB" sz="1500" dirty="0" err="1"/>
              <ns1:t/>
            </ns1:r>
            <ns1:r>
              <ns1:rPr lang="en-GB" sz="1500" dirty="0"/>
              <ns1:t/>
            </ns1:r>
            <ns1:r>
              <ns1:rPr lang="en-GB" sz="1500" dirty="0" err="1"/>
              <ns1:t/>
            </ns1:r>
            <ns1:r>
              <ns1:rPr lang="en-GB" sz="1500" dirty="0"/>
              <ns1:t/>
            </ns1:r>
          </ns1:p>
          <ns1:p>
            <ns1:pPr>
              <ns1:lnSpc>
                <ns1:spcPct val="150000"/>
              </ns1:lnSpc>
            </ns1:pPr>
            <ns1:endParaRPr lang="en-GB" sz="1500" dirty="0"/>
          </ns1:p>
          <ns1:p>
            <ns1:pPr>
              <ns1:lnSpc>
                <ns1:spcPct val="150000"/>
              </ns1:lnSpc>
            </ns1:pPr>
            <ns1:r>
              <ns1:rPr lang="en-GB" sz="1500" dirty="0"/>
              <ns1:t>// Register via thirdPartyFabricComponents in AppDelegate</ns1:t>
            </ns1:r>
            <ns1:endParaRPr lang="en-UA" sz="1500" dirty="0"/>
          </ns1:p>
        </ns0:txBody>
      </ns0:sp>
    </ns0:spTree>
    <ns0:extLst>
      <ns0:ext uri="{BB962C8B-B14F-4D97-AF65-F5344CB8AC3E}">
        <ns3:creationId val="2737265053"/>
      </ns0:ext>
    </ns0:extLst>
  </ns0:cSld>
  <ns0:clrMapOvr>
    <ns1:masterClrMapping/>
  </ns0:clrMapOvr>
  <ns0:transition/>
</ns0:sld>
</file>

<file path=ppt/slides/slide11.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F51A9104-A80C-479A-5944-E0125234C9EA}"/>
            </ns1:ext>
          </ns1:extLst>
        </ns0:cNvPr>
        <ns0:cNvGrpSpPr/>
        <ns0:nvPr/>
      </ns0:nvGrpSpPr>
      <ns0:grpSpPr>
        <ns1:xfrm>
          <ns1:off x="0" y="0"/>
          <ns1:ext cx="0" cy="0"/>
          <ns1:chOff x="0" y="0"/>
          <ns1:chExt cx="0" cy="0"/>
        </ns1:xfrm>
      </ns0:grpSpPr>
      <ns0:sp>
        <ns0:nvSpPr>
          <ns0:cNvPr id="4" name="Title 3">
            <ns1:extLst>
              <ns1:ext uri="{FF2B5EF4-FFF2-40B4-BE49-F238E27FC236}">
                <ns2:creationId id="{20B734E3-0ED4-96DD-8312-746609BD2EFE}"/>
              </ns1:ext>
            </ns1:extLst>
          </ns0:cNvPr>
          <ns0:cNvSpPr>
            <ns1:spLocks noGrp="1"/>
          </ns0:cNvSpPr>
          <ns0:nvPr>
            <ns0:ph type="title"/>
          </ns0:nvPr>
        </ns0:nvSpPr>
        <ns0:spPr>
          <ns1:xfrm>
            <ns1:off x="1965434" y="551058"/>
            <ns1:ext cx="9550000" cy="738664"/>
          </ns1:xfrm>
        </ns0:spPr>
        <ns0:txBody>
          <ns1:bodyPr/>
          <ns1:lstStyle/>
          <ns1:p>
            <ns1:r>
              <ns1:rPr lang="en-GB" sz="3600" dirty="0" err="1"/>
              <ns1:t>iOS View (Swift)</ns1:t>
            </ns1:r>
            <ns1:r>
              <ns1:rPr lang="en-GB" sz="3600" dirty="0"/>
              <ns1:t/>
            </ns1:r>
            <ns1:endParaRPr lang="en-UA" sz="3600" dirty="0"/>
          </ns1:p>
        </ns0:txBody>
      </ns0:sp>
      <ns0:sp>
        <ns0:nvSpPr>
          <ns0:cNvPr id="9" name="TextBox 8">
            <ns1:extLst>
              <ns1:ext uri="{FF2B5EF4-FFF2-40B4-BE49-F238E27FC236}">
                <ns2:creationId id="{B978BD3C-FF08-4274-CAD5-02D604B8B3BE}"/>
              </ns1:ext>
            </ns1:extLst>
          </ns0:cNvPr>
          <ns0:cNvSpPr txBox="1"/>
          <ns0:nvPr/>
        </ns0:nvSpPr>
        <ns0:spPr>
          <ns1:xfrm>
            <ns1:off x="542347" y="1587061"/>
            <ns1:ext cx="8675225" cy="4247317"/>
          </ns1:xfrm>
          <ns1:prstGeom prst="rect">
            <ns1:avLst/>
          </ns1:prstGeom>
          <ns1:noFill/>
        </ns0:spPr>
        <ns0:txBody>
          <ns1:bodyPr wrap="square">
            <ns1:spAutoFit/>
          </ns1:bodyPr>
          <ns1:lstStyle/>
          <ns1:p>
            <ns1:r>
              <ns1:rPr lang="en-GB" sz="1500" dirty="0"/>
              <ns1:t>import UIKit</ns1:t>
            </ns1:r>
            <ns1:r>
              <ns1:rPr lang="en-GB" sz="1500" dirty="0" err="1"/>
              <ns1:t/>
            </ns1:r>
            <ns1:endParaRPr lang="en-GB" sz="1500" dirty="0"/>
          </ns1:p>
          <ns1:p>
            <ns1:r>
              <ns1:rPr lang="en-GB" sz="1500" dirty="0"/>
              <ns1:t>import AVKit</ns1:t>
            </ns1:r>
            <ns1:r>
              <ns1:rPr lang="en-GB" sz="1500" dirty="0" err="1"/>
              <ns1:t/>
            </ns1:r>
            <ns1:r>
              <ns1:rPr lang="en-GB" sz="1500" dirty="0"/>
              <ns1:t/>
            </ns1:r>
          </ns1:p>
          <ns1:p>
            <ns1:endParaRPr lang="en-GB" sz="1500" dirty="0"/>
          </ns1:p>
          <ns1:p>
            <ns1:r>
              <ns1:rPr lang="en-GB" sz="1500" dirty="0"/>
              <ns1:t>@objc(RTNVideoPlayerViewSwift)</ns1:t>
            </ns1:r>
            <ns1:r>
              <ns1:rPr lang="en-GB" sz="1500" dirty="0" err="1"/>
              <ns1:t/>
            </ns1:r>
            <ns1:r>
              <ns1:rPr lang="en-GB" sz="1500" dirty="0"/>
              <ns1:t/>
            </ns1:r>
            <ns1:r>
              <ns1:rPr lang="en-GB" sz="1500" dirty="0" err="1"/>
              <ns1:t/>
            </ns1:r>
            <ns1:r>
              <ns1:rPr lang="en-GB" sz="1500" dirty="0"/>
              <ns1:t/>
            </ns1:r>
          </ns1:p>
          <ns1:p>
            <ns1:r>
              <ns1:rPr lang="en-GB" sz="1500" dirty="0"/>
              <ns1:t>final class RTNVideoPlayerViewSwift: UIView {</ns1:t>
            </ns1:r>
            <ns1:r>
              <ns1:rPr lang="en-GB" sz="1500" dirty="0" err="1"/>
              <ns1:t/>
            </ns1:r>
            <ns1:r>
              <ns1:rPr lang="en-GB" sz="1500" dirty="0"/>
              <ns1:t/>
            </ns1:r>
          </ns1:p>
          <ns1:p>
            <ns1:r>
              <ns1:rPr lang="en-GB" sz="1500" dirty="0"/>
              <ns1:t>  private var player: AVPlayer?</ns1:t>
            </ns1:r>
          </ns1:p>
          <ns1:p>
            <ns1:endParaRPr lang="en-GB" sz="1500" dirty="0"/>
          </ns1:p>
          <ns1:p>
            <ns1:r>
              <ns1:rPr lang="en-GB" sz="1500" dirty="0"/>
              <ns1:t>  @objc var sourceUrl: NSString = "" { didSet { setupPlayer() } }</ns1:t>
            </ns1:r>
          </ns1:p>
          <ns1:p>
            <ns1:r>
              <ns1:rPr lang="en-GB" sz="1500" dirty="0"/>
              <ns1:t>  @objc var paused: Bool = false { didSet { paused ? player?.pause() : player?.play() } }</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@objc var onVideoProgress: (([String: Any]) -&gt; Void)?</ns1:t>
            </ns1:r>
            <ns1:r>
              <ns1:rPr lang="en-GB" sz="1500" dirty="0" err="1"/>
              <ns1:t/>
            </ns1:r>
            <ns1:r>
              <ns1:rPr lang="en-GB" sz="1500" dirty="0"/>
              <ns1:t/>
            </ns1:r>
          </ns1:p>
          <ns1:p>
            <ns1:r>
              <ns1:rPr lang="en-GB" sz="1500" dirty="0"/>
              <ns1:t>  @objc var onVideoEnd: (([String: Any]) -&gt; Void)?</ns1:t>
            </ns1:r>
          </ns1:p>
          <ns1:p>
            <ns1:r>
              <ns1:rPr lang="en-GB" sz="1500" dirty="0"/>
              <ns1:t>  @objc func play() { player?.play() }</ns1:t>
            </ns1:r>
          </ns1:p>
          <ns1:p>
            <ns1:r>
              <ns1:rPr lang="en-GB" sz="1500" dirty="0"/>
              <ns1:t>  @objc func pause() { player?.pause() }</ns1:t>
            </ns1:r>
          </ns1:p>
          <ns1:p>
            <ns1:endParaRPr lang="en-GB" sz="1500" dirty="0"/>
          </ns1:p>
          <ns1:p>
            <ns1:r>
              <ns1:rPr lang="en-GB" sz="1500" dirty="0"/>
              <ns1:t>  @objc func seekTo(_ time: Double) { player?.seek(to: .init(seconds: time, preferredTimescale: 1000)) }</ns1:t>
            </ns1:r>
          </ns1:p>
          <ns1:p>
            <ns1:r>
              <ns1:rPr lang="en-GB" sz="1500" dirty="0"/>
              <ns1:t>  private func setupPlayer() { /* AVPlayerLayer */ }</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private func sendProgress() { onVideoProgress?(/* payload */) }</ns1:t>
            </ns1:r>
            <ns1:r>
              <ns1:rPr lang="en-GB" sz="1500" dirty="0" err="1"/>
              <ns1:t/>
            </ns1:r>
            <ns1:r>
              <ns1:rPr lang="en-GB" sz="1500" dirty="0"/>
              <ns1:t/>
            </ns1:r>
          </ns1:p>
          <ns1:p>
            <ns1:r>
              <ns1:rPr lang="en-GB" sz="1500" dirty="0"/>
              <ns1:t>}</ns1:t>
            </ns1:r>
            <ns1:endParaRPr lang="en-UA" sz="1500" dirty="0"/>
          </ns1:p>
        </ns0:txBody>
      </ns0:sp>
    </ns0:spTree>
    <ns0:extLst>
      <ns0:ext uri="{BB962C8B-B14F-4D97-AF65-F5344CB8AC3E}">
        <ns3:creationId val="936297402"/>
      </ns0:ext>
    </ns0:extLst>
  </ns0:cSld>
  <ns0:clrMapOvr>
    <ns1:masterClrMapping/>
  </ns0:clrMapOvr>
  <ns0:transition/>
</ns0:sld>
</file>

<file path=ppt/slides/slide12.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2F08AF2F-2DB1-DEBA-22AC-A5DCE5DDD76F}"/>
            </ns1:ext>
          </ns1:extLst>
        </ns0:cNvPr>
        <ns0:cNvGrpSpPr/>
        <ns0:nvPr/>
      </ns0:nvGrpSpPr>
      <ns0:grpSpPr>
        <ns1:xfrm>
          <ns1:off x="0" y="0"/>
          <ns1:ext cx="0" cy="0"/>
          <ns1:chOff x="0" y="0"/>
          <ns1:chExt cx="0" cy="0"/>
        </ns1:xfrm>
      </ns0:grpSpPr>
      <ns0:sp>
        <ns0:nvSpPr>
          <ns0:cNvPr id="4" name="Title 3">
            <ns1:extLst>
              <ns1:ext uri="{FF2B5EF4-FFF2-40B4-BE49-F238E27FC236}">
                <ns2:creationId id="{FE17D0D6-B90B-9777-224F-4399374F018C}"/>
              </ns1:ext>
            </ns1:extLst>
          </ns0:cNvPr>
          <ns0:cNvSpPr>
            <ns1:spLocks noGrp="1"/>
          </ns0:cNvSpPr>
          <ns0:nvPr>
            <ns0:ph type="title"/>
          </ns0:nvPr>
        </ns0:nvSpPr>
        <ns0:spPr>
          <ns1:xfrm>
            <ns1:off x="1965434" y="551058"/>
            <ns1:ext cx="9550000" cy="738664"/>
          </ns1:xfrm>
        </ns0:spPr>
        <ns0:txBody>
          <ns1:bodyPr/>
          <ns1:lstStyle/>
          <ns1:p>
            <ns1:r>
              <ns1:rPr lang="en-GB" sz="3600" dirty="0" err="1"/>
              <ns1:t>Android ViewManager (Kotlin)</ns1:t>
            </ns1:r>
            <ns1:r>
              <ns1:rPr lang="en-GB" sz="3600" dirty="0"/>
              <ns1:t/>
            </ns1:r>
            <ns1:endParaRPr lang="en-UA" sz="3600" dirty="0"/>
          </ns1:p>
        </ns0:txBody>
      </ns0:sp>
      <ns0:sp>
        <ns0:nvSpPr>
          <ns0:cNvPr id="9" name="TextBox 8">
            <ns1:extLst>
              <ns1:ext uri="{FF2B5EF4-FFF2-40B4-BE49-F238E27FC236}">
                <ns2:creationId id="{91482442-E71A-55EC-D2B9-F020BB7454FE}"/>
              </ns1:ext>
            </ns1:extLst>
          </ns0:cNvPr>
          <ns0:cNvSpPr txBox="1"/>
          <ns0:nvPr/>
        </ns0:nvSpPr>
        <ns0:spPr>
          <ns1:xfrm>
            <ns1:off x="542347" y="1587061"/>
            <ns1:ext cx="8675225" cy="3323987"/>
          </ns1:xfrm>
          <ns1:prstGeom prst="rect">
            <ns1:avLst/>
          </ns1:prstGeom>
          <ns1:noFill/>
        </ns0:spPr>
        <ns0:txBody>
          <ns1:bodyPr wrap="square">
            <ns1:spAutoFit/>
          </ns1:bodyPr>
          <ns1:lstStyle/>
          <ns1:p>
            <ns1:r>
              <ns1:rPr lang="en-GB" sz="1500" dirty="0"/>
              <ns1:t>class RTNVideoPlayerManager : SimpleViewManager&lt;RTNVideoPlayerView&gt;(),</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RTNVideoPlayerManagerInterface&lt;RTNVideoPlayerView&gt; {</ns1:t>
            </ns1:r>
            <ns1:r>
              <ns1:rPr lang="en-GB" sz="1500" dirty="0" err="1"/>
              <ns1:t/>
            </ns1:r>
            <ns1:endParaRPr lang="en-GB" sz="1500" dirty="0"/>
          </ns1:p>
          <ns1:p>
            <ns1:r>
              <ns1:rPr lang="en-GB" sz="1500" dirty="0"/>
              <ns1:t>  private val delegate = RTNVideoPlayerManagerDelegate(this)</ns1:t>
            </ns1:r>
            <ns1:r>
              <ns1:rPr lang="en-GB" sz="1500" dirty="0" err="1"/>
              <ns1:t/>
            </ns1:r>
            <ns1:r>
              <ns1:rPr lang="en-GB" sz="1500" dirty="0"/>
              <ns1:t/>
            </ns1:r>
            <ns1:r>
              <ns1:rPr lang="en-GB" sz="1500" dirty="0" err="1"/>
              <ns1:t/>
            </ns1:r>
            <ns1:r>
              <ns1:rPr lang="en-GB" sz="1500" dirty="0"/>
              <ns1:t/>
            </ns1:r>
          </ns1:p>
          <ns1:p>
            <ns1:endParaRPr lang="en-GB" sz="1500" dirty="0"/>
          </ns1:p>
          <ns1:p>
            <ns1:r>
              <ns1:rPr lang="en-GB" sz="1500" dirty="0"/>
              <ns1:t>  override fun getName() = "RTNVideoPlayer"</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override fun getDelegate() = delegate</ns1:t>
            </ns1:r>
            <ns1:r>
              <ns1:rPr lang="en-GB" sz="1500" dirty="0" err="1"/>
              <ns1:t/>
            </ns1:r>
            <ns1:r>
              <ns1:rPr lang="en-GB" sz="1500" dirty="0"/>
              <ns1:t/>
            </ns1:r>
          </ns1:p>
          <ns1:p>
            <ns1:r>
              <ns1:rPr lang="en-GB" sz="1500" dirty="0"/>
              <ns1:t>  override fun createViewInstance(c: ThemedReactContext) = RTNVideoPlayerView(c)</ns1:t>
            </ns1:r>
          </ns1:p>
          <ns1:p>
            <ns1:endParaRPr lang="en-GB" sz="1500" dirty="0"/>
          </ns1:p>
          <ns1:p>
            <ns1:r>
              <ns1:rPr lang="en-GB" sz="1500" dirty="0"/>
              <ns1:t>  @ReactProp(name = "sourceUrl") override fun setSourceUrl(v: RTNVideoPlayerView, url: String?) = v.setSourceUrl(url)</ns1:t>
            </ns1:r>
            <ns1:r>
              <ns1:rPr lang="en-GB" sz="1500" dirty="0" err="1"/>
              <ns1:t/>
            </ns1:r>
            <ns1:r>
              <ns1:rPr lang="en-GB" sz="1500" dirty="0"/>
              <ns1:t/>
            </ns1:r>
          </ns1:p>
          <ns1:p>
            <ns1:r>
              <ns1:rPr lang="en-GB" sz="1500" dirty="0"/>
              <ns1:t>  @ReactProp(name = "paused") override fun setPaused(v: RTNVideoPlayerView, paused: Boolean) = v.setPaused(paused)</ns1:t>
            </ns1:r>
            <ns1:r>
              <ns1:rPr lang="en-GB" sz="1500" dirty="0" err="1"/>
              <ns1:t/>
            </ns1:r>
            <ns1:r>
              <ns1:rPr lang="en-GB" sz="1500" dirty="0"/>
              <ns1:t/>
            </ns1:r>
            <ns1:r>
              <ns1:rPr lang="en-GB" sz="1500" dirty="0" err="1"/>
              <ns1:t/>
            </ns1:r>
            <ns1:r>
              <ns1:rPr lang="en-GB" sz="1500" dirty="0"/>
              <ns1:t/>
            </ns1:r>
          </ns1:p>
          <ns1:p>
            <ns1:r>
              <ns1:rPr lang="en-GB" sz="1500" dirty="0"/>
              <ns1:t>  // Events: register topVideoProgress/topVideoEnd</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 Commands: play/pause/seekTo via generated interface</ns1:t>
            </ns1:r>
            <ns1:r>
              <ns1:rPr lang="en-GB" sz="1500" dirty="0" err="1"/>
              <ns1:t/>
            </ns1:r>
            <ns1:r>
              <ns1:rPr lang="en-GB" sz="1500" dirty="0"/>
              <ns1:t/>
            </ns1:r>
            <ns1:r>
              <ns1:rPr lang="en-GB" sz="1500" dirty="0" err="1"/>
              <ns1:t/>
            </ns1:r>
            <ns1:r>
              <ns1:rPr lang="en-GB" sz="1500" dirty="0"/>
              <ns1:t/>
            </ns1:r>
          </ns1:p>
          <ns1:p>
            <ns1:r>
              <ns1:rPr lang="en-GB" sz="1500" dirty="0"/>
              <ns1:t>}</ns1:t>
            </ns1:r>
          </ns1:p>
          <ns1:p>
            <ns1:r>
              <ns1:rPr lang="en-GB" sz="1500" dirty="0"/>
              <ns1:t>// Register manually in MainApplication.kt: packages += RTNVideoPlayerPackage()</ns1:t>
            </ns1:r>
          </ns1:p>
          <ns1:p>
            <ns1:r>
              <ns1:rPr lang="en-GB" sz="1500" dirty="0"/>
              <ns1:t>// Gotcha: pause() clashes with View.pause() on API 24+ → expose as commandPause()</ns1:t>
            </ns1:r>
            <ns1:endParaRPr lang="en-UA" sz="1500" dirty="0"/>
          </ns1:p>
        </ns0:txBody>
      </ns0:sp>
    </ns0:spTree>
    <ns0:extLst>
      <ns0:ext uri="{BB962C8B-B14F-4D97-AF65-F5344CB8AC3E}">
        <ns3:creationId val="211514154"/>
      </ns0:ext>
    </ns0:extLst>
  </ns0:cSld>
  <ns0:clrMapOvr>
    <ns1:masterClrMapping/>
  </ns0:clrMapOvr>
  <ns0:transition/>
</ns0:sld>
</file>

<file path=ppt/slides/slide13.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5F5FCA85-57CF-F8CC-678A-CE98A4AF1E8D}"/>
            </ns1:ext>
          </ns1:extLst>
        </ns0:cNvPr>
        <ns0:cNvGrpSpPr/>
        <ns0:nvPr/>
      </ns0:nvGrpSpPr>
      <ns0:grpSpPr>
        <ns1:xfrm>
          <ns1:off x="0" y="0"/>
          <ns1:ext cx="0" cy="0"/>
          <ns1:chOff x="0" y="0"/>
          <ns1:chExt cx="0" cy="0"/>
        </ns1:xfrm>
      </ns0:grpSpPr>
      <ns0:sp>
        <ns0:nvSpPr>
          <ns0:cNvPr id="4" name="Title 3">
            <ns1:extLst>
              <ns1:ext uri="{FF2B5EF4-FFF2-40B4-BE49-F238E27FC236}">
                <ns2:creationId id="{4F47C9B3-D599-4B99-C83C-0C1400A19554}"/>
              </ns1:ext>
            </ns1:extLst>
          </ns0:cNvPr>
          <ns0:cNvSpPr>
            <ns1:spLocks noGrp="1"/>
          </ns0:cNvSpPr>
          <ns0:nvPr>
            <ns0:ph type="title"/>
          </ns0:nvPr>
        </ns0:nvSpPr>
        <ns0:spPr>
          <ns1:xfrm>
            <ns1:off x="1965434" y="551058"/>
            <ns1:ext cx="9550000" cy="738664"/>
          </ns1:xfrm>
        </ns0:spPr>
        <ns0:txBody>
          <ns1:bodyPr/>
          <ns1:lstStyle/>
          <ns1:p>
            <ns1:r>
              <ns1:rPr lang="en-GB" sz="3600" dirty="0" err="1"/>
              <ns1:t>Android View (Kotlin + ExoPlayer)</ns1:t>
            </ns1:r>
            <ns1:r>
              <ns1:rPr lang="en-GB" sz="3600" dirty="0"/>
              <ns1:t/>
            </ns1:r>
            <ns1:endParaRPr lang="en-UA" sz="3600" dirty="0"/>
          </ns1:p>
        </ns0:txBody>
      </ns0:sp>
      <ns0:sp>
        <ns0:nvSpPr>
          <ns0:cNvPr id="9" name="TextBox 8">
            <ns1:extLst>
              <ns1:ext uri="{FF2B5EF4-FFF2-40B4-BE49-F238E27FC236}">
                <ns2:creationId id="{6AD892F0-E13D-4705-5C54-172561DB9637}"/>
              </ns1:ext>
            </ns1:extLst>
          </ns0:cNvPr>
          <ns0:cNvSpPr txBox="1"/>
          <ns0:nvPr/>
        </ns0:nvSpPr>
        <ns0:spPr>
          <ns1:xfrm>
            <ns1:off x="542347" y="1587061"/>
            <ns1:ext cx="8675225" cy="3554819"/>
          </ns1:xfrm>
          <ns1:prstGeom prst="rect">
            <ns1:avLst/>
          </ns1:prstGeom>
          <ns1:noFill/>
        </ns0:spPr>
        <ns0:txBody>
          <ns1:bodyPr wrap="square">
            <ns1:spAutoFit/>
          </ns1:bodyPr>
          <ns1:lstStyle/>
          <ns1:p>
            <ns1:r>
              <ns1:rPr lang="en-GB" sz="1500" dirty="0"/>
              <ns1:t>import androidx.media3.exoplayer.ExoPlayer</ns1:t>
            </ns1:r>
            <ns1:r>
              <ns1:rPr lang="en-GB" sz="1500" dirty="0" err="1"/>
              <ns1:t/>
            </ns1:r>
            <ns1:r>
              <ns1:rPr lang="en-GB" sz="1500" dirty="0"/>
              <ns1:t/>
            </ns1:r>
          </ns1:p>
          <ns1:p>
            <ns1:endParaRPr lang="en-GB" sz="1500" dirty="0"/>
          </ns1:p>
          <ns1:p>
            <ns1:r>
              <ns1:rPr lang="en-GB" sz="1500" dirty="0"/>
              <ns1:t>import androidx.media3.ui.PlayerView</ns1:t>
            </ns1:r>
            <ns1:r>
              <ns1:rPr lang="en-GB" sz="1500" dirty="0" err="1"/>
              <ns1:t/>
            </ns1:r>
            <ns1:r>
              <ns1:rPr lang="en-GB" sz="1500" dirty="0"/>
              <ns1:t/>
            </ns1:r>
            <ns1:r>
              <ns1:rPr lang="en-GB" sz="1500" dirty="0" err="1"/>
              <ns1:t/>
            </ns1:r>
            <ns1:r>
              <ns1:rPr lang="en-GB" sz="1500" dirty="0"/>
              <ns1:t/>
            </ns1:r>
          </ns1:p>
          <ns1:p>
            <ns1:r>
              <ns1:rPr lang="en-GB" sz="1500" dirty="0"/>
              <ns1:t>class RTNVideoPlayerView(ctx: Context) : FrameLayout(ctx) {</ns1:t>
            </ns1:r>
            <ns1:r>
              <ns1:rPr lang="en-GB" sz="1500" dirty="0" err="1"/>
              <ns1:t/>
            </ns1:r>
            <ns1:r>
              <ns1:rPr lang="en-GB" sz="1500" dirty="0"/>
              <ns1:t/>
            </ns1:r>
          </ns1:p>
          <ns1:p>
            <ns1:r>
              <ns1:rPr lang="en-GB" sz="1500" dirty="0"/>
              <ns1:t>  private var player: ExoPlayer? = null</ns1:t>
            </ns1:r>
            <ns1:r>
              <ns1:rPr lang="en-GB" sz="1500" dirty="0" err="1"/>
              <ns1:t/>
            </ns1:r>
            <ns1:r>
              <ns1:rPr lang="en-GB" sz="1500" dirty="0"/>
              <ns1:t/>
            </ns1:r>
          </ns1:p>
          <ns1:p>
            <ns1:endParaRPr lang="en-GB" sz="1500" dirty="0"/>
          </ns1:p>
          <ns1:p>
            <ns1:r>
              <ns1:rPr lang="en-GB" sz="1500" dirty="0"/>
              <ns1:t>  fun setSourceUrl(url: String?) { /* setMediaItem + prepare */ }</ns1:t>
            </ns1:r>
            <ns1:r>
              <ns1:rPr lang="en-GB" sz="1500" dirty="0" err="1"/>
              <ns1:t/>
            </ns1:r>
            <ns1:r>
              <ns1:rPr lang="en-GB" sz="1500" dirty="0"/>
              <ns1:t/>
            </ns1:r>
            <ns1:r>
              <ns1:rPr lang="en-GB" sz="1500" dirty="0" err="1"/>
              <ns1:t/>
            </ns1:r>
            <ns1:r>
              <ns1:rPr lang="en-GB" sz="1500" dirty="0"/>
              <ns1:t/>
            </ns1:r>
          </ns1:p>
          <ns1:p>
            <ns1:r>
              <ns1:rPr lang="en-GB" sz="1500" dirty="0"/>
              <ns1:t>  fun setPaused(paused: Boolean) { player?.playWhenReady = !paused }</ns1:t>
            </ns1:r>
            <ns1:r>
              <ns1:rPr lang="en-GB" sz="1500" dirty="0" err="1"/>
              <ns1:t/>
            </ns1:r>
            <ns1:endParaRPr lang="en-GB" sz="1500" dirty="0"/>
          </ns1:p>
          <ns1:p>
            <ns1:r>
              <ns1:rPr lang="en-GB" sz="1500" dirty="0"/>
              <ns1:t>  fun seekTo(time: Double) { player?.seekTo((time * 1000).toLong()) }</ns1:t>
            </ns1:r>
          </ns1:p>
          <ns1:p>
            <ns1:endParaRPr lang="en-GB" sz="1500" dirty="0"/>
          </ns1:p>
          <ns1:p>
            <ns1:r>
              <ns1:rPr lang="en-GB" sz="1500" dirty="0"/>
              <ns1:t>  private fun emitProgress() {</ns1:t>
            </ns1:r>
          </ns1:p>
          <ns1:p>
            <ns1:r>
              <ns1:rPr lang="en-GB" sz="1500" dirty="0"/>
              <ns1:t>    val dispatcher = UIManagerHelper.getEventDispatcherForReactTag(reactContext, id)</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dispatcher?.dispatchEvent(VideoProgressEvent(surfaceId, id, /* payload */))</ns1:t>
            </ns1:r>
            <ns1:r>
              <ns1:rPr lang="en-GB" sz="1500" dirty="0" err="1"/>
              <ns1:t/>
            </ns1:r>
            <ns1:r>
              <ns1:rPr lang="en-GB" sz="1500" dirty="0"/>
              <ns1:t/>
            </ns1:r>
            <ns1:r>
              <ns1:rPr lang="en-GB" sz="1500" dirty="0" err="1"/>
              <ns1:t/>
            </ns1:r>
            <ns1:r>
              <ns1:rPr lang="en-GB" sz="1500" dirty="0"/>
              <ns1:t/>
            </ns1:r>
            <ns1:r>
              <ns1:rPr lang="en-GB" sz="1500" dirty="0" err="1"/>
              <ns1:t/>
            </ns1:r>
            <ns1:r>
              <ns1:rPr lang="en-GB" sz="1500" dirty="0"/>
              <ns1:t/>
            </ns1:r>
          </ns1:p>
          <ns1:p>
            <ns1:r>
              <ns1:rPr lang="en-GB" sz="1500" dirty="0"/>
              <ns1:t>  }</ns1:t>
            </ns1:r>
            <ns1:r>
              <ns1:rPr lang="en-GB" sz="1500" dirty="0" err="1"/>
              <ns1:t/>
            </ns1:r>
            <ns1:r>
              <ns1:rPr lang="en-GB" sz="1500" dirty="0"/>
              <ns1:t/>
            </ns1:r>
            <ns1:r>
              <ns1:rPr lang="en-GB" sz="1500" dirty="0" err="1"/>
              <ns1:t/>
            </ns1:r>
            <ns1:r>
              <ns1:rPr lang="en-GB" sz="1500" dirty="0"/>
              <ns1:t/>
            </ns1:r>
          </ns1:p>
          <ns1:p>
            <ns1:r>
              <ns1:rPr lang="en-GB" sz="1500" dirty="0"/>
              <ns1:t>}</ns1:t>
            </ns1:r>
            <ns1:endParaRPr lang="en-UA" sz="1500" dirty="0"/>
          </ns1:p>
        </ns0:txBody>
      </ns0:sp>
    </ns0:spTree>
    <ns0:extLst>
      <ns0:ext uri="{BB962C8B-B14F-4D97-AF65-F5344CB8AC3E}">
        <ns3:creationId val="2298860430"/>
      </ns0:ext>
    </ns0:extLst>
  </ns0:cSld>
  <ns0:clrMapOvr>
    <ns1:masterClrMapping/>
  </ns0:clrMapOvr>
  <ns0:transition/>
</ns0:sld>
</file>

<file path=ppt/slides/slide14.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a:extLst>
            <a:ext uri="{FF2B5EF4-FFF2-40B4-BE49-F238E27FC236}">
              <a16:creationId id="{A52D65FB-B06B-312C-17A9-D39E33ECB39A}"/>
            </a:ext>
          </a:extLst>
        </cNvPr>
        <cNvGrpSpPr/>
        <nvPr/>
      </nvGrpSpPr>
      <grpSpPr>
        <a:xfrm>
          <a:off x="0" y="0"/>
          <a:ext cx="0" cy="0"/>
          <a:chOff x="0" y="0"/>
          <a:chExt cx="0" cy="0"/>
        </a:xfrm>
      </grpSpPr>
      <sp>
        <nvSpPr>
          <cNvPr id="4" name="Title 3">
            <a:extLst>
              <a:ext uri="{FF2B5EF4-FFF2-40B4-BE49-F238E27FC236}">
                <a16:creationId id="{6E250EFF-60F5-2D53-E7EC-FB2F25570CB8}"/>
              </a:ext>
            </a:extLst>
          </cNvPr>
          <cNvSpPr>
            <a:spLocks noGrp="1"/>
          </cNvSpPr>
          <nvPr>
            <ph type="title"/>
          </nvPr>
        </nvSpPr>
        <spPr>
          <a:xfrm>
            <a:off x="1965434" y="551058"/>
            <a:ext cx="9217574" cy="738664"/>
          </a:xfrm>
        </spPr>
        <txBody>
          <a:bodyPr/>
          <a:lstStyle/>
          <a:p>
            <a:r>
              <a:rPr lang="en-GB" sz="4800" dirty="0"/>
              <a:t>Appendix: Embedding RN in Native Apps</a:t>
            </a:r>
            <a:endParaRPr lang="en-UA" sz="4800" dirty="0"/>
          </a:p>
        </txBody>
      </sp>
      <sp>
        <nvSpPr>
          <cNvPr id="2" name="Text Placeholder 1">
            <a:extLst>
              <a:ext uri="{FF2B5EF4-FFF2-40B4-BE49-F238E27FC236}">
                <a16:creationId id="{A59C2063-B876-90CD-8BEE-23D6A7F02BFF}"/>
              </a:ext>
            </a:extLst>
          </cNvPr>
          <cNvSpPr>
            <a:spLocks noGrp="1"/>
          </cNvSpPr>
          <nvPr>
            <ph type="body" sz="quarter" idx="11"/>
          </nvPr>
        </nvSpPr>
        <spPr>
          <a:xfrm>
            <a:off x="500305" y="1471448"/>
            <a:ext cx="9505543" cy="4943020"/>
          </a:xfrm>
        </spPr>
        <txBody>
          <a:bodyPr/>
          <a:lstStyle/>
          <a:p>
            <a:pPr>
              <a:lnSpc>
                <a:spcPct val="150000"/>
              </a:lnSpc>
            </a:pPr>
            <a:r>
              <a:rPr lang="en-GB" b="1" dirty="0"/>
              <a:t>Reference material for brownfield / hosted-surface patterns.</a:t>
            </a:r>
          </a:p>
          <a:p>
            <a:pPr marL="285750" indent="-285750">
              <a:lnSpc>
                <a:spcPct val="150000"/>
              </a:lnSpc>
              <a:buFont typeface="Arial" panose="020B0604020202020204" pitchFamily="34" charset="0"/>
              <a:buChar char="•"/>
            </a:pPr>
            <a:r>
              <a:rPr lang="en-GB" dirty="0"/>
              <a:t>Brownfield Apps: Gradually migrating a fully native app to React Native, screen by screen.</a:t>
            </a:r>
          </a:p>
          <a:p>
            <a:pPr marL="285750" indent="-285750">
              <a:lnSpc>
                <a:spcPct val="150000"/>
              </a:lnSpc>
              <a:buFont typeface="Arial" panose="020B0604020202020204" pitchFamily="34" charset="0"/>
              <a:buChar char="•"/>
            </a:pPr>
            <a:r>
              <a:rPr lang="en-GB" dirty="0"/>
              <a:t>Feature Islands: Building a single new feature in React Native within an existing native app.</a:t>
            </a:r>
          </a:p>
          <a:p>
            <a:pPr marL="285750" indent="-285750">
              <a:lnSpc>
                <a:spcPct val="150000"/>
              </a:lnSpc>
              <a:buFont typeface="Arial" panose="020B0604020202020204" pitchFamily="34" charset="0"/>
              <a:buChar char="•"/>
            </a:pPr>
            <a:r>
              <a:rPr lang="en-GB" dirty="0"/>
              <a:t>Reusing Code: You have a complex RN component that you want to use in a native screen.</a:t>
            </a:r>
          </a:p>
          <a:p>
            <a:pPr>
              <a:lnSpc>
                <a:spcPct val="150000"/>
              </a:lnSpc>
            </a:pPr>
            <a:endParaRPr lang="en-GB" b="1" dirty="0"/>
          </a:p>
          <a:p>
            <a:pPr>
              <a:lnSpc>
                <a:spcPct val="150000"/>
              </a:lnSpc>
            </a:pPr>
            <a:r>
              <a:rPr lang="en-GB" b="1" dirty="0"/>
              <a:t>The Core Concept (general RN, not this repo):</a:t>
            </a:r>
          </a:p>
          <a:p>
            <a:pPr marL="285750" indent="-285750">
              <a:lnSpc>
                <a:spcPct val="150000"/>
              </a:lnSpc>
              <a:buFont typeface="Arial" panose="020B0604020202020204" pitchFamily="34" charset="0"/>
              <a:buChar char="•"/>
            </a:pPr>
            <a:r>
              <a:rPr lang="en-GB" dirty="0"/>
              <a:t>iOS: From inside a UIViewController, use RCTReactNativeFactory + rootViewFactory.view(withModuleName:initialProperties:) to obtain a Fabric-backed root view. The host app keeps its own AppDelegate. (RN &gt;= 0.78)</a:t>
            </a:r>
            <a:r>
              <a:rPr lang="en-GB" dirty="0" err="1"/>
              <a:t/>
            </a:r>
            <a:r>
              <a:rPr lang="en-GB" dirty="0"/>
              <a:t/>
            </a:r>
            <a:r>
              <a:rPr lang="en-GB" dirty="0" err="1"/>
              <a:t/>
            </a:r>
            <a:r>
              <a:rPr lang="en-GB" dirty="0"/>
              <a:t/>
            </a:r>
            <a:r>
              <a:rPr lang="en-GB" dirty="0" err="1"/>
              <a:t/>
            </a:r>
            <a:r>
              <a:rPr lang="en-GB" dirty="0"/>
              <a:t/>
            </a:r>
          </a:p>
          <a:p>
            <a:pPr marL="285750" indent="-285750">
              <a:lnSpc>
                <a:spcPct val="150000"/>
              </a:lnSpc>
              <a:buFont typeface="Arial" panose="020B0604020202020204" pitchFamily="34" charset="0"/>
              <a:buChar char="•"/>
            </a:pPr>
            <a:r>
              <a:rPr lang="en-GB" dirty="0"/>
              <a:t>Android: Use ReactActivity with DefaultReactActivityDelegate(..., fabricEnabled) for a full-screen host, or ReactFragment for embedding inside an existing Activity/Fragment. Configure ReactHost in your Application.</a:t>
            </a:r>
            <a:r>
              <a:rPr lang="en-GB" dirty="0" err="1"/>
              <a:t/>
            </a:r>
            <a:r>
              <a:rPr lang="en-GB" dirty="0"/>
              <a:t/>
            </a:r>
            <a:r>
              <a:rPr lang="en-GB" dirty="0" err="1"/>
              <a:t/>
            </a:r>
            <a:r>
              <a:rPr lang="en-GB" dirty="0"/>
              <a:t/>
            </a:r>
            <a:r>
              <a:rPr lang="en-GB" dirty="0" err="1"/>
              <a:t/>
            </a:r>
            <a:r>
              <a:rPr lang="en-GB" dirty="0"/>
              <a:t/>
            </a:r>
            <a:r>
              <a:rPr lang="en-GB" dirty="0" err="1"/>
              <a:t/>
            </a:r>
            <a:r>
              <a:rPr lang="en-GB" dirty="0"/>
              <a:t/>
            </a:r>
            <a:r>
              <a:rPr lang="en-GB" dirty="0" err="1"/>
              <a:t/>
            </a:r>
            <a:r>
              <a:rPr lang="en-GB" dirty="0"/>
              <a:t/>
            </a:r>
          </a:p>
          <a:p>
            <a:pPr marL="285750" indent="-285750">
              <a:lnSpc>
                <a:spcPct val="150000"/>
              </a:lnSpc>
              <a:buFont typeface="Arial" panose="020B0604020202020204" pitchFamily="34" charset="0"/>
              <a:buChar char="•"/>
            </a:pPr>
            <a:r>
              <a:rPr lang="en-GB" dirty="0"/>
              <a:t>JS: AppRegistry.registerComponent('MyReactNativeApp', ...) is still the contract.</a:t>
            </a:r>
            <a:r>
              <a:rPr lang="en-GB" dirty="0" err="1"/>
              <a:t/>
            </a:r>
            <a:r>
              <a:rPr lang="en-GB" dirty="0"/>
              <a:t/>
            </a:r>
            <a:r>
              <a:rPr lang="en-GB" dirty="0" err="1"/>
              <a:t/>
            </a:r>
            <a:r>
              <a:rPr lang="en-GB" dirty="0"/>
              <a:t/>
            </a:r>
          </a:p>
        </txBody>
      </sp>
    </spTree>
    <extLst>
      <ext uri="{BB962C8B-B14F-4D97-AF65-F5344CB8AC3E}">
        <p14:creationId val="3783121170"/>
      </ext>
    </extLst>
  </cSld>
  <clrMapOvr>
    <a:masterClrMapping/>
  </clrMapOvr>
  <transition/>
</sld>
</file>

<file path=ppt/slides/slide15.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a:extLst>
            <a:ext uri="{FF2B5EF4-FFF2-40B4-BE49-F238E27FC236}">
              <a16:creationId id="{50BFAC22-7054-F3CD-59A7-52C431C81E88}"/>
            </a:ext>
          </a:extLst>
        </cNvPr>
        <cNvGrpSpPr/>
        <nvPr/>
      </nvGrpSpPr>
      <grpSpPr>
        <a:xfrm>
          <a:off x="0" y="0"/>
          <a:ext cx="0" cy="0"/>
          <a:chOff x="0" y="0"/>
          <a:chExt cx="0" cy="0"/>
        </a:xfrm>
      </grpSpPr>
      <sp>
        <nvSpPr>
          <cNvPr id="4" name="Title 3">
            <a:extLst>
              <a:ext uri="{FF2B5EF4-FFF2-40B4-BE49-F238E27FC236}">
                <a16:creationId id="{CB4F829F-B5A7-467B-F33A-9C0C9F949682}"/>
              </a:ext>
            </a:extLst>
          </cNvPr>
          <cNvSpPr>
            <a:spLocks noGrp="1"/>
          </cNvSpPr>
          <nvPr>
            <ph type="title"/>
          </nvPr>
        </nvSpPr>
        <spPr>
          <a:xfrm>
            <a:off x="1965434" y="551058"/>
            <a:ext cx="9217574" cy="738664"/>
          </a:xfrm>
        </spPr>
        <txBody>
          <a:bodyPr/>
          <a:lstStyle/>
          <a:p>
            <a:r>
              <a:rPr lang="en-GB" sz="4800" dirty="0"/>
              <a:t>Embedding RN in Native Apps - iOS (reference)</a:t>
            </a:r>
            <a:endParaRPr lang="en-UA" sz="4800" dirty="0"/>
          </a:p>
        </txBody>
      </sp>
      <sp>
        <nvSpPr>
          <cNvPr id="9" name="TextBox 8">
            <a:extLst>
              <a:ext uri="{FF2B5EF4-FFF2-40B4-BE49-F238E27FC236}">
                <a16:creationId id="{52317F28-48CE-AF48-0F2E-FCB794AC52B0}"/>
              </a:ext>
            </a:extLst>
          </cNvPr>
          <cNvSpPr txBox="1"/>
          <nvPr/>
        </nvSpPr>
        <spPr>
          <a:xfrm>
            <a:off x="542347" y="1587061"/>
            <a:ext cx="8675225" cy="4832092"/>
          </a:xfrm>
          <a:prstGeom prst="rect">
            <a:avLst/>
          </a:prstGeom>
          <a:noFill/>
        </spPr>
        <txBody>
          <a:bodyPr wrap="square">
            <a:spAutoFit/>
          </a:bodyPr>
          <a:lstStyle/>
          <a:p>
            <a:r>
              <a:rPr lang="en-GB" sz="1400" dirty="0"/>
              <a:t>final class RNHostViewController: UIViewController {</a:t>
            </a:r>
            <a:r>
              <a:rPr lang="en-GB" sz="1400" dirty="0" err="1"/>
              <a:t/>
            </a:r>
            <a:r>
              <a:rPr lang="en-GB" sz="1400" dirty="0"/>
              <a:t/>
            </a:r>
            <a:r>
              <a:rPr lang="en-GB" sz="1400" dirty="0" err="1"/>
              <a:t/>
            </a:r>
            <a:r>
              <a:rPr lang="en-GB" sz="1400" dirty="0"/>
              <a:t/>
            </a:r>
          </a:p>
          <a:p>
            <a:r>
              <a:rPr lang="en-GB" sz="1400" dirty="0"/>
              <a:t>   private let factoryDelegate = RNFactoryDelegate()</a:t>
            </a:r>
            <a:r>
              <a:rPr lang="en-GB" sz="1400" dirty="0" err="1"/>
              <a:t/>
            </a:r>
            <a:r>
              <a:rPr lang="en-GB" sz="1400" dirty="0"/>
              <a:t/>
            </a:r>
            <a:r>
              <a:rPr lang="en-GB" sz="1400" dirty="0" err="1"/>
              <a:t/>
            </a:r>
            <a:r>
              <a:rPr lang="en-GB" sz="1400" dirty="0"/>
              <a:t/>
            </a:r>
          </a:p>
          <a:p>
            <a:r>
              <a:rPr lang="en-GB" sz="1400" dirty="0"/>
              <a:t>   private var reactNativeFactory: RCTReactNativeFactory?</a:t>
            </a:r>
            <a:r>
              <a:rPr lang="en-GB" sz="1400" dirty="0" err="1"/>
              <a:t/>
            </a:r>
            <a:r>
              <a:rPr lang="en-GB" sz="1400" dirty="0"/>
              <a:t/>
            </a:r>
          </a:p>
          <a:p>
            <a:r>
              <a:rPr lang="en-GB" sz="1400" dirty="0"/>
              <a:t>   override func viewDidLoad() {</a:t>
            </a:r>
            <a:r>
              <a:rPr lang="en-GB" sz="1400" dirty="0" err="1"/>
              <a:t/>
            </a:r>
            <a:r>
              <a:rPr lang="en-GB" sz="1400" dirty="0"/>
              <a:t/>
            </a:r>
            <a:r>
              <a:rPr lang="en-GB" sz="1400" dirty="0" err="1"/>
              <a:t/>
            </a:r>
            <a:r>
              <a:rPr lang="en-GB" sz="1400" dirty="0"/>
              <a:t/>
            </a:r>
          </a:p>
          <a:p>
            <a:r>
              <a:rPr lang="en-GB" sz="1400" dirty="0"/>
              <a:t>     super.viewDidLoad()</a:t>
            </a:r>
            <a:r>
              <a:rPr lang="en-GB" sz="1400" dirty="0" err="1"/>
              <a:t/>
            </a:r>
            <a:r>
              <a:rPr lang="en-GB" sz="1400" dirty="0"/>
              <a:t/>
            </a:r>
            <a:r>
              <a:rPr lang="en-GB" sz="1400" dirty="0" err="1"/>
              <a:t/>
            </a:r>
            <a:r>
              <a:rPr lang="en-GB" sz="1400" dirty="0"/>
              <a:t/>
            </a:r>
          </a:p>
          <a:p>
            <a:r>
              <a:rPr lang="en-GB" sz="1400" dirty="0"/>
              <a:t>     reactNativeFactory = RCTReactNativeFactory(delegate: factoryDelegate)</a:t>
            </a:r>
            <a:r>
              <a:rPr lang="en-GB" sz="1400" dirty="0" err="1"/>
              <a:t/>
            </a:r>
            <a:r>
              <a:rPr lang="en-GB" sz="1400" dirty="0"/>
              <a:t/>
            </a:r>
            <a:r>
              <a:rPr lang="en-GB" sz="1400" dirty="0" err="1"/>
              <a:t/>
            </a:r>
            <a:r>
              <a:rPr lang="en-GB" sz="1400" dirty="0"/>
              <a:t/>
            </a:r>
          </a:p>
          <a:p>
            <a:r>
              <a:rPr lang="en-GB" sz="1400" dirty="0"/>
              <a:t>     let hostedView = reactNativeFactory!.rootViewFactory.view(</a:t>
            </a:r>
            <a:r>
              <a:rPr lang="en-GB" sz="1400" dirty="0" err="1"/>
              <a:t/>
            </a:r>
            <a:r>
              <a:rPr lang="en-GB" sz="1400" dirty="0"/>
              <a:t/>
            </a:r>
            <a:r>
              <a:rPr lang="en-GB" sz="1400" dirty="0" err="1"/>
              <a:t/>
            </a:r>
            <a:r>
              <a:rPr lang="en-GB" sz="1400" dirty="0"/>
              <a:t/>
            </a:r>
          </a:p>
          <a:p>
            <a:r>
              <a:rPr lang="en-GB" sz="1400" dirty="0"/>
              <a:t>       withModuleName: "MyReactNativeApp", initialProperties: ["isHosted": true]</a:t>
            </a:r>
          </a:p>
          <a:p>
            <a:r>
              <a:rPr lang="en-GB" sz="1400" dirty="0"/>
              <a:t>     )</a:t>
            </a:r>
            <a:r>
              <a:rPr lang="en-GB" sz="1400" dirty="0" err="1"/>
              <a:t/>
            </a:r>
            <a:r>
              <a:rPr lang="en-GB" sz="1400" dirty="0"/>
              <a:t/>
            </a:r>
            <a:r>
              <a:rPr lang="en-GB" sz="1400" dirty="0" err="1"/>
              <a:t/>
            </a:r>
            <a:r>
              <a:rPr lang="en-GB" sz="1400" dirty="0"/>
              <a:t/>
            </a:r>
          </a:p>
          <a:p>
            <a:r>
              <a:rPr lang="en-GB" sz="1400" dirty="0"/>
              <a:t>     view = hostedView // illustrative: manage layout/containment in real code</a:t>
            </a:r>
          </a:p>
          <a:p>
            <a:r>
              <a:rPr lang="en-GB" sz="1400" dirty="0"/>
              <a:t>   }</a:t>
            </a:r>
          </a:p>
          <a:p>
            <a:br>
              <a:rPr lang="en-GB" sz="1400" dirty="0"/>
            </a:br>
            <a:r>
              <a:rPr lang="en-GB" sz="1400" dirty="0"/>
              <a:t>}</a:t>
            </a:r>
            <a:endParaRPr lang="en-GB" sz="1400" dirty="0"/>
          </a:p>
          <a:p>
            <a:r>
              <a:rPr lang="en-GB" sz="1400" dirty="0"/>
              <a:t>final class RNFactoryDelegate: RCTDefaultReactNativeFactoryDelegate {</a:t>
            </a:r>
            <a:r>
              <a:rPr lang="en-GB" sz="1400" dirty="0" err="1"/>
              <a:t/>
            </a:r>
            <a:r>
              <a:rPr lang="en-GB" sz="1400" dirty="0"/>
              <a:t/>
            </a:r>
            <a:r>
              <a:rPr lang="en-GB" sz="1400" dirty="0" err="1"/>
              <a:t/>
            </a:r>
            <a:r>
              <a:rPr lang="en-GB" sz="1400" dirty="0"/>
              <a:t/>
            </a:r>
          </a:p>
          <a:p>
            <a:r>
              <a:rPr lang="en-GB" sz="1400" dirty="0"/>
              <a:t>   override func bundleURL() -&gt; URL? {</a:t>
            </a:r>
            <a:r>
              <a:rPr lang="en-GB" sz="1400" dirty="0" err="1"/>
              <a:t/>
            </a:r>
            <a:r>
              <a:rPr lang="en-GB" sz="1400" dirty="0"/>
              <a:t/>
            </a:r>
            <a:r>
              <a:rPr lang="en-GB" sz="1400" dirty="0" err="1"/>
              <a:t/>
            </a:r>
            <a:r>
              <a:rPr lang="en-GB" sz="1400" dirty="0"/>
              <a:t/>
            </a:r>
          </a:p>
          <a:p>
            <a:r>
              <a:rPr lang="en-GB" sz="1400" dirty="0"/>
              <a:t>     #if DEBUG</a:t>
            </a:r>
          </a:p>
          <a:p>
            <a:r>
              <a:rPr lang="en-GB" sz="1400" dirty="0"/>
              <a:t>     return RCTBundleURLProvider.sharedSettings().jsBundleURL(forBundleRoot: "index")</a:t>
            </a:r>
            <a:r>
              <a:rPr lang="en-GB" sz="1400" dirty="0" err="1"/>
              <a:t/>
            </a:r>
            <a:r>
              <a:rPr lang="en-GB" sz="1400" dirty="0"/>
              <a:t/>
            </a:r>
            <a:r>
              <a:rPr lang="en-GB" sz="1400" dirty="0" err="1"/>
              <a:t/>
            </a:r>
            <a:r>
              <a:rPr lang="en-GB" sz="1400" dirty="0"/>
              <a:t/>
            </a:r>
            <a:r>
              <a:rPr lang="en-GB" sz="1400" dirty="0" err="1"/>
              <a:t/>
            </a:r>
            <a:r>
              <a:rPr lang="en-GB" sz="1400" dirty="0"/>
              <a:t/>
            </a:r>
          </a:p>
          <a:p>
            <a:r>
              <a:rPr lang="en-GB" sz="1400" dirty="0"/>
              <a:t>     #else</a:t>
            </a:r>
          </a:p>
          <a:p>
            <a:r>
              <a:rPr lang="en-GB" sz="1400" dirty="0"/>
              <a:t>     return Bundle.main.url(forResource: "main", withExtension: "jsbundle")</a:t>
            </a:r>
            <a:r>
              <a:rPr lang="en-GB" sz="1400" dirty="0" err="1"/>
              <a:t/>
            </a:r>
            <a:r>
              <a:rPr lang="en-GB" sz="1400" dirty="0"/>
              <a:t/>
            </a:r>
            <a:r>
              <a:rPr lang="en-GB" sz="1400" dirty="0" err="1"/>
              <a:t/>
            </a:r>
            <a:r>
              <a:rPr lang="en-GB" sz="1400" dirty="0"/>
              <a:t/>
            </a:r>
            <a:r>
              <a:rPr lang="en-GB" sz="1400" dirty="0" err="1"/>
              <a:t/>
            </a:r>
            <a:r>
              <a:rPr lang="en-GB" sz="1400" dirty="0"/>
              <a:t/>
            </a:r>
            <a:r>
              <a:rPr lang="en-GB" sz="1400" dirty="0" err="1"/>
              <a:t/>
            </a:r>
            <a:r>
              <a:rPr lang="en-GB" sz="1400" dirty="0"/>
              <a:t/>
            </a:r>
          </a:p>
          <a:p>
            <a:r>
              <a:rPr lang="en-GB" sz="1400" dirty="0"/>
              <a:t>     #endif</a:t>
            </a:r>
          </a:p>
          <a:p>
            <a:r>
              <a:rPr lang="en-GB" sz="1400" dirty="0"/>
              <a:t>   }</a:t>
            </a:r>
          </a:p>
          <a:p>
            <a:r>
              <a:rPr lang="en-GB" sz="1400" dirty="0"/>
              <a:t>}</a:t>
            </a:r>
          </a:p>
        </txBody>
      </sp>
    </spTree>
    <extLst>
      <ext uri="{BB962C8B-B14F-4D97-AF65-F5344CB8AC3E}">
        <p14:creationId val="159390740"/>
      </ext>
    </extLst>
  </cSld>
  <clrMapOvr>
    <a:masterClrMapping/>
  </clrMapOvr>
  <transition/>
</sld>
</file>

<file path=ppt/slides/slide16.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a:extLst>
            <a:ext uri="{FF2B5EF4-FFF2-40B4-BE49-F238E27FC236}">
              <a16:creationId id="{07758A00-63C6-1C04-35B5-F6D7FBC958C7}"/>
            </a:ext>
          </a:extLst>
        </cNvPr>
        <cNvGrpSpPr/>
        <nvPr/>
      </nvGrpSpPr>
      <grpSpPr>
        <a:xfrm>
          <a:off x="0" y="0"/>
          <a:ext cx="0" cy="0"/>
          <a:chOff x="0" y="0"/>
          <a:chExt cx="0" cy="0"/>
        </a:xfrm>
      </grpSpPr>
      <sp>
        <nvSpPr>
          <cNvPr id="4" name="Title 3">
            <a:extLst>
              <a:ext uri="{FF2B5EF4-FFF2-40B4-BE49-F238E27FC236}">
                <a16:creationId id="{B3A3BC77-9310-84D4-4FD7-355D2C6664F4}"/>
              </a:ext>
            </a:extLst>
          </cNvPr>
          <cNvSpPr>
            <a:spLocks noGrp="1"/>
          </cNvSpPr>
          <nvPr>
            <ph type="title"/>
          </nvPr>
        </nvSpPr>
        <spPr>
          <a:xfrm>
            <a:off x="1965433" y="551058"/>
            <a:ext cx="9684219" cy="1477328"/>
          </a:xfrm>
        </spPr>
        <txBody>
          <a:bodyPr/>
          <a:lstStyle/>
          <a:p>
            <a:r>
              <a:rPr lang="en-GB" sz="4800" dirty="0"/>
              <a:t>Embedding RN in Native Apps - Android (reference)</a:t>
            </a:r>
            <a:endParaRPr lang="en-UA" sz="4800" dirty="0"/>
          </a:p>
        </txBody>
      </sp>
      <sp>
        <nvSpPr>
          <cNvPr id="9" name="TextBox 8">
            <a:extLst>
              <a:ext uri="{FF2B5EF4-FFF2-40B4-BE49-F238E27FC236}">
                <a16:creationId id="{305630E3-2120-2C1D-872C-695779B0BECA}"/>
              </a:ext>
            </a:extLst>
          </cNvPr>
          <cNvSpPr txBox="1"/>
          <nvPr/>
        </nvSpPr>
        <spPr>
          <a:xfrm>
            <a:off x="542347" y="1587061"/>
            <a:ext cx="8675225" cy="4616648"/>
          </a:xfrm>
          <a:prstGeom prst="rect">
            <a:avLst/>
          </a:prstGeom>
          <a:noFill/>
        </spPr>
        <txBody>
          <a:bodyPr wrap="square">
            <a:spAutoFit/>
          </a:bodyPr>
          <a:lstStyle/>
          <a:p>
            <a:r>
              <a:rPr lang="en-GB" sz="1400" dirty="0"/>
              <a:t>import </a:t>
            </a:r>
            <a:r>
              <a:rPr lang="en-GB" sz="1400" dirty="0" err="1"/>
              <a:t>android.os.Bundle</a:t>
            </a:r>
            <a:endParaRPr lang="en-GB" sz="1400" dirty="0"/>
          </a:p>
          <a:p>
            <a:r>
              <a:rPr lang="en-GB" sz="1400" dirty="0"/>
              <a:t>import </a:t>
            </a:r>
            <a:r>
              <a:rPr lang="en-GB" sz="1400" dirty="0" err="1"/>
              <a:t>android.os.PersistableBundle</a:t>
            </a:r>
            <a:endParaRPr lang="en-GB" sz="1400" dirty="0"/>
          </a:p>
          <a:p>
            <a:r>
              <a:rPr lang="en-GB" sz="1400" dirty="0"/>
              <a:t>import </a:t>
            </a:r>
            <a:r>
              <a:rPr lang="en-GB" sz="1400" dirty="0" err="1"/>
              <a:t>com.facebook.react.ReactActivity</a:t>
            </a:r>
            <a:endParaRPr lang="en-GB" sz="1400" dirty="0"/>
          </a:p>
          <a:p>
            <a:r>
              <a:rPr lang="en-GB" sz="1400" dirty="0"/>
              <a:t>import </a:t>
            </a:r>
            <a:r>
              <a:rPr lang="en-GB" sz="1400" dirty="0" err="1"/>
              <a:t>com.facebook.react.ReactActivityDelegate</a:t>
            </a:r>
            <a:endParaRPr lang="en-GB" sz="1400" dirty="0"/>
          </a:p>
          <a:p>
            <a:r>
              <a:rPr lang="en-GB" sz="1400" dirty="0"/>
              <a:t>import </a:t>
            </a:r>
            <a:r>
              <a:rPr lang="en-GB" sz="1400" dirty="0" err="1"/>
              <a:t>com.facebook.react.defaults.DefaultReactActivityDelegate</a:t>
            </a:r>
            <a:endParaRPr lang="en-GB" sz="1400" dirty="0"/>
          </a:p>
          <a:p>
            <a:r>
              <a:rPr lang="en-GB" sz="1400" dirty="0"/>
              <a:t>import com.facebook.react.defaults.DefaultNewArchitectureEntryPoint.fabricEnabled</a:t>
            </a:r>
          </a:p>
          <a:p>
            <a:endParaRPr lang="en-GB" sz="1400" dirty="0"/>
          </a:p>
          <a:p>
            <a:r>
              <a:rPr lang="en-GB" sz="1400" dirty="0"/>
              <a:t>class </a:t>
            </a:r>
            <a:r>
              <a:rPr lang="en-GB" sz="1400" dirty="0" err="1"/>
              <a:t>MyReactNativeHostActivity</a:t>
            </a:r>
            <a:r>
              <a:rPr lang="en-GB" sz="1400" dirty="0"/>
              <a:t> : </a:t>
            </a:r>
            <a:r>
              <a:rPr lang="en-GB" sz="1400" dirty="0" err="1"/>
              <a:t>ReactActivity</a:t>
            </a:r>
            <a:r>
              <a:rPr lang="en-GB" sz="1400" dirty="0"/>
              <a:t>() {</a:t>
            </a:r>
          </a:p>
          <a:p>
            <a:endParaRPr lang="en-GB" sz="1400" dirty="0"/>
          </a:p>
          <a:p>
            <a:r>
              <a:rPr lang="en-GB" sz="1400" dirty="0"/>
              <a:t>    override fun </a:t>
            </a:r>
            <a:r>
              <a:rPr lang="en-GB" sz="1400" dirty="0" err="1"/>
              <a:t>getMainComponentName</a:t>
            </a:r>
            <a:r>
              <a:rPr lang="en-GB" sz="1400" dirty="0"/>
              <a:t>(): String = "</a:t>
            </a:r>
            <a:r>
              <a:rPr lang="en-GB" sz="1400" dirty="0" err="1"/>
              <a:t>MyReactNativeApp</a:t>
            </a:r>
            <a:r>
              <a:rPr lang="en-GB" sz="1400" dirty="0"/>
              <a:t>"</a:t>
            </a:r>
          </a:p>
          <a:p>
            <a:endParaRPr lang="en-GB" sz="1400" dirty="0"/>
          </a:p>
          <a:p>
            <a:r>
              <a:rPr lang="en-GB" sz="1400" dirty="0"/>
              <a:t>    // Ensure Fabric is used under the New Architecture</a:t>
            </a:r>
          </a:p>
          <a:p>
            <a:r>
              <a:rPr lang="en-GB" sz="1400" dirty="0"/>
              <a:t>    override fun </a:t>
            </a:r>
            <a:r>
              <a:rPr lang="en-GB" sz="1400" dirty="0" err="1"/>
              <a:t>createReactActivityDelegate</a:t>
            </a:r>
            <a:r>
              <a:rPr lang="en-GB" sz="1400" dirty="0"/>
              <a:t>(): </a:t>
            </a:r>
            <a:r>
              <a:rPr lang="en-GB" sz="1400" dirty="0" err="1"/>
              <a:t>ReactActivityDelegate</a:t>
            </a:r>
            <a:r>
              <a:rPr lang="en-GB" sz="1400" dirty="0"/>
              <a:t> =</a:t>
            </a:r>
          </a:p>
          <a:p>
            <a:r>
              <a:rPr lang="en-GB" sz="1400" dirty="0"/>
              <a:t>        </a:t>
            </a:r>
            <a:r>
              <a:rPr lang="en-GB" sz="1400" dirty="0" err="1"/>
              <a:t>DefaultReactActivityDelegate</a:t>
            </a:r>
            <a:r>
              <a:rPr lang="en-GB" sz="1400" dirty="0"/>
              <a:t>(this, </a:t>
            </a:r>
            <a:r>
              <a:rPr lang="en-GB" sz="1400" dirty="0" err="1"/>
              <a:t>mainComponentName</a:t>
            </a:r>
            <a:r>
              <a:rPr lang="en-GB" sz="1400" dirty="0"/>
              <a:t>, </a:t>
            </a:r>
            <a:r>
              <a:rPr lang="en-GB" sz="1400" dirty="0" err="1"/>
              <a:t>fabricEnabled</a:t>
            </a:r>
            <a:r>
              <a:rPr lang="en-GB" sz="1400" dirty="0"/>
              <a:t>)</a:t>
            </a:r>
          </a:p>
          <a:p>
            <a:endParaRPr lang="en-GB" sz="1400" dirty="0"/>
          </a:p>
          <a:p>
            <a:r>
              <a:rPr lang="en-GB" sz="1400" dirty="0"/>
              <a:t>    // Optional: pass initial props</a:t>
            </a:r>
          </a:p>
          <a:p>
            <a:r>
              <a:rPr lang="en-GB" sz="1400" dirty="0"/>
              <a:t>    override fun </a:t>
            </a:r>
            <a:r>
              <a:rPr lang="en-GB" sz="1400" dirty="0" err="1"/>
              <a:t>getLaunchOptions</a:t>
            </a:r>
            <a:r>
              <a:rPr lang="en-GB" sz="1400" dirty="0"/>
              <a:t>(): Bundle? = Bundle().apply {</a:t>
            </a:r>
          </a:p>
          <a:p>
            <a:r>
              <a:rPr lang="en-GB" sz="1400" dirty="0"/>
              <a:t>        </a:t>
            </a:r>
            <a:r>
              <a:rPr lang="en-GB" sz="1400" dirty="0" err="1"/>
              <a:t>putBoolean</a:t>
            </a:r>
            <a:r>
              <a:rPr lang="en-GB" sz="1400" dirty="0"/>
              <a:t>("</a:t>
            </a:r>
            <a:r>
              <a:rPr lang="en-GB" sz="1400" dirty="0" err="1"/>
              <a:t>isHosted</a:t>
            </a:r>
            <a:r>
              <a:rPr lang="en-GB" sz="1400" dirty="0"/>
              <a:t>", true)</a:t>
            </a:r>
          </a:p>
          <a:p>
            <a:r>
              <a:rPr lang="en-GB" sz="1400" dirty="0"/>
              <a:t>    }</a:t>
            </a:r>
          </a:p>
          <a:p>
            <a:r>
              <a:rPr lang="en-GB" sz="1400" dirty="0"/>
              <a:t>}</a:t>
            </a:r>
          </a:p>
          <a:p>
            <a:endParaRPr lang="en-GB" sz="1400" dirty="0"/>
          </a:p>
        </txBody>
      </sp>
    </spTree>
    <extLst>
      <ext uri="{BB962C8B-B14F-4D97-AF65-F5344CB8AC3E}">
        <p14:creationId val="3348100982"/>
      </ext>
    </extLst>
  </cSld>
  <clrMapOvr>
    <a:masterClrMapping/>
  </clrMapOvr>
  <transition/>
</sld>
</file>

<file path=ppt/slides/slide17.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a:extLst>
            <a:ext uri="{FF2B5EF4-FFF2-40B4-BE49-F238E27FC236}">
              <a16:creationId id="{D13E1A3E-B2F3-0B82-E4AF-BE5CCB9817F4}"/>
            </a:ext>
          </a:extLst>
        </cNvPr>
        <cNvGrpSpPr/>
        <nvPr/>
      </nvGrpSpPr>
      <grpSpPr>
        <a:xfrm>
          <a:off x="0" y="0"/>
          <a:ext cx="0" cy="0"/>
          <a:chOff x="0" y="0"/>
          <a:chExt cx="0" cy="0"/>
        </a:xfrm>
      </grpSpPr>
      <sp>
        <nvSpPr>
          <cNvPr id="4" name="Title 3">
            <a:extLst>
              <a:ext uri="{FF2B5EF4-FFF2-40B4-BE49-F238E27FC236}">
                <a16:creationId id="{143DE81B-782D-5B3E-31DD-AD5AAAB56E61}"/>
              </a:ext>
            </a:extLst>
          </cNvPr>
          <cNvSpPr>
            <a:spLocks noGrp="1"/>
          </cNvSpPr>
          <nvPr>
            <ph type="title"/>
          </nvPr>
        </nvSpPr>
        <spPr>
          <a:xfrm>
            <a:off x="1965433" y="551058"/>
            <a:ext cx="9684219" cy="1477328"/>
          </a:xfrm>
        </spPr>
        <txBody>
          <a:bodyPr/>
          <a:lstStyle/>
          <a:p>
            <a:r>
              <a:rPr lang="en-GB" sz="4800" dirty="0"/>
              <a:t>Embedding RN in Native Apps - Android (reference)</a:t>
            </a:r>
            <a:endParaRPr lang="en-UA" sz="4800" dirty="0"/>
          </a:p>
        </txBody>
      </sp>
      <sp>
        <nvSpPr>
          <cNvPr id="9" name="TextBox 8">
            <a:extLst>
              <a:ext uri="{FF2B5EF4-FFF2-40B4-BE49-F238E27FC236}">
                <a16:creationId id="{1C452119-A527-8A1F-2F2E-9AC886185B2A}"/>
              </a:ext>
            </a:extLst>
          </cNvPr>
          <cNvSpPr txBox="1"/>
          <nvPr/>
        </nvSpPr>
        <spPr>
          <a:xfrm>
            <a:off x="542348" y="1492468"/>
            <a:ext cx="8675225" cy="5078313"/>
          </a:xfrm>
          <a:prstGeom prst="rect">
            <a:avLst/>
          </a:prstGeom>
          <a:noFill/>
        </spPr>
        <txBody>
          <a:bodyPr wrap="square">
            <a:spAutoFit/>
          </a:bodyPr>
          <a:lstStyle/>
          <a:p>
            <a:r>
              <a:rPr lang="en-GB" sz="1200" dirty="0"/>
              <a:t>import </a:t>
            </a:r>
            <a:r>
              <a:rPr lang="en-GB" sz="1200" dirty="0" err="1"/>
              <a:t>android.os.Bundle</a:t>
            </a:r>
            <a:endParaRPr lang="en-GB" sz="1200" dirty="0"/>
          </a:p>
          <a:p>
            <a:r>
              <a:rPr lang="en-GB" sz="1200" dirty="0"/>
              <a:t>import </a:t>
            </a:r>
            <a:r>
              <a:rPr lang="en-GB" sz="1200" dirty="0" err="1"/>
              <a:t>androidx.appcompat.app.AppCompatActivity</a:t>
            </a:r>
            <a:endParaRPr lang="en-GB" sz="1200" dirty="0"/>
          </a:p>
          <a:p>
            <a:r>
              <a:rPr lang="en-GB" sz="1200" dirty="0"/>
              <a:t>import </a:t>
            </a:r>
            <a:r>
              <a:rPr lang="en-GB" sz="1200" dirty="0" err="1"/>
              <a:t>androidx.core.os.bundleOf</a:t>
            </a:r>
            <a:endParaRPr lang="en-GB" sz="1200" dirty="0"/>
          </a:p>
          <a:p>
            <a:r>
              <a:rPr lang="en-GB" sz="1200" dirty="0"/>
              <a:t>import </a:t>
            </a:r>
            <a:r>
              <a:rPr lang="en-GB" sz="1200" dirty="0" err="1"/>
              <a:t>com.facebook.react.ReactFragment</a:t>
            </a:r>
            <a:endParaRPr lang="en-GB" sz="1200" dirty="0"/>
          </a:p>
          <a:p>
            <a:r>
              <a:rPr lang="en-GB" sz="1200" dirty="0"/>
              <a:t>import </a:t>
            </a:r>
            <a:r>
              <a:rPr lang="en-GB" sz="1200" dirty="0" err="1"/>
              <a:t>com.facebook.react.modules.core.DefaultHardwareBackBtnHandler</a:t>
            </a:r>
            <a:endParaRPr lang="en-GB" sz="1200" dirty="0"/>
          </a:p>
          <a:p>
            <a:endParaRPr lang="en-GB" sz="1200" dirty="0"/>
          </a:p>
          <a:p>
            <a:r>
              <a:rPr lang="en-GB" sz="1200" dirty="0"/>
              <a:t>class </a:t>
            </a:r>
            <a:r>
              <a:rPr lang="en-GB" sz="1200" dirty="0" err="1"/>
              <a:t>DetailsActivity</a:t>
            </a:r>
            <a:r>
              <a:rPr lang="en-GB" sz="1200" dirty="0"/>
              <a:t> : </a:t>
            </a:r>
            <a:r>
              <a:rPr lang="en-GB" sz="1200" dirty="0" err="1"/>
              <a:t>AppCompatActivity</a:t>
            </a:r>
            <a:r>
              <a:rPr lang="en-GB" sz="1200" dirty="0"/>
              <a:t>(), </a:t>
            </a:r>
            <a:r>
              <a:rPr lang="en-GB" sz="1200" dirty="0" err="1"/>
              <a:t>DefaultHardwareBackBtnHandler</a:t>
            </a:r>
            <a:r>
              <a:rPr lang="en-GB" sz="1200" dirty="0"/>
              <a:t> {</a:t>
            </a:r>
          </a:p>
          <a:p>
            <a:endParaRPr lang="en-GB" sz="1200" dirty="0"/>
          </a:p>
          <a:p>
            <a:r>
              <a:rPr lang="en-GB" sz="1200" dirty="0"/>
              <a:t>    override fun </a:t>
            </a:r>
            <a:r>
              <a:rPr lang="en-GB" sz="1200" dirty="0" err="1"/>
              <a:t>onCreate</a:t>
            </a:r>
            <a:r>
              <a:rPr lang="en-GB" sz="1200" dirty="0"/>
              <a:t>(</a:t>
            </a:r>
            <a:r>
              <a:rPr lang="en-GB" sz="1200" dirty="0" err="1"/>
              <a:t>savedInstanceState</a:t>
            </a:r>
            <a:r>
              <a:rPr lang="en-GB" sz="1200" dirty="0"/>
              <a:t>: Bundle?) {</a:t>
            </a:r>
          </a:p>
          <a:p>
            <a:r>
              <a:rPr lang="en-GB" sz="1200" dirty="0"/>
              <a:t>        </a:t>
            </a:r>
            <a:r>
              <a:rPr lang="en-GB" sz="1200" dirty="0" err="1"/>
              <a:t>super.onCreate</a:t>
            </a:r>
            <a:r>
              <a:rPr lang="en-GB" sz="1200" dirty="0"/>
              <a:t>(</a:t>
            </a:r>
            <a:r>
              <a:rPr lang="en-GB" sz="1200" dirty="0" err="1"/>
              <a:t>savedInstanceState</a:t>
            </a:r>
            <a:r>
              <a:rPr lang="en-GB" sz="1200" dirty="0"/>
              <a:t>)</a:t>
            </a:r>
          </a:p>
          <a:p>
            <a:r>
              <a:rPr lang="en-GB" sz="1200" dirty="0"/>
              <a:t>        </a:t>
            </a:r>
            <a:r>
              <a:rPr lang="en-GB" sz="1200" dirty="0" err="1"/>
              <a:t>setContentView</a:t>
            </a:r>
            <a:r>
              <a:rPr lang="en-GB" sz="1200" dirty="0"/>
              <a:t>(</a:t>
            </a:r>
            <a:r>
              <a:rPr lang="en-GB" sz="1200" dirty="0" err="1"/>
              <a:t>R.layout.activity_details</a:t>
            </a:r>
            <a:r>
              <a:rPr lang="en-GB" sz="1200" dirty="0"/>
              <a:t>)</a:t>
            </a:r>
          </a:p>
          <a:p>
            <a:endParaRPr lang="en-GB" sz="1200" dirty="0"/>
          </a:p>
          <a:p>
            <a:r>
              <a:rPr lang="en-GB" sz="1200" dirty="0"/>
              <a:t>        </a:t>
            </a:r>
            <a:r>
              <a:rPr lang="en-GB" sz="1200" dirty="0" err="1"/>
              <a:t>val</a:t>
            </a:r>
            <a:r>
              <a:rPr lang="en-GB" sz="1200" dirty="0"/>
              <a:t> fragment = </a:t>
            </a:r>
            <a:r>
              <a:rPr lang="en-GB" sz="1200" dirty="0" err="1"/>
              <a:t>ReactFragment.Builder</a:t>
            </a:r>
            <a:r>
              <a:rPr lang="en-GB" sz="1200" dirty="0"/>
              <a:t>()</a:t>
            </a:r>
          </a:p>
          <a:p>
            <a:r>
              <a:rPr lang="en-GB" sz="1200" dirty="0"/>
              <a:t>            .</a:t>
            </a:r>
            <a:r>
              <a:rPr lang="en-GB" sz="1200" dirty="0" err="1"/>
              <a:t>setComponentName</a:t>
            </a:r>
            <a:r>
              <a:rPr lang="en-GB" sz="1200" dirty="0"/>
              <a:t>("</a:t>
            </a:r>
            <a:r>
              <a:rPr lang="en-GB" sz="1200" dirty="0" err="1"/>
              <a:t>MyReactNativeApp</a:t>
            </a:r>
            <a:r>
              <a:rPr lang="en-GB" sz="1200" dirty="0"/>
              <a:t>")</a:t>
            </a:r>
          </a:p>
          <a:p>
            <a:r>
              <a:rPr lang="en-GB" sz="1200" dirty="0"/>
              <a:t>            .</a:t>
            </a:r>
            <a:r>
              <a:rPr lang="en-GB" sz="1200" dirty="0" err="1"/>
              <a:t>setLaunchOptions</a:t>
            </a:r>
            <a:r>
              <a:rPr lang="en-GB" sz="1200" dirty="0"/>
              <a:t>(</a:t>
            </a:r>
            <a:r>
              <a:rPr lang="en-GB" sz="1200" dirty="0" err="1"/>
              <a:t>bundleOf</a:t>
            </a:r>
            <a:r>
              <a:rPr lang="en-GB" sz="1200" dirty="0"/>
              <a:t>("</a:t>
            </a:r>
            <a:r>
              <a:rPr lang="en-GB" sz="1200" dirty="0" err="1"/>
              <a:t>isHosted</a:t>
            </a:r>
            <a:r>
              <a:rPr lang="en-GB" sz="1200" dirty="0"/>
              <a:t>" to true))</a:t>
            </a:r>
          </a:p>
          <a:p>
            <a:r>
              <a:rPr lang="en-GB" sz="1200" dirty="0"/>
              <a:t>            .build()</a:t>
            </a:r>
          </a:p>
          <a:p>
            <a:endParaRPr lang="en-GB" sz="1200" dirty="0"/>
          </a:p>
          <a:p>
            <a:r>
              <a:rPr lang="en-GB" sz="1200" dirty="0"/>
              <a:t>        </a:t>
            </a:r>
            <a:r>
              <a:rPr lang="en-GB" sz="1200" dirty="0" err="1"/>
              <a:t>supportFragmentManager</a:t>
            </a:r>
            <a:endParaRPr lang="en-GB" sz="1200" dirty="0"/>
          </a:p>
          <a:p>
            <a:r>
              <a:rPr lang="en-GB" sz="1200" dirty="0"/>
              <a:t>            .</a:t>
            </a:r>
            <a:r>
              <a:rPr lang="en-GB" sz="1200" dirty="0" err="1"/>
              <a:t>beginTransaction</a:t>
            </a:r>
            <a:r>
              <a:rPr lang="en-GB" sz="1200" dirty="0"/>
              <a:t>()</a:t>
            </a:r>
          </a:p>
          <a:p>
            <a:r>
              <a:rPr lang="en-GB" sz="1200" dirty="0"/>
              <a:t>            .replace(</a:t>
            </a:r>
            <a:r>
              <a:rPr lang="en-GB" sz="1200" dirty="0" err="1"/>
              <a:t>R.id.react_fragment_container</a:t>
            </a:r>
            <a:r>
              <a:rPr lang="en-GB" sz="1200" dirty="0"/>
              <a:t>, fragment)</a:t>
            </a:r>
          </a:p>
          <a:p>
            <a:r>
              <a:rPr lang="en-GB" sz="1200" dirty="0"/>
              <a:t>            .commit()</a:t>
            </a:r>
          </a:p>
          <a:p>
            <a:r>
              <a:rPr lang="en-GB" sz="1200" dirty="0"/>
              <a:t>    }</a:t>
            </a:r>
          </a:p>
          <a:p>
            <a:endParaRPr lang="en-GB" sz="1200" dirty="0"/>
          </a:p>
          <a:p>
            <a:r>
              <a:rPr lang="en-GB" sz="1200" dirty="0"/>
              <a:t>    override fun </a:t>
            </a:r>
            <a:r>
              <a:rPr lang="en-GB" sz="1200" dirty="0" err="1"/>
              <a:t>invokeDefaultOnBackPressed</a:t>
            </a:r>
            <a:r>
              <a:rPr lang="en-GB" sz="1200" dirty="0"/>
              <a:t>() {</a:t>
            </a:r>
          </a:p>
          <a:p>
            <a:r>
              <a:rPr lang="en-GB" sz="1200" dirty="0"/>
              <a:t>        </a:t>
            </a:r>
            <a:r>
              <a:rPr lang="en-GB" sz="1200" dirty="0" err="1"/>
              <a:t>onBackPressedDispatcher.onBackPressed</a:t>
            </a:r>
            <a:r>
              <a:rPr lang="en-GB" sz="1200" dirty="0"/>
              <a:t>()</a:t>
            </a:r>
          </a:p>
          <a:p>
            <a:r>
              <a:rPr lang="en-GB" sz="1200" dirty="0"/>
              <a:t>    }</a:t>
            </a:r>
          </a:p>
          <a:p>
            <a:r>
              <a:rPr lang="en-GB" sz="1200" dirty="0"/>
              <a:t>}</a:t>
            </a:r>
          </a:p>
        </txBody>
      </sp>
    </spTree>
    <extLst>
      <ext uri="{BB962C8B-B14F-4D97-AF65-F5344CB8AC3E}">
        <p14:creationId val="3856465755"/>
      </ext>
    </extLst>
  </cSld>
  <clrMapOvr>
    <a:masterClrMapping/>
  </clrMapOvr>
  <transition/>
</sld>
</file>

<file path=ppt/slides/slide18.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1:extLst>
            <ns1:ext uri="{FF2B5EF4-FFF2-40B4-BE49-F238E27FC236}">
              <ns2:creationId id="{2DFD3D71-7249-9760-FE86-24663034EFC1}"/>
            </ns1:ext>
          </ns1:extLst>
        </ns0:cNvPr>
        <ns0:cNvGrpSpPr/>
        <ns0:nvPr/>
      </ns0:nvGrpSpPr>
      <ns0:grpSpPr>
        <ns1:xfrm>
          <ns1:off x="0" y="0"/>
          <ns1:ext cx="0" cy="0"/>
          <ns1:chOff x="0" y="0"/>
          <ns1:chExt cx="0" cy="0"/>
        </ns1:xfrm>
      </ns0:grpSpPr>
      <ns0:sp>
        <ns0:nvSpPr>
          <ns0:cNvPr id="4" name="Title 3">
            <ns1:extLst>
              <ns1:ext uri="{FF2B5EF4-FFF2-40B4-BE49-F238E27FC236}">
                <ns2:creationId id="{211E9068-BD09-B8BC-5B2E-15798E21F0A8}"/>
              </ns1:ext>
            </ns1:extLst>
          </ns0:cNvPr>
          <ns0:cNvSpPr>
            <ns1:spLocks noGrp="1"/>
          </ns0:cNvSpPr>
          <ns0:nvPr>
            <ns0:ph type="title"/>
          </ns0:nvPr>
        </ns0:nvSpPr>
        <ns0:spPr>
          <ns1:xfrm>
            <ns1:off x="1965434" y="551058"/>
            <ns1:ext cx="9217574" cy="738664"/>
          </ns1:xfrm>
        </ns0:spPr>
        <ns0:txBody>
          <ns1:bodyPr/>
          <ns1:lstStyle/>
          <ns1:p>
            <ns1:r>
              <ns1:rPr lang="en-GB" sz="4800" dirty="0"/>
              <ns1:t>Summary &amp; Key Takeaways</ns1:t>
            </ns1:r>
            <ns1:endParaRPr lang="en-UA" sz="4800" dirty="0"/>
          </ns1:p>
        </ns0:txBody>
      </ns0:sp>
      <ns0:sp>
        <ns0:nvSpPr>
          <ns0:cNvPr id="2" name="Text Placeholder 1">
            <ns1:extLst>
              <ns1:ext uri="{FF2B5EF4-FFF2-40B4-BE49-F238E27FC236}">
                <ns2:creationId id="{7A6B14BB-976F-E0EC-C8F9-D8CA22013ADF}"/>
              </ns1:ext>
            </ns1:extLst>
          </ns0:cNvPr>
          <ns0:cNvSpPr>
            <ns1:spLocks noGrp="1"/>
          </ns0:cNvSpPr>
          <ns0:nvPr>
            <ns0:ph type="body" sz="quarter" idx="11"/>
          </ns0:nvPr>
        </ns0:nvSpPr>
        <ns0:spPr>
          <ns1:xfrm>
            <ns1:off x="500305" y="1471448"/>
            <ns1:ext cx="9505543" cy="3696525"/>
          </ns1:xfrm>
        </ns0:spPr>
        <ns0:txBody>
          <ns1:bodyPr/>
          <ns1:lstStyle/>
          <ns1:p>
            <ns1:pPr marL="285750" indent="-285750">
              <ns1:lnSpc>
                <ns1:spcPct val="150000"/>
              </ns1:lnSpc>
              <ns1:buFont typeface="Arial" panose="020B0604020202020204" pitchFamily="34" charset="0"/>
              <ns1:buChar char="•"/>
            </ns1:pPr>
            <ns1:r>
              <ns1:rPr lang="en-GB" b="1" dirty="0"/>
              <ns1:t>Shadow Tree is the C++ blueprint for layout (Yoga/measure) managed by Fabric.</ns1:t>
            </ns1:r>
            <ns1:r>
              <ns1:rPr lang="en-GB" dirty="0"/>
              <ns1:t/>
            </ns1:r>
            <ns1:r>
              <ns1:rPr lang="en-GB" b="1" dirty="0"/>
              <ns1:t/>
            </ns1:r>
            <ns1:r>
              <ns1:rPr lang="en-GB" dirty="0"/>
              <ns1:t/>
            </ns1:r>
          </ns1:p>
          <ns1:p>
            <ns1:pPr marL="285750" indent="-285750">
              <ns1:lnSpc>
                <ns1:spcPct val="150000"/>
              </ns1:lnSpc>
              <ns1:buFont typeface="Arial" panose="020B0604020202020204" pitchFamily="34" charset="0"/>
              <ns1:buChar char="•"/>
            </ns1:pPr>
            <ns1:r>
              <ns1:rPr lang="en-GB" b="1" dirty="0"/>
              <ns1:t>Fabric is the modern renderer that uses JSI to remove the JSON bridge, making prop/event/command updates low-overhead and tightly integrated with native.</ns1:t>
            </ns1:r>
            <ns1:r>
              <ns1:rPr lang="en-GB" dirty="0"/>
              <ns1:t/>
            </ns1:r>
            <ns1:r>
              <ns1:rPr lang="en-GB" b="1" dirty="0"/>
              <ns1:t/>
            </ns1:r>
            <ns1:r>
              <ns1:rPr lang="en-GB" dirty="0"/>
              <ns1:t/>
            </ns1:r>
          </ns1:p>
          <ns1:p>
            <ns1:pPr marL="285750" indent="-285750">
              <ns1:lnSpc>
                <ns1:spcPct val="150000"/>
              </ns1:lnSpc>
              <ns1:buFont typeface="Arial" panose="020B0604020202020204" pitchFamily="34" charset="0"/>
              <ns1:buChar char="•"/>
            </ns1:pPr>
            <ns1:r>
              <ns1:rPr lang="en-GB" b="1" dirty="0"/>
              <ns1:t>Native views are Fabric Components (not “TurboModules for Views”). Define a Codegen component spec (props, events, commands) to generate type-safe native bindings; iOS also wires views via thirdPartyFabricComponents.</ns1:t>
            </ns1:r>
            <ns1:r>
              <ns1:rPr lang="en-GB" dirty="0"/>
              <ns1:t/>
            </ns1:r>
            <ns1:r>
              <ns1:rPr lang="en-GB" dirty="0" err="1"/>
              <ns1:t/>
            </ns1:r>
            <ns1:r>
              <ns1:rPr lang="en-GB" dirty="0"/>
              <ns1:t/>
            </ns1:r>
            <ns1:r>
              <ns1:rPr lang="en-GB" b="1" dirty="0" err="1"/>
              <ns1:t/>
            </ns1:r>
            <ns1:r>
              <ns1:rPr lang="en-GB" b="1" dirty="0"/>
              <ns1:t/>
            </ns1:r>
            <ns1:r>
              <ns1:rPr lang="en-GB" dirty="0"/>
              <ns1:t/>
            </ns1:r>
            <ns1:r>
              <ns1:rPr lang="en-GB" b="1" dirty="0" err="1"/>
              <ns1:t/>
            </ns1:r>
            <ns1:r>
              <ns1:rPr lang="en-GB" dirty="0"/>
              <ns1:t/>
            </ns1:r>
          </ns1:p>
          <ns1:p>
            <ns1:pPr marL="285750" indent="-285750">
              <ns1:lnSpc>
                <ns1:spcPct val="150000"/>
              </ns1:lnSpc>
              <ns1:buFont typeface="Arial" panose="020B0604020202020204" pitchFamily="34" charset="0"/>
              <ns1:buChar char="•"/>
            </ns1:pPr>
            <ns1:r>
              <ns1:rPr lang="en-GB" b="1" dirty="0"/>
              <ns1:t>Embedding RN in Native for brownfield: iOS use RCTReactNativeFactory to obtain a Fabric-backed root view; Android use ReactActivity or ReactFragment with Fabric enabled. Avoid legacy Bridge patterns.</ns1:t>
            </ns1:r>
            <ns1:r>
              <ns1:rPr lang="en-GB" dirty="0"/>
              <ns1:t/>
            </ns1:r>
            <ns1:r>
              <ns1:rPr lang="en-GB" b="1" dirty="0"/>
              <ns1:t/>
            </ns1:r>
            <ns1:r>
              <ns1:rPr lang="en-GB" dirty="0"/>
              <ns1:t/>
            </ns1:r>
            <ns1:r>
              <ns1:rPr lang="en-GB" dirty="0" err="1"/>
              <ns1:t/>
            </ns1:r>
            <ns1:r>
              <ns1:rPr lang="en-GB" dirty="0"/>
              <ns1:t/>
            </ns1:r>
            <ns1:r>
              <ns1:rPr lang="en-GB" dirty="0" err="1"/>
              <ns1:t/>
            </ns1:r>
            <ns1:r>
              <ns1:rPr lang="en-GB" dirty="0"/>
              <ns1:t/>
            </ns1:r>
            <ns1:r>
              <ns1:rPr lang="en-GB" b="1" dirty="0"/>
              <ns1:t/>
            </ns1:r>
            <ns1:r>
              <ns1:rPr lang="en-GB" dirty="0"/>
              <ns1:t/>
            </ns1:r>
            <ns1:r>
              <ns1:rPr lang="en-GB" dirty="0" err="1"/>
              <ns1:t/>
            </ns1:r>
            <ns1:r>
              <ns1:rPr lang="en-GB" dirty="0"/>
              <ns1:t/>
            </ns1:r>
            <ns1:r>
              <ns1:rPr lang="en-GB" dirty="0" err="1"/>
              <ns1:t/>
            </ns1:r>
            <ns1:r>
              <ns1:rPr lang="en-GB" dirty="0"/>
              <ns1:t/>
            </ns1:r>
            <ns1:r>
              <ns1:rPr lang="en-GB" dirty="0" err="1"/>
              <ns1:t/>
            </ns1:r>
            <ns1:r>
              <ns1:rPr lang="en-GB" dirty="0"/>
              <ns1:t/>
            </ns1:r>
            <ns1:r>
              <ns1:rPr lang="en-GB" dirty="0" err="1"/>
              <ns1:t/>
            </ns1:r>
            <ns1:r>
              <ns1:rPr lang="en-GB" dirty="0"/>
              <ns1:t/>
            </ns1:r>
          </ns1:p>
        </ns0:txBody>
      </ns0:sp>
    </ns0:spTree>
    <ns0:extLst>
      <ns0:ext uri="{BB962C8B-B14F-4D97-AF65-F5344CB8AC3E}">
        <ns3:creationId val="3998289695"/>
      </ns0:ext>
    </ns0:extLst>
  </ns0:cSld>
  <ns0:clrMapOvr>
    <ns1:masterClrMapping/>
  </ns0:clrMapOvr>
  <ns0:transition/>
</ns0:sld>
</file>

<file path=ppt/slides/slide19.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4" name="Title 3"/>
          <ns0:cNvSpPr>
            <ns1:spLocks noGrp="1"/>
          </ns0:cNvSpPr>
          <ns0:nvPr>
            <ns0:ph type="title"/>
          </ns0:nvPr>
        </ns0:nvSpPr>
        <ns0:spPr>
          <ns1:xfrm>
            <ns1:off x="1965434" y="551058"/>
            <ns1:ext cx="9217574" cy="738664"/>
          </ns1:xfrm>
        </ns0:spPr>
        <ns0:txBody>
          <ns1:bodyPr/>
          <ns1:lstStyle/>
          <ns1:p>
            <ns1:r>
              <ns1:rPr lang="en-GB" sz="3600" dirty="0"/>
              <ns1:t>Codegen config — package.json</ns1:t>
            </ns1:r>
          </ns1:p>
        </ns0:txBody>
      </ns0:sp>
      <ns0:sp>
        <ns0:nvSpPr>
          <ns0:cNvPr id="9" name="TextBox 8"/>
          <ns0:cNvSpPr txBox="1"/>
          <ns0:nvPr/>
        </ns0:nvSpPr>
        <ns0:spPr>
          <ns1:xfrm>
            <ns1:off x="542347" y="1500000"/>
            <ns1:ext cx="11100000" cy="4600000"/>
          </ns1:xfrm>
          <ns1:prstGeom prst="rect">
            <ns1:avLst/>
          </ns1:prstGeom>
          <ns1:noFill/>
        </ns0:spPr>
        <ns0:txBody>
          <ns1:bodyPr wrap="square">
            <ns1:spAutoFit/>
          </ns1:bodyPr>
          <ns1:lstStyle/>
          <ns1:p>
            <ns1:pPr>
              <ns1:lnSpc>
                <ns1:spcPct val="130000"/>
              </ns1:lnSpc>
            </ns1:pPr>
            <ns1:r>
              <ns1:rPr lang="en-GB" sz="1600" dirty="0">
                <ns1:latin typeface="Consolas"/>
              </ns1:rPr>
              <ns1:t>// package.json</ns1:t>
            </ns1:r>
          </ns1:p>
          <ns1:p>
            <ns1:pPr>
              <ns1:lnSpc>
                <ns1:spcPct val="130000"/>
              </ns1:lnSpc>
            </ns1:pPr>
            <ns1:r>
              <ns1:rPr lang="en-GB" sz="1600" dirty="0">
                <ns1:latin typeface="Consolas"/>
              </ns1:rPr>
              <ns1:t>"codegenConfig": {</ns1:t>
            </ns1:r>
          </ns1:p>
          <ns1:p>
            <ns1:pPr>
              <ns1:lnSpc>
                <ns1:spcPct val="130000"/>
              </ns1:lnSpc>
            </ns1:pPr>
            <ns1:r>
              <ns1:rPr lang="en-GB" sz="1600" dirty="0">
                <ns1:latin typeface="Consolas"/>
              </ns1:rPr>
              <ns1:t>  "name": "RTNVideoPlayerSpec",        // drives generated header/class names</ns1:t>
            </ns1:r>
          </ns1:p>
          <ns1:p>
            <ns1:pPr>
              <ns1:lnSpc>
                <ns1:spcPct val="130000"/>
              </ns1:lnSpc>
            </ns1:pPr>
            <ns1:r>
              <ns1:rPr lang="en-GB" sz="1600" dirty="0">
                <ns1:latin typeface="Consolas"/>
              </ns1:rPr>
              <ns1:t>  "type": "components",                // "components" | "modules" | "all"</ns1:t>
            </ns1:r>
          </ns1:p>
          <ns1:p>
            <ns1:pPr>
              <ns1:lnSpc>
                <ns1:spcPct val="130000"/>
              </ns1:lnSpc>
            </ns1:pPr>
            <ns1:r>
              <ns1:rPr lang="en-GB" sz="1600" dirty="0">
                <ns1:latin typeface="Consolas"/>
              </ns1:rPr>
              <ns1:t>  "jsSrcsDir": "src/specs",            // where Codegen scans for *.ts specs</ns1:t>
            </ns1:r>
          </ns1:p>
          <ns1:p>
            <ns1:pPr>
              <ns1:lnSpc>
                <ns1:spcPct val="130000"/>
              </ns1:lnSpc>
            </ns1:pPr>
            <ns1:r>
              <ns1:rPr lang="en-GB" sz="1600" dirty="0">
                <ns1:latin typeface="Consolas"/>
              </ns1:rPr>
              <ns1:t>  "android": {</ns1:t>
            </ns1:r>
          </ns1:p>
          <ns1:p>
            <ns1:pPr>
              <ns1:lnSpc>
                <ns1:spcPct val="130000"/>
              </ns1:lnSpc>
            </ns1:pPr>
            <ns1:r>
              <ns1:rPr lang="en-GB" sz="1600" dirty="0">
                <ns1:latin typeface="Consolas"/>
              </ns1:rPr>
              <ns1:t>    "javaPackageName": "com.reactnativenativeintegration.videoplayer"</ns1:t>
            </ns1:r>
          </ns1:p>
          <ns1:p>
            <ns1:pPr>
              <ns1:lnSpc>
                <ns1:spcPct val="130000"/>
              </ns1:lnSpc>
            </ns1:pPr>
            <ns1:r>
              <ns1:rPr lang="en-GB" sz="1600" dirty="0">
                <ns1:latin typeface="Consolas"/>
              </ns1:rPr>
              <ns1:t>  }</ns1:t>
            </ns1:r>
          </ns1:p>
          <ns1:p>
            <ns1:pPr>
              <ns1:lnSpc>
                <ns1:spcPct val="130000"/>
              </ns1:lnSpc>
            </ns1:pPr>
            <ns1:r>
              <ns1:rPr lang="en-GB" sz="1600" dirty="0">
                <ns1:latin typeface="Consolas"/>
              </ns1:rPr>
              <ns1:t>}</ns1:t>
            </ns1:r>
          </ns1:p>
          <ns1:p>
            <ns1:pPr>
              <ns1:lnSpc>
                <ns1:spcPct val="130000"/>
              </ns1:lnSpc>
            </ns1:pPr>
            <ns1:endParaRPr lang="en-GB" sz="1600" dirty="0"/>
          </ns1:p>
          <ns1:p>
            <ns1:pPr>
              <ns1:lnSpc>
                <ns1:spcPct val="130000"/>
              </ns1:lnSpc>
            </ns1:pPr>
            <ns1:r>
              <ns1:rPr lang="en-GB" sz="1500" b="1" dirty="0"/>
              <ns1:t>When does it run?</ns1:t>
            </ns1:r>
          </ns1:p>
          <ns1:p>
            <ns1:pPr marL="285750" indent="-285750">
              <ns1:lnSpc>
                <ns1:spcPct val="130000"/>
              </ns1:lnSpc>
              <ns1:buFont typeface="Arial" panose="020B0604020202020204" pitchFamily="34" charset="0"/>
              <ns1:buChar char="•"/>
            </ns1:pPr>
            <ns1:r>
              <ns1:rPr lang="en-GB" sz="1500" dirty="0"/>
              <ns1:t>iOS: every </ns1:t>
            </ns1:r>
            <ns1:r>
              <ns1:rPr lang="en-GB" sz="1500" dirty="0">
                <ns1:latin typeface="Consolas"/>
              </ns1:rPr>
              <ns1:t>pod install</ns1:t>
            </ns1:r>
            <ns1:r>
              <ns1:rPr lang="en-GB" sz="1500" dirty="0"/>
              <ns1:t> — regenerates </ns1:t>
            </ns1:r>
            <ns1:r>
              <ns1:rPr lang="en-GB" sz="1500" dirty="0">
                <ns1:latin typeface="Consolas"/>
              </ns1:rPr>
              <ns1:t>&lt;RTNVideoPlayerSpec/Props.h&gt;</ns1:t>
            </ns1:r>
            <ns1:r>
              <ns1:rPr lang="en-GB" sz="1500" dirty="0"/>
              <ns1:t>, EventEmitters, ComponentDescriptor.</ns1:t>
            </ns1:r>
          </ns1:p>
          <ns1:p>
            <ns1:pPr marL="285750" indent="-285750">
              <ns1:lnSpc>
                <ns1:spcPct val="130000"/>
              </ns1:lnSpc>
              <ns1:buFont typeface="Arial" panose="020B0604020202020204" pitchFamily="34" charset="0"/>
              <ns1:buChar char="•"/>
            </ns1:pPr>
            <ns1:r>
              <ns1:rPr lang="en-GB" sz="1500" dirty="0"/>
              <ns1:t>Android: every Gradle build — generates </ns1:t>
            </ns1:r>
            <ns1:r>
              <ns1:rPr lang="en-GB" sz="1500" dirty="0">
                <ns1:latin typeface="Consolas"/>
              </ns1:rPr>
              <ns1:t>RTNVideoPlayerManagerInterface</ns1:t>
            </ns1:r>
            <ns1:r>
              <ns1:rPr lang="en-GB" sz="1500" dirty="0"/>
              <ns1:t> and </ns1:t>
            </ns1:r>
            <ns1:r>
              <ns1:rPr lang="en-GB" sz="1500" dirty="0">
                <ns1:latin typeface="Consolas"/>
              </ns1:rPr>
              <ns1:t>...ManagerDelegate</ns1:t>
            </ns1:r>
            <ns1:r>
              <ns1:rPr lang="en-GB" sz="1500" dirty="0"/>
              <ns1:t>.</ns1:t>
            </ns1:r>
          </ns1:p>
          <ns1:p>
            <ns1:pPr marL="285750" indent="-285750">
              <ns1:lnSpc>
                <ns1:spcPct val="130000"/>
              </ns1:lnSpc>
              <ns1:buFont typeface="Arial" panose="020B0604020202020204" pitchFamily="34" charset="0"/>
              <ns1:buChar char="•"/>
            </ns1:pPr>
            <ns1:r>
              <ns1:rPr lang="en-GB" sz="1500" dirty="0"/>
              <ns1:t>After any change in </ns1:t>
            </ns1:r>
            <ns1:r>
              <ns1:rPr lang="en-GB" sz="1500" dirty="0">
                <ns1:latin typeface="Consolas"/>
              </ns1:rPr>
              <ns1:t>src/specs/**</ns1:t>
            </ns1:r>
            <ns1:r>
              <ns1:rPr lang="en-GB" sz="1500" dirty="0"/>
              <ns1:t>: re-run </ns1:t>
            </ns1:r>
            <ns1:r>
              <ns1:rPr lang="en-GB" sz="1500" dirty="0">
                <ns1:latin typeface="Consolas"/>
              </ns1:rPr>
              <ns1:t>pod install</ns1:t>
            </ns1:r>
            <ns1:r>
              <ns1:rPr lang="en-GB" sz="1500" dirty="0"/>
              <ns1:t> / </ns1:t>
            </ns1:r>
            <ns1:r>
              <ns1:rPr lang="en-GB" sz="1500" dirty="0">
                <ns1:latin typeface="Consolas"/>
              </ns1:rPr>
              <ns1:t>gradlew clean</ns1:t>
            </ns1:r>
            <ns1:r>
              <ns1:rPr lang="en-GB" sz="1500" dirty="0"/>
              <ns1:t> if types look stale.</ns1:t>
            </ns1:r>
          </ns1:p>
        </ns0:txBody>
      </ns0:sp>
    </ns0:spTree>
  </ns0:cSld>
  <ns0:clrMapOvr>
    <ns1:masterClrMapping/>
  </ns0:clrMapOvr>
  <ns0:transition/>
</ns0:sld>
</file>

<file path=ppt/slides/slide20.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4" name="Title 3"/>
          <ns0:cNvSpPr>
            <ns1:spLocks noGrp="1"/>
          </ns0:cNvSpPr>
          <ns0:nvPr>
            <ns0:ph type="title"/>
          </ns0:nvPr>
        </ns0:nvSpPr>
        <ns0:spPr>
          <ns1:xfrm>
            <ns1:off x="1965434" y="551058"/>
            <ns1:ext cx="9217574" cy="738664"/>
          </ns1:xfrm>
        </ns0:spPr>
        <ns0:txBody>
          <ns1:bodyPr/>
          <ns1:lstStyle/>
          <ns1:p>
            <ns1:r>
              <ns1:rPr lang="en-GB" sz="3600" dirty="0"/>
              <ns1:t>Commands spec (TypeScript)</ns1:t>
            </ns1:r>
          </ns1:p>
        </ns0:txBody>
      </ns0:sp>
      <ns0:sp>
        <ns0:nvSpPr>
          <ns0:cNvPr id="9" name="TextBox 8"/>
          <ns0:cNvSpPr txBox="1"/>
          <ns0:nvPr/>
        </ns0:nvSpPr>
        <ns0:spPr>
          <ns1:xfrm>
            <ns1:off x="542347" y="1500000"/>
            <ns1:ext cx="11100000" cy="4600000"/>
          </ns1:xfrm>
          <ns1:prstGeom prst="rect">
            <ns1:avLst/>
          </ns1:prstGeom>
          <ns1:noFill/>
        </ns0:spPr>
        <ns0:txBody>
          <ns1:bodyPr wrap="square">
            <ns1:spAutoFit/>
          </ns1:bodyPr>
          <ns1:lstStyle/>
          <ns1:p>
            <ns1:pPr>
              <ns1:lnSpc>
                <ns1:spcPct val="130000"/>
              </ns1:lnSpc>
            </ns1:pPr>
            <ns1:r>
              <ns1:rPr lang="en-GB" sz="1600" dirty="0">
                <ns1:latin typeface="Consolas"/>
              </ns1:rPr>
              <ns1:t>// src/specs/RTNVideoPlayerCommands.ts</ns1:t>
            </ns1:r>
          </ns1:p>
          <ns1:p>
            <ns1:pPr>
              <ns1:lnSpc>
                <ns1:spcPct val="130000"/>
              </ns1:lnSpc>
            </ns1:pPr>
            <ns1:r>
              <ns1:rPr lang="en-GB" sz="1600" dirty="0">
                <ns1:latin typeface="Consolas"/>
              </ns1:rPr>
              <ns1:t>import type { HostComponent } from 'react-native';</ns1:t>
            </ns1:r>
          </ns1:p>
          <ns1:p>
            <ns1:pPr>
              <ns1:lnSpc>
                <ns1:spcPct val="130000"/>
              </ns1:lnSpc>
            </ns1:pPr>
            <ns1:r>
              <ns1:rPr lang="en-GB" sz="1600" dirty="0">
                <ns1:latin typeface="Consolas"/>
              </ns1:rPr>
              <ns1:t>import type { Double } from 'react-native/Libraries/Types/CodegenTypes';</ns1:t>
            </ns1:r>
          </ns1:p>
          <ns1:p>
            <ns1:pPr>
              <ns1:lnSpc>
                <ns1:spcPct val="130000"/>
              </ns1:lnSpc>
            </ns1:pPr>
            <ns1:r>
              <ns1:rPr lang="en-GB" sz="1600" dirty="0">
                <ns1:latin typeface="Consolas"/>
              </ns1:rPr>
              <ns1:t>import codegenNativeCommands from 'react-native/Libraries/Utilities/codegenNativeCommands';</ns1:t>
            </ns1:r>
          </ns1:p>
          <ns1:p>
            <ns1:pPr>
              <ns1:lnSpc>
                <ns1:spcPct val="130000"/>
              </ns1:lnSpc>
            </ns1:pPr>
            <ns1:r>
              <ns1:rPr lang="en-GB" sz="1600" dirty="0">
                <ns1:latin typeface="Consolas"/>
              </ns1:rPr>
              <ns1:t>import type { NativeProps } from './RTNVideoPlayerNativeComponent';</ns1:t>
            </ns1:r>
          </ns1:p>
          <ns1:p>
            <ns1:pPr>
              <ns1:lnSpc>
                <ns1:spcPct val="130000"/>
              </ns1:lnSpc>
            </ns1:pPr>
            <ns1:endParaRPr lang="en-GB" sz="1600" dirty="0"/>
          </ns1:p>
          <ns1:p>
            <ns1:pPr>
              <ns1:lnSpc>
                <ns1:spcPct val="130000"/>
              </ns1:lnSpc>
            </ns1:pPr>
            <ns1:r>
              <ns1:rPr lang="en-GB" sz="1600" dirty="0">
                <ns1:latin typeface="Consolas"/>
              </ns1:rPr>
              <ns1:t>type Ref = React.ElementRef&lt;HostComponent&lt;NativeProps&gt;&gt;;</ns1:t>
            </ns1:r>
          </ns1:p>
          <ns1:p>
            <ns1:pPr>
              <ns1:lnSpc>
                <ns1:spcPct val="130000"/>
              </ns1:lnSpc>
            </ns1:pPr>
            <ns1:endParaRPr lang="en-GB" sz="1600" dirty="0"/>
          </ns1:p>
          <ns1:p>
            <ns1:pPr>
              <ns1:lnSpc>
                <ns1:spcPct val="130000"/>
              </ns1:lnSpc>
            </ns1:pPr>
            <ns1:r>
              <ns1:rPr lang="en-GB" sz="1600" dirty="0">
                <ns1:latin typeface="Consolas"/>
              </ns1:rPr>
              <ns1:t>export const Commands = codegenNativeCommands&lt;{</ns1:t>
            </ns1:r>
          </ns1:p>
          <ns1:p>
            <ns1:pPr>
              <ns1:lnSpc>
                <ns1:spcPct val="130000"/>
              </ns1:lnSpc>
            </ns1:pPr>
            <ns1:r>
              <ns1:rPr lang="en-GB" sz="1600" dirty="0">
                <ns1:latin typeface="Consolas"/>
              </ns1:rPr>
              <ns1:t>  play:   (ref: Ref) =&gt; void;</ns1:t>
            </ns1:r>
          </ns1:p>
          <ns1:p>
            <ns1:pPr>
              <ns1:lnSpc>
                <ns1:spcPct val="130000"/>
              </ns1:lnSpc>
            </ns1:pPr>
            <ns1:r>
              <ns1:rPr lang="en-GB" sz="1600" dirty="0">
                <ns1:latin typeface="Consolas"/>
              </ns1:rPr>
              <ns1:t>  pause:  (ref: Ref) =&gt; void;</ns1:t>
            </ns1:r>
          </ns1:p>
          <ns1:p>
            <ns1:pPr>
              <ns1:lnSpc>
                <ns1:spcPct val="130000"/>
              </ns1:lnSpc>
            </ns1:pPr>
            <ns1:r>
              <ns1:rPr lang="en-GB" sz="1600" dirty="0">
                <ns1:latin typeface="Consolas"/>
              </ns1:rPr>
              <ns1:t>  seekTo: (ref: Ref, time: Double) =&gt; void;</ns1:t>
            </ns1:r>
          </ns1:p>
          <ns1:p>
            <ns1:pPr>
              <ns1:lnSpc>
                <ns1:spcPct val="130000"/>
              </ns1:lnSpc>
            </ns1:pPr>
            <ns1:r>
              <ns1:rPr lang="en-GB" sz="1600" dirty="0">
                <ns1:latin typeface="Consolas"/>
              </ns1:rPr>
              <ns1:t>}&gt;({ supportedCommands: ['play', 'pause', 'seekTo'] });</ns1:t>
            </ns1:r>
          </ns1:p>
          <ns1:p>
            <ns1:pPr>
              <ns1:lnSpc>
                <ns1:spcPct val="130000"/>
              </ns1:lnSpc>
            </ns1:pPr>
            <ns1:endParaRPr lang="en-GB" sz="1600" dirty="0"/>
          </ns1:p>
          <ns1:p>
            <ns1:pPr>
              <ns1:lnSpc>
                <ns1:spcPct val="130000"/>
              </ns1:lnSpc>
            </ns1:pPr>
            <ns1:r>
              <ns1:rPr lang="en-GB" sz="1500" dirty="0"/>
              <ns1:t>ⓘ  </ns1:t>
            </ns1:r>
            <ns1:r>
              <ns1:rPr lang="en-GB" sz="1500" b="1" dirty="0"/>
              <ns1:t>supportedCommands</ns1:t>
            </ns1:r>
            <ns1:r>
              <ns1:rPr lang="en-GB" sz="1500" dirty="0"/>
              <ns1:t> must match the function keys. First arg is always a ref. iOS dispatches via </ns1:t>
            </ns1:r>
            <ns1:r>
              <ns1:rPr lang="en-GB" sz="1500" dirty="0">
                <ns1:latin typeface="Consolas"/>
              </ns1:rPr>
              <ns1:t>handleCommand:args:</ns1:t>
            </ns1:r>
            <ns1:r>
              <ns1:rPr lang="en-GB" sz="1500" dirty="0"/>
              <ns1:t>; Android via the generated delegate interface.</ns1:t>
            </ns1:r>
          </ns1:p>
        </ns0:txBody>
      </ns0:sp>
    </ns0:spTree>
  </ns0:cSld>
  <ns0:clrMapOvr>
    <ns1:masterClrMapping/>
  </ns0:clrMapOvr>
  <ns0:transition/>
</ns0:sld>
</file>

<file path=ppt/slides/slide21.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4" name="Title 3"/>
          <ns0:cNvSpPr>
            <ns1:spLocks noGrp="1"/>
          </ns0:cNvSpPr>
          <ns0:nvPr>
            <ns0:ph type="title"/>
          </ns0:nvPr>
        </ns0:nvSpPr>
        <ns0:spPr>
          <ns1:xfrm>
            <ns1:off x="1965434" y="551058"/>
            <ns1:ext cx="9217574" cy="738664"/>
          </ns1:xfrm>
        </ns0:spPr>
        <ns0:txBody>
          <ns1:bodyPr/>
          <ns1:lstStyle/>
          <ns1:p>
            <ns1:r>
              <ns1:rPr lang="en-GB" sz="3600" dirty="0"/>
              <ns1:t>JS wrapper — VideoPlayer.tsx</ns1:t>
            </ns1:r>
          </ns1:p>
        </ns0:txBody>
      </ns0:sp>
      <ns0:sp>
        <ns0:nvSpPr>
          <ns0:cNvPr id="9" name="TextBox 8"/>
          <ns0:cNvSpPr txBox="1"/>
          <ns0:nvPr/>
        </ns0:nvSpPr>
        <ns0:spPr>
          <ns1:xfrm>
            <ns1:off x="542347" y="1500000"/>
            <ns1:ext cx="11100000" cy="4700000"/>
          </ns1:xfrm>
          <ns1:prstGeom prst="rect">
            <ns1:avLst/>
          </ns1:prstGeom>
          <ns1:noFill/>
        </ns0:spPr>
        <ns0:txBody>
          <ns1:bodyPr wrap="square">
            <ns1:spAutoFit/>
          </ns1:bodyPr>
          <ns1:lstStyle/>
          <ns1:p>
            <ns1:pPr>
              <ns1:lnSpc>
                <ns1:spcPct val="115000"/>
              </ns1:lnSpc>
            </ns1:pPr>
            <ns1:r>
              <ns1:rPr lang="en-GB" sz="1300" dirty="0">
                <ns1:latin typeface="Consolas"/>
              </ns1:rPr>
              <ns1:t>// src/components/VideoPlayer.tsx</ns1:t>
            </ns1:r>
          </ns1:p>
          <ns1:p>
            <ns1:pPr>
              <ns1:lnSpc>
                <ns1:spcPct val="115000"/>
              </ns1:lnSpc>
            </ns1:pPr>
            <ns1:r>
              <ns1:rPr lang="en-GB" sz="1300" dirty="0">
                <ns1:latin typeface="Consolas"/>
              </ns1:rPr>
              <ns1:t>import RTNVideoPlayer from '../specs/RTNVideoPlayerNativeComponent';</ns1:t>
            </ns1:r>
          </ns1:p>
          <ns1:p>
            <ns1:pPr>
              <ns1:lnSpc>
                <ns1:spcPct val="115000"/>
              </ns1:lnSpc>
            </ns1:pPr>
            <ns1:r>
              <ns1:rPr lang="en-GB" sz="1300" dirty="0">
                <ns1:latin typeface="Consolas"/>
              </ns1:rPr>
              <ns1:t>import { Commands } from '../specs/RTNVideoPlayerCommands';</ns1:t>
            </ns1:r>
          </ns1:p>
          <ns1:p>
            <ns1:pPr>
              <ns1:lnSpc>
                <ns1:spcPct val="115000"/>
              </ns1:lnSpc>
            </ns1:pPr>
            <ns1:endParaRPr lang="en-GB" sz="1300" dirty="0"/>
          </ns1:p>
          <ns1:p>
            <ns1:pPr>
              <ns1:lnSpc>
                <ns1:spcPct val="115000"/>
              </ns1:lnSpc>
            </ns1:pPr>
            <ns1:r>
              <ns1:rPr lang="en-GB" sz="1300" dirty="0">
                <ns1:latin typeface="Consolas"/>
              </ns1:rPr>
              <ns1:t>export interface VideoPlayerRef { play(): void; pause(): void; seekTo(t: number): void; }</ns1:t>
            </ns1:r>
          </ns1:p>
          <ns1:p>
            <ns1:pPr>
              <ns1:lnSpc>
                <ns1:spcPct val="115000"/>
              </ns1:lnSpc>
            </ns1:pPr>
            <ns1:endParaRPr lang="en-GB" sz="1300" dirty="0"/>
          </ns1:p>
          <ns1:p>
            <ns1:pPr>
              <ns1:lnSpc>
                <ns1:spcPct val="115000"/>
              </ns1:lnSpc>
            </ns1:pPr>
            <ns1:r>
              <ns1:rPr lang="en-GB" sz="1300" dirty="0">
                <ns1:latin typeface="Consolas"/>
              </ns1:rPr>
              <ns1:t>export const VideoPlayer = forwardRef&lt;VideoPlayerRef, VideoPlayerProps&gt;(</ns1:t>
            </ns1:r>
          </ns1:p>
          <ns1:p>
            <ns1:pPr>
              <ns1:lnSpc>
                <ns1:spcPct val="115000"/>
              </ns1:lnSpc>
            </ns1:pPr>
            <ns1:r>
              <ns1:rPr lang="en-GB" sz="1300" dirty="0">
                <ns1:latin typeface="Consolas"/>
              </ns1:rPr>
              <ns1:t>  ({ sourceUrl, paused, style, onProgress, onEnd }, ref) =&gt; {</ns1:t>
            </ns1:r>
          </ns1:p>
          <ns1:p>
            <ns1:pPr>
              <ns1:lnSpc>
                <ns1:spcPct val="115000"/>
              </ns1:lnSpc>
            </ns1:pPr>
            <ns1:r>
              <ns1:rPr lang="en-GB" sz="1300" dirty="0">
                <ns1:latin typeface="Consolas"/>
              </ns1:rPr>
              <ns1:t>  const nativeRef = useRef&lt;React.ElementRef&lt;typeof RTNVideoPlayer&gt;&gt;(null);</ns1:t>
            </ns1:r>
          </ns1:p>
          <ns1:p>
            <ns1:pPr>
              <ns1:lnSpc>
                <ns1:spcPct val="115000"/>
              </ns1:lnSpc>
            </ns1:pPr>
            <ns1:endParaRPr lang="en-GB" sz="1300" dirty="0"/>
          </ns1:p>
          <ns1:p>
            <ns1:pPr>
              <ns1:lnSpc>
                <ns1:spcPct val="115000"/>
              </ns1:lnSpc>
            </ns1:pPr>
            <ns1:r>
              <ns1:rPr lang="en-GB" sz="1300" dirty="0">
                <ns1:latin typeface="Consolas"/>
              </ns1:rPr>
              <ns1:t>  useImperativeHandle(ref, () =&gt; ({</ns1:t>
            </ns1:r>
          </ns1:p>
          <ns1:p>
            <ns1:pPr>
              <ns1:lnSpc>
                <ns1:spcPct val="115000"/>
              </ns1:lnSpc>
            </ns1:pPr>
            <ns1:r>
              <ns1:rPr lang="en-GB" sz="1300" dirty="0">
                <ns1:latin typeface="Consolas"/>
              </ns1:rPr>
              <ns1:t>    play:   () =&gt; nativeRef.current &amp;&amp; Commands.play(nativeRef.current),</ns1:t>
            </ns1:r>
          </ns1:p>
          <ns1:p>
            <ns1:pPr>
              <ns1:lnSpc>
                <ns1:spcPct val="115000"/>
              </ns1:lnSpc>
            </ns1:pPr>
            <ns1:r>
              <ns1:rPr lang="en-GB" sz="1300" dirty="0">
                <ns1:latin typeface="Consolas"/>
              </ns1:rPr>
              <ns1:t>    pause:  () =&gt; nativeRef.current &amp;&amp; Commands.pause(nativeRef.current),</ns1:t>
            </ns1:r>
          </ns1:p>
          <ns1:p>
            <ns1:pPr>
              <ns1:lnSpc>
                <ns1:spcPct val="115000"/>
              </ns1:lnSpc>
            </ns1:pPr>
            <ns1:r>
              <ns1:rPr lang="en-GB" sz="1300" dirty="0">
                <ns1:latin typeface="Consolas"/>
              </ns1:rPr>
              <ns1:t>    seekTo: (t) =&gt; nativeRef.current &amp;&amp; Commands.seekTo(nativeRef.current, t),</ns1:t>
            </ns1:r>
          </ns1:p>
          <ns1:p>
            <ns1:pPr>
              <ns1:lnSpc>
                <ns1:spcPct val="115000"/>
              </ns1:lnSpc>
            </ns1:pPr>
            <ns1:r>
              <ns1:rPr lang="en-GB" sz="1300" dirty="0">
                <ns1:latin typeface="Consolas"/>
              </ns1:rPr>
              <ns1:t>  }), []);</ns1:t>
            </ns1:r>
          </ns1:p>
          <ns1:p>
            <ns1:pPr>
              <ns1:lnSpc>
                <ns1:spcPct val="115000"/>
              </ns1:lnSpc>
            </ns1:pPr>
            <ns1:endParaRPr lang="en-GB" sz="1300" dirty="0"/>
          </ns1:p>
          <ns1:p>
            <ns1:pPr>
              <ns1:lnSpc>
                <ns1:spcPct val="115000"/>
              </ns1:lnSpc>
            </ns1:pPr>
            <ns1:r>
              <ns1:rPr lang="en-GB" sz="1300" dirty="0">
                <ns1:latin typeface="Consolas"/>
              </ns1:rPr>
              <ns1:t>  return &lt;RTNVideoPlayer ref={nativeRef} sourceUrl={sourceUrl} paused={paused} style={style}</ns1:t>
            </ns1:r>
          </ns1:p>
          <ns1:p>
            <ns1:pPr>
              <ns1:lnSpc>
                <ns1:spcPct val="115000"/>
              </ns1:lnSpc>
            </ns1:pPr>
            <ns1:r>
              <ns1:rPr lang="en-GB" sz="1300" dirty="0">
                <ns1:latin typeface="Consolas"/>
              </ns1:rPr>
              <ns1:t>    onVideoProgress={onProgress &amp;&amp; (e =&gt; onProgress(e.nativeEvent))}</ns1:t>
            </ns1:r>
          </ns1:p>
          <ns1:p>
            <ns1:pPr>
              <ns1:lnSpc>
                <ns1:spcPct val="115000"/>
              </ns1:lnSpc>
            </ns1:pPr>
            <ns1:r>
              <ns1:rPr lang="en-GB" sz="1300" dirty="0">
                <ns1:latin typeface="Consolas"/>
              </ns1:rPr>
              <ns1:t>    onVideoEnd={onEnd &amp;&amp; (() =&gt; onEnd())} /&gt;;</ns1:t>
            </ns1:r>
          </ns1:p>
          <ns1:p>
            <ns1:pPr>
              <ns1:lnSpc>
                <ns1:spcPct val="115000"/>
              </ns1:lnSpc>
            </ns1:pPr>
            <ns1:r>
              <ns1:rPr lang="en-GB" sz="1300" dirty="0">
                <ns1:latin typeface="Consolas"/>
              </ns1:rPr>
              <ns1:t>});</ns1:t>
            </ns1:r>
          </ns1:p>
        </ns0:txBody>
      </ns0:sp>
    </ns0:spTree>
  </ns0:cSld>
  <ns0:clrMapOvr>
    <ns1:masterClrMapping/>
  </ns0:clrMapOvr>
  <ns0:transition/>
</ns0:sld>
</file>

<file path=ppt/slides/slide22.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4" name="Title 3"/>
          <ns0:cNvSpPr>
            <ns1:spLocks noGrp="1"/>
          </ns0:cNvSpPr>
          <ns0:nvPr>
            <ns0:ph type="title"/>
          </ns0:nvPr>
        </ns0:nvSpPr>
        <ns0:spPr>
          <ns1:xfrm>
            <ns1:off x="1965434" y="551058"/>
            <ns1:ext cx="9217574" cy="738664"/>
          </ns1:xfrm>
        </ns0:spPr>
        <ns0:txBody>
          <ns1:bodyPr/>
          <ns1:lstStyle/>
          <ns1:p>
            <ns1:r>
              <ns1:rPr lang="en-GB" sz="3600" dirty="0"/>
              <ns1:t>Consumer — App.tsx</ns1:t>
            </ns1:r>
          </ns1:p>
        </ns0:txBody>
      </ns0:sp>
      <ns0:sp>
        <ns0:nvSpPr>
          <ns0:cNvPr id="9" name="TextBox 8"/>
          <ns0:cNvSpPr txBox="1"/>
          <ns0:nvPr/>
        </ns0:nvSpPr>
        <ns0:spPr>
          <ns1:xfrm>
            <ns1:off x="542347" y="1500000"/>
            <ns1:ext cx="11100000" cy="4600000"/>
          </ns1:xfrm>
          <ns1:prstGeom prst="rect">
            <ns1:avLst/>
          </ns1:prstGeom>
          <ns1:noFill/>
        </ns0:spPr>
        <ns0:txBody>
          <ns1:bodyPr wrap="square">
            <ns1:spAutoFit/>
          </ns1:bodyPr>
          <ns1:lstStyle/>
          <ns1:p>
            <ns1:pPr>
              <ns1:lnSpc>
                <ns1:spcPct val="130000"/>
              </ns1:lnSpc>
            </ns1:pPr>
            <ns1:r>
              <ns1:rPr lang="en-GB" sz="1500" dirty="0">
                <ns1:latin typeface="Consolas"/>
              </ns1:rPr>
              <ns1:t>const playerRef = useRef&lt;VideoPlayerRef&gt;(null);</ns1:t>
            </ns1:r>
          </ns1:p>
          <ns1:p>
            <ns1:pPr>
              <ns1:lnSpc>
                <ns1:spcPct val="130000"/>
              </ns1:lnSpc>
            </ns1:pPr>
            <ns1:endParaRPr lang="en-GB" sz="1500" dirty="0"/>
          </ns1:p>
          <ns1:p>
            <ns1:pPr>
              <ns1:lnSpc>
                <ns1:spcPct val="130000"/>
              </ns1:lnSpc>
            </ns1:pPr>
            <ns1:r>
              <ns1:rPr lang="en-GB" sz="1500" dirty="0">
                <ns1:latin typeface="Consolas"/>
              </ns1:rPr>
              <ns1:t>&lt;VideoPlayer</ns1:t>
            </ns1:r>
          </ns1:p>
          <ns1:p>
            <ns1:pPr>
              <ns1:lnSpc>
                <ns1:spcPct val="130000"/>
              </ns1:lnSpc>
            </ns1:pPr>
            <ns1:r>
              <ns1:rPr lang="en-GB" sz="1500" dirty="0">
                <ns1:latin typeface="Consolas"/>
              </ns1:rPr>
              <ns1:t>  ref={playerRef}</ns1:t>
            </ns1:r>
          </ns1:p>
          <ns1:p>
            <ns1:pPr>
              <ns1:lnSpc>
                <ns1:spcPct val="130000"/>
              </ns1:lnSpc>
            </ns1:pPr>
            <ns1:r>
              <ns1:rPr lang="en-GB" sz="1500" dirty="0">
                <ns1:latin typeface="Consolas"/>
              </ns1:rPr>
              <ns1:t>  style={{ width: '100%', aspectRatio: 16 / 9 }}</ns1:t>
            </ns1:r>
          </ns1:p>
          <ns1:p>
            <ns1:pPr>
              <ns1:lnSpc>
                <ns1:spcPct val="130000"/>
              </ns1:lnSpc>
            </ns1:pPr>
            <ns1:r>
              <ns1:rPr lang="en-GB" sz="1500" dirty="0">
                <ns1:latin typeface="Consolas"/>
              </ns1:rPr>
              <ns1:t>  sourceUrl="https://.../BigBuckBunny.mp4"</ns1:t>
            </ns1:r>
          </ns1:p>
          <ns1:p>
            <ns1:pPr>
              <ns1:lnSpc>
                <ns1:spcPct val="130000"/>
              </ns1:lnSpc>
            </ns1:pPr>
            <ns1:r>
              <ns1:rPr lang="en-GB" sz="1500" dirty="0">
                <ns1:latin typeface="Consolas"/>
              </ns1:rPr>
              <ns1:t>  paused={paused}</ns1:t>
            </ns1:r>
          </ns1:p>
          <ns1:p>
            <ns1:pPr>
              <ns1:lnSpc>
                <ns1:spcPct val="130000"/>
              </ns1:lnSpc>
            </ns1:pPr>
            <ns1:r>
              <ns1:rPr lang="en-GB" sz="1500" dirty="0">
                <ns1:latin typeface="Consolas"/>
              </ns1:rPr>
              <ns1:t>  onProgress={e =&gt; setProgress(e.progress)}</ns1:t>
            </ns1:r>
          </ns1:p>
          <ns1:p>
            <ns1:pPr>
              <ns1:lnSpc>
                <ns1:spcPct val="130000"/>
              </ns1:lnSpc>
            </ns1:pPr>
            <ns1:r>
              <ns1:rPr lang="en-GB" sz="1500" dirty="0">
                <ns1:latin typeface="Consolas"/>
              </ns1:rPr>
              <ns1:t>  onEnd={() =&gt; setPaused(true)}</ns1:t>
            </ns1:r>
          </ns1:p>
          <ns1:p>
            <ns1:pPr>
              <ns1:lnSpc>
                <ns1:spcPct val="130000"/>
              </ns1:lnSpc>
            </ns1:pPr>
            <ns1:r>
              <ns1:rPr lang="en-GB" sz="1500" dirty="0">
                <ns1:latin typeface="Consolas"/>
              </ns1:rPr>
              <ns1:t>/&gt;</ns1:t>
            </ns1:r>
          </ns1:p>
          <ns1:p>
            <ns1:pPr>
              <ns1:lnSpc>
                <ns1:spcPct val="130000"/>
              </ns1:lnSpc>
            </ns1:pPr>
            <ns1:endParaRPr lang="en-GB" sz="1500" dirty="0"/>
          </ns1:p>
          <ns1:p>
            <ns1:pPr>
              <ns1:lnSpc>
                <ns1:spcPct val="130000"/>
              </ns1:lnSpc>
            </ns1:pPr>
            <ns1:r>
              <ns1:rPr lang="en-GB" sz="1500" dirty="0">
                <ns1:latin typeface="Consolas"/>
              </ns1:rPr>
              <ns1:t>&lt;Button title="Play"  onPress={() =&gt; playerRef.current?.play()} /&gt;</ns1:t>
            </ns1:r>
          </ns1:p>
          <ns1:p>
            <ns1:pPr>
              <ns1:lnSpc>
                <ns1:spcPct val="130000"/>
              </ns1:lnSpc>
            </ns1:pPr>
            <ns1:r>
              <ns1:rPr lang="en-GB" sz="1500" dirty="0">
                <ns1:latin typeface="Consolas"/>
              </ns1:rPr>
              <ns1:t>&lt;Button title="Pause" onPress={() =&gt; playerRef.current?.pause()} /&gt;</ns1:t>
            </ns1:r>
          </ns1:p>
          <ns1:p>
            <ns1:pPr>
              <ns1:lnSpc>
                <ns1:spcPct val="130000"/>
              </ns1:lnSpc>
            </ns1:pPr>
            <ns1:r>
              <ns1:rPr lang="en-GB" sz="1500" dirty="0">
                <ns1:latin typeface="Consolas"/>
              </ns1:rPr>
              <ns1:t>&lt;Button title="+10s"  onPress={() =&gt; playerRef.current?.seekTo(currentTime + 10)} /&gt;</ns1:t>
            </ns1:r>
          </ns1:p>
          <ns1:p>
            <ns1:pPr>
              <ns1:lnSpc>
                <ns1:spcPct val="130000"/>
              </ns1:lnSpc>
            </ns1:pPr>
            <ns1:endParaRPr lang="en-GB" sz="1500" dirty="0"/>
          </ns1:p>
          <ns1:p>
            <ns1:pPr>
              <ns1:lnSpc>
                <ns1:spcPct val="130000"/>
              </ns1:lnSpc>
            </ns1:pPr>
            <ns1:r>
              <ns1:rPr lang="en-GB" sz="1400" dirty="0"/>
              <ns1:t>ⓘ  Props drive declarative state (source, paused). Commands cover imperative gestures (seek, one-shot play). Events report what the native player actually did.</ns1:t>
            </ns1:r>
          </ns1:p>
        </ns0:txBody>
      </ns0:sp>
    </ns0:spTree>
  </ns0:cSld>
  <ns0:clrMapOvr>
    <ns1:masterClrMapping/>
  </ns0:clrMapOvr>
  <ns0:transition/>
</ns0:sld>
</file>

<file path=ppt/slides/slide23.xml><?xml version="1.0" encoding="utf-8"?>
<sld xmlns="http://schemas.openxmlformats.org/presentationml/2006/main" xmlns:a="http://schemas.openxmlformats.org/drawingml/2006/main">
  <cSld>
    <spTree>
      <nvGrpSpPr>
        <cNvPr id="1" name=""/>
        <cNvGrpSpPr/>
        <nvPr/>
      </nvGrpSpPr>
      <grpSpPr>
        <a:xfrm>
          <a:off x="0" y="0"/>
          <a:ext cx="0" cy="0"/>
          <a:chOff x="0" y="0"/>
          <a:chExt cx="0" cy="0"/>
        </a:xfrm>
      </grpSpPr>
      <sp>
        <nvSpPr>
          <cNvPr id="4" name="Title 3"/>
          <cNvSpPr>
            <a:spLocks noGrp="1"/>
          </cNvSpPr>
          <nvPr>
            <ph type="title"/>
          </nvPr>
        </nvSpPr>
        <spPr>
          <a:xfrm>
            <a:off x="1965434" y="551058"/>
            <a:ext cx="9217574" cy="738664"/>
          </a:xfrm>
        </spPr>
        <txBody>
          <a:bodyPr/>
          <a:lstStyle/>
          <a:p>
            <a:r>
              <a:rPr lang="en-GB" sz="3600" dirty="0"/>
              <a:t>Follow along: branches &amp; versions</a:t>
            </a:r>
          </a:p>
        </txBody>
      </sp>
      <sp>
        <nvSpPr>
          <cNvPr id="2" name="Text Placeholder 1"/>
          <cNvSpPr>
            <a:spLocks noGrp="1"/>
          </cNvSpPr>
          <nvPr>
            <ph type="body" sz="quarter" idx="11"/>
          </nvPr>
        </nvSpPr>
        <spPr>
          <a:xfrm>
            <a:off x="500305" y="1471448"/>
            <a:ext cx="11200000" cy="4943020"/>
          </a:xfrm>
        </spPr>
        <txBody>
          <a:bodyPr/>
          <a:lstStyle/>
          <a:p>
            <a:pPr>
              <a:lnSpc>
                <a:spcPct val="130000"/>
              </a:lnSpc>
            </a:pPr>
            <a:r>
              <a:rPr lang="en-GB" sz="2000" b="1" dirty="0"/>
              <a:t>Stack: React Native 0.82 • React 19 • New Architecture (Fabric) • iOS AVPlayer • Android Media3 ExoPlayer</a:t>
            </a:r>
            <a:r>
              <a:rPr lang="en-GB" sz="2000" dirty="0"/>
              <a:t/>
            </a:r>
          </a:p>
          <a:p>
            <a:pPr>
              <a:lnSpc>
                <a:spcPct val="130000"/>
              </a:lnSpc>
            </a:pPr>
            <a:endParaRPr lang="en-GB" sz="2000" dirty="0"/>
          </a:p>
          <a:p>
            <a:pPr>
              <a:lnSpc>
                <a:spcPct val="130000"/>
              </a:lnSpc>
            </a:pPr>
            <a:r>
              <a:rPr lang="en-GB" sz="2000" b="1" dirty="0"/>
              <a:t>Each section of this lecture maps to a git branch:</a:t>
            </a:r>
          </a:p>
          <a:p>
            <a:pPr marL="285750" indent="-285750">
              <a:lnSpc>
                <a:spcPct val="130000"/>
              </a:lnSpc>
              <a:buFont typeface="Arial" panose="020B0604020202020204" pitchFamily="34" charset="0"/>
              <a:buChar char="•"/>
            </a:pPr>
            <a:r>
              <a:rPr lang="en-GB" sz="1800" b="1" dirty="0">
                <a:latin typeface="Consolas"/>
              </a:rPr>
              <a:t>step-0-scaffold  — clean RN 0.82 project</a:t>
            </a:r>
            <a:r>
              <a:rPr lang="en-GB" sz="1800" dirty="0"/>
              <a:t/>
            </a:r>
          </a:p>
          <a:p>
            <a:pPr marL="285750" indent="-285750">
              <a:lnSpc>
                <a:spcPct val="130000"/>
              </a:lnSpc>
              <a:buFont typeface="Arial" panose="020B0604020202020204" pitchFamily="34" charset="0"/>
              <a:buChar char="•"/>
            </a:pPr>
            <a:r>
              <a:rPr lang="en-GB" sz="1800" b="1" dirty="0">
                <a:latin typeface="Consolas"/>
              </a:rPr>
              <a:t>step-1-js-spec  — TypeScript component spec + initial JS wrapper + Codegen config</a:t>
            </a:r>
            <a:r>
              <a:rPr lang="en-GB" sz="1800" dirty="0"/>
              <a:t/>
            </a:r>
          </a:p>
          <a:p>
            <a:pPr marL="285750" indent="-285750">
              <a:lnSpc>
                <a:spcPct val="130000"/>
              </a:lnSpc>
              <a:buFont typeface="Arial" panose="020B0604020202020204" pitchFamily="34" charset="0"/>
              <a:buChar char="•"/>
            </a:pPr>
            <a:r>
              <a:rPr lang="en-GB" sz="1800" b="1" dirty="0">
                <a:latin typeface="Consolas"/>
              </a:rPr>
              <a:t>step-2-ios  — iOS ComponentView + Swift AVPlayer + app-level Fabric registration</a:t>
            </a:r>
            <a:r>
              <a:rPr lang="en-GB" sz="1800" dirty="0"/>
              <a:t/>
            </a:r>
          </a:p>
          <a:p>
            <a:pPr marL="285750" indent="-285750">
              <a:lnSpc>
                <a:spcPct val="130000"/>
              </a:lnSpc>
              <a:buFont typeface="Arial" panose="020B0604020202020204" pitchFamily="34" charset="0"/>
              <a:buChar char="•"/>
            </a:pPr>
            <a:r>
              <a:rPr lang="en-GB" sz="1800" b="1" dirty="0">
                <a:latin typeface="Consolas"/>
              </a:rPr>
              <a:t>step-3-android  — Android ViewManager + Media3 ExoPlayer + manual package registration</a:t>
            </a:r>
            <a:r>
              <a:rPr lang="en-GB" sz="1800" dirty="0"/>
              <a:t/>
            </a:r>
          </a:p>
          <a:p>
            <a:pPr marL="285750" indent="-285750">
              <a:lnSpc>
                <a:spcPct val="130000"/>
              </a:lnSpc>
              <a:buFont typeface="Arial" panose="020B0604020202020204" pitchFamily="34" charset="0"/>
              <a:buChar char="•"/>
            </a:pPr>
            <a:r>
              <a:rPr lang="en-GB" sz="1800" b="1" dirty="0">
                <a:latin typeface="Consolas"/>
              </a:rPr>
              <a:t>step-4-usage  — App.tsx consumer / basic demo screen</a:t>
            </a:r>
            <a:r>
              <a:rPr lang="en-GB" sz="1800" dirty="0"/>
              <a:t/>
            </a:r>
          </a:p>
          <a:p>
            <a:pPr marL="285750" indent="-285750">
              <a:lnSpc>
                <a:spcPct val="130000"/>
              </a:lnSpc>
              <a:buFont typeface="Arial" panose="020B0604020202020204" pitchFamily="34" charset="0"/>
              <a:buChar char="•"/>
            </a:pPr>
            <a:r>
              <a:rPr lang="en-GB" sz="1800" b="1" dirty="0">
                <a:latin typeface="Consolas"/>
              </a:rPr>
              <a:t>step-5-events  — DirectEventHandler progress &amp; end</a:t>
            </a:r>
            <a:r>
              <a:rPr lang="en-GB" sz="1800" dirty="0"/>
              <a:t/>
            </a:r>
          </a:p>
          <a:p>
            <a:pPr marL="285750" indent="-285750">
              <a:lnSpc>
                <a:spcPct val="130000"/>
              </a:lnSpc>
              <a:buFont typeface="Arial" panose="020B0604020202020204" pitchFamily="34" charset="0"/>
              <a:buChar char="•"/>
            </a:pPr>
            <a:r>
              <a:rPr lang="en-GB" sz="1800" b="1" dirty="0">
                <a:latin typeface="Consolas"/>
              </a:rPr>
              <a:t>step-6-commands  — imperative play / pause / seekTo</a:t>
            </a:r>
            <a:r>
              <a:rPr lang="en-GB" sz="1800" dirty="0"/>
              <a:t/>
            </a:r>
          </a:p>
          <a:p>
            <a:pPr marL="285750" indent="-285750">
              <a:lnSpc>
                <a:spcPct val="130000"/>
              </a:lnSpc>
              <a:buFont typeface="Arial" panose="020B0604020202020204" pitchFamily="34" charset="0"/>
              <a:buChar char="•"/>
            </a:pPr>
            <a:r>
              <a:rPr lang="en-GB" sz="1800" b="1" dirty="0">
                <a:latin typeface="Consolas"/>
              </a:rPr>
              <a:t>main  — complete working example</a:t>
            </a:r>
            <a:r>
              <a:rPr lang="en-GB" sz="1800" dirty="0"/>
              <a:t/>
            </a:r>
          </a:p>
        </txBody>
      </sp>
    </spTree>
  </cSld>
  <clrMapOvr>
    <a:masterClrMapping/>
  </clrMapOvr>
  <transition/>
</sld>
</file>

<file path=ppt/slides/slide24.xml><?xml version="1.0" encoding="utf-8"?>
<sld xmlns="http://schemas.openxmlformats.org/presentationml/2006/main" xmlns:a="http://schemas.openxmlformats.org/drawingml/2006/main">
  <cSld>
    <spTree>
      <nvGrpSpPr>
        <cNvPr id="1" name=""/>
        <cNvGrpSpPr/>
        <nvPr/>
      </nvGrpSpPr>
      <grpSpPr>
        <a:xfrm>
          <a:off x="0" y="0"/>
          <a:ext cx="0" cy="0"/>
          <a:chOff x="0" y="0"/>
          <a:chExt cx="0" cy="0"/>
        </a:xfrm>
      </grpSpPr>
      <sp>
        <nvSpPr>
          <cNvPr id="4" name="Title 3"/>
          <cNvSpPr>
            <a:spLocks noGrp="1"/>
          </cNvSpPr>
          <nvPr>
            <ph type="title"/>
          </nvPr>
        </nvSpPr>
        <spPr>
          <a:xfrm>
            <a:off x="466165" y="1900000"/>
            <a:ext cx="11200000" cy="1400000"/>
          </a:xfrm>
        </spPr>
        <txBody>
          <a:bodyPr/>
          <a:lstStyle/>
          <a:p>
            <a:r>
              <a:rPr lang="en-US" dirty="0"/>
              <a:t>Appendix</a:t>
            </a:r>
          </a:p>
        </txBody>
      </sp>
      <sp>
        <nvSpPr>
          <cNvPr id="2" name="Text Placeholder 1"/>
          <cNvSpPr>
            <a:spLocks noGrp="1"/>
          </cNvSpPr>
          <nvPr>
            <ph type="body" sz="quarter" idx="11"/>
          </nvPr>
        </nvSpPr>
        <spPr>
          <a:xfrm>
            <a:off x="468775" y="3500000"/>
            <a:ext cx="11200000" cy="2300000"/>
          </a:xfrm>
        </spPr>
        <txBody>
          <a:bodyPr/>
          <a:lstStyle/>
          <a:p>
            <a:pPr>
              <a:lnSpc>
                <a:spcPct val="140000"/>
              </a:lnSpc>
            </a:pPr>
            <a:r>
              <a:rPr lang="en-GB" sz="2400" b="1" dirty="0"/>
              <a:t>Embedding RN inside native apps (reference appendix)</a:t>
            </a:r>
          </a:p>
          <a:p>
            <a:pPr>
              <a:lnSpc>
                <a:spcPct val="140000"/>
              </a:lnSpc>
            </a:pPr>
            <a:r>
              <a:rPr lang="en-GB" sz="2000" dirty="0"/>
              <a:t>Brownfield integration, feature islands, and hosting RN surfaces inside an existing UIKit / Android native app.</a:t>
            </a:r>
          </a:p>
          <a:p>
            <a:pPr>
              <a:lnSpc>
                <a:spcPct val="140000"/>
              </a:lnSpc>
            </a:pPr>
            <a:endParaRPr lang="en-GB" sz="2000" dirty="0"/>
          </a:p>
          <a:p>
            <a:pPr>
              <a:lnSpc>
                <a:spcPct val="140000"/>
              </a:lnSpc>
            </a:pPr>
            <a:r>
              <a:rPr lang="en-GB" sz="1800" i="1" dirty="0"/>
              <a:t>General React Native brownfield reference — not part of this repo's VideoPlayer implementation path.</a:t>
            </a:r>
          </a:p>
        </txBody>
      </sp>
    </spTree>
  </cSld>
  <clrMapOvr>
    <a:masterClrMapping/>
  </clrMapOvr>
  <transition/>
</sld>
</file>

<file path=ppt/tags/tag1.xml><?xml version="1.0" encoding="utf-8"?>
<p:tagLst xmlns:a="http://schemas.openxmlformats.org/drawingml/2006/main" xmlns:r="http://schemas.openxmlformats.org/officeDocument/2006/relationships" xmlns:p="http://schemas.openxmlformats.org/presentationml/2006/main">
  <p:tag name="AS_NET" val="6.0.28"/>
  <p:tag name="AS_OS" val="Unix 6.5.0.1014"/>
  <p:tag name="AS_RELEASE_DATE" val="2024.02.14"/>
  <p:tag name="AS_TITLE" val="Aspose.Slides for .NET Standard 2.0"/>
  <p:tag name="AS_VERSION" val="24.2"/>
</p:tagLst>
</file>

<file path=ppt/theme/theme1.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PresalesTemplate" id="{B5A8C664-DF1B-D14B-AC6E-5525FFCFCC6E}" vid="{6D1060FC-A1D3-EA43-8323-3F78A2E59F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_rels/item4.xml.rels><?xml version="1.0" encoding="utf-8"?>
<Relationships xmlns="http://schemas.openxmlformats.org/package/2006/relationships">
  <Relationship Id="rId1" Type="http://schemas.openxmlformats.org/officeDocument/2006/relationships/customXmlProps" Target="itemProps4.xml"/>
</Relationships>

</file>

<file path=customXml/item1.xml><?xml version="1.0" encoding="utf-8"?>
<ct:contentTypeSchema xmlns:ct="http://schemas.microsoft.com/office/2006/metadata/contentType" xmlns:ma="http://schemas.microsoft.com/office/2006/metadata/properties/metaAttributes" ct:_="" ma:_="" ma:contentTypeName="EPAM Template" ma:contentTypeID="0x0101006F5799D5350E4747858630C5700DFDF00046CFA168D8AB1B4D937A734D2015792B" ma:contentTypeVersion="4" ma:contentTypeDescription="ECL EPAM Template CT" ma:contentTypeScope="" ma:versionID="3e46c49967fe6bc1ef07a9a4e4763266">
  <xsd:schema xmlns:xsd="http://www.w3.org/2001/XMLSchema" xmlns:xs="http://www.w3.org/2001/XMLSchema" xmlns:p="http://schemas.microsoft.com/office/2006/metadata/properties" xmlns:ns1="http://schemas.microsoft.com/sharepoint/v3" xmlns:ns2="a17c10a8-bd22-4f4b-9c5c-c3dc02494c46" xmlns:ns4="2f73596d-a490-4938-9ae7-6f2abd4edc7d" targetNamespace="http://schemas.microsoft.com/office/2006/metadata/properties" ma:root="true" ma:fieldsID="8dbb4452feda95d41a68f55f9310cbf0" ns1:_="" ns2:_="" ns4:_="">
    <xsd:import namespace="http://schemas.microsoft.com/sharepoint/v3"/>
    <xsd:import namespace="a17c10a8-bd22-4f4b-9c5c-c3dc02494c46"/>
    <xsd:import namespace="2f73596d-a490-4938-9ae7-6f2abd4edc7d"/>
    <xsd:element name="properties">
      <xsd:complexType>
        <xsd:sequence>
          <xsd:element name="documentManagement">
            <xsd:complexType>
              <xsd:all>
                <xsd:element ref="ns2:SubjectDoc" minOccurs="0"/>
                <xsd:element ref="ns2:EPAMDocumentID_x0020_" minOccurs="0"/>
                <xsd:element ref="ns2:LastApproverName" minOccurs="0"/>
                <xsd:element ref="ns2:LastApprovalDate" minOccurs="0"/>
                <xsd:element ref="ns2:BriefDescription" minOccurs="0"/>
                <xsd:element ref="ns2:OrganizationalUnit" minOccurs="0"/>
                <xsd:element ref="ns2:LocationCountry" minOccurs="0"/>
                <xsd:element ref="ns2:PageName" minOccurs="0"/>
                <xsd:element ref="ns2:WorkStorage" minOccurs="0"/>
                <xsd:element ref="ns2:Standards" minOccurs="0"/>
                <xsd:element ref="ns2:Subarea"/>
                <xsd:element ref="ns2:DocumentArea" minOccurs="0"/>
                <xsd:element ref="ns2:TemplatesTextContent" minOccurs="0"/>
                <xsd:element ref="ns1:Company" minOccurs="0"/>
                <xsd:element ref="ns2:Document_x0020_Approver_x0020__x0028_position_x0029_" minOccurs="0"/>
                <xsd:element ref="ns4:_dlc_DocIdPersistId" minOccurs="0"/>
                <xsd:element ref="ns4:_dlc_DocId" minOccurs="0"/>
                <xsd:element ref="ns2:Document_x0020_Owner_x0020__x0028_position_x0029_" minOccurs="0"/>
                <xsd:element ref="ns2:MediaServiceAutoKeyPoints" minOccurs="0"/>
                <xsd:element ref="ns2:MediaServiceKeyPoints" minOccurs="0"/>
                <xsd:element ref="ns2:SharedWithUsers" minOccurs="0"/>
                <xsd:element ref="ns2:SharedWithDetails" minOccurs="0"/>
                <xsd:element ref="ns4:_dlc_DocIdUrl" minOccurs="0"/>
                <xsd:element ref="ns2:MediaServiceObjectDetectorVersions" minOccurs="0"/>
                <xsd:element ref="ns2:MediaServiceSearchProperties" minOccurs="0"/>
                <xsd:element ref="ns2:FriendlyURL" minOccurs="0"/>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ompany" ma:index="15" nillable="true" ma:displayName="Company" ma:internalName="Company"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7c10a8-bd22-4f4b-9c5c-c3dc02494c46" elementFormDefault="qualified">
    <xsd:import namespace="http://schemas.microsoft.com/office/2006/documentManagement/types"/>
    <xsd:import namespace="http://schemas.microsoft.com/office/infopath/2007/PartnerControls"/>
    <xsd:element name="SubjectDoc" ma:index="1" nillable="true" ma:displayName="Artifact Type" ma:internalName="SubjectDoc" ma:readOnly="false">
      <xsd:simpleType>
        <xsd:restriction base="dms:Text">
          <xsd:maxLength value="255"/>
        </xsd:restriction>
      </xsd:simpleType>
    </xsd:element>
    <xsd:element name="EPAMDocumentID_x0020_" ma:index="2" nillable="true" ma:displayName="EPAM Document ID " ma:internalName="EPAMDocumentID_x0020_" ma:readOnly="false">
      <xsd:simpleType>
        <xsd:restriction base="dms:Text"/>
      </xsd:simpleType>
    </xsd:element>
    <xsd:element name="LastApproverName" ma:index="3" nillable="true" ma:displayName="Approver Name" ma:internalName="LastApproverName" ma:readOnly="false">
      <xsd:simpleType>
        <xsd:restriction base="dms:Text">
          <xsd:maxLength value="255"/>
        </xsd:restriction>
      </xsd:simpleType>
    </xsd:element>
    <xsd:element name="LastApprovalDate" ma:index="4" nillable="true" ma:displayName="Approval Date" ma:format="DateOnly" ma:internalName="LastApprovalDate" ma:readOnly="false">
      <xsd:simpleType>
        <xsd:restriction base="dms:DateTime"/>
      </xsd:simpleType>
    </xsd:element>
    <xsd:element name="BriefDescription" ma:index="5" nillable="true" ma:displayName="Brief Description" ma:internalName="BriefDescription" ma:readOnly="false">
      <xsd:simpleType>
        <xsd:restriction base="dms:Note"/>
      </xsd:simpleType>
    </xsd:element>
    <xsd:element name="OrganizationalUnit" ma:index="6" nillable="true" ma:displayName="Organizational Unit" ma:internalName="OrganizationalUnit"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LocationCountry" ma:index="7" nillable="true" ma:displayName="Location (Country)" ma:internalName="LocationCountry" ma:readOnly="false">
      <xsd:complexType>
        <xsd:complexContent>
          <xsd:extension base="dms:MultiChoice">
            <xsd:sequence>
              <xsd:element name="Value" maxOccurs="unbounded" minOccurs="0" nillable="true">
                <xsd:simpleType>
                  <xsd:restriction base="dms:Choice">
                    <xsd:enumeration value="Global"/>
                    <xsd:enumeration value="AM"/>
                    <xsd:enumeration value="BG"/>
                    <xsd:enumeration value="BY"/>
                    <xsd:enumeration value="CIS"/>
                    <xsd:enumeration value="CN"/>
                    <xsd:enumeration value="CZ"/>
                    <xsd:enumeration value="EU"/>
                    <xsd:enumeration value="IN"/>
                    <xsd:enumeration value="HU"/>
                    <xsd:enumeration value="KZ"/>
                    <xsd:enumeration value="MX"/>
                    <xsd:enumeration value="NL"/>
                    <xsd:enumeration value="PL"/>
                    <xsd:enumeration value="RU"/>
                    <xsd:enumeration value="UA"/>
                    <xsd:enumeration value="UK"/>
                    <xsd:enumeration value="US"/>
                  </xsd:restriction>
                </xsd:simpleType>
              </xsd:element>
            </xsd:sequence>
          </xsd:extension>
        </xsd:complexContent>
      </xsd:complexType>
    </xsd:element>
    <xsd:element name="PageName" ma:index="9" nillable="true" ma:displayName="Published Place" ma:format="Hyperlink" ma:internalName="PageNam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WorkStorage" ma:index="10" nillable="true" ma:displayName="Work Storage" ma:format="Hyperlink" ma:internalName="WorkStor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Standards" ma:index="11" nillable="true" ma:displayName="Standards" ma:default="ISO 9001" ma:internalName="Standards" ma:readOnly="false">
      <xsd:complexType>
        <xsd:complexContent>
          <xsd:extension base="dms:MultiChoice">
            <xsd:sequence>
              <xsd:element name="Value" maxOccurs="unbounded" minOccurs="0" nillable="true">
                <xsd:simpleType>
                  <xsd:restriction base="dms:Choice">
                    <xsd:enumeration value="ISO 9001"/>
                    <xsd:enumeration value="ISO 9001 PP"/>
                    <xsd:enumeration value="ISO/IEC 27001"/>
                    <xsd:enumeration value="ISO/IEC 27701"/>
                    <xsd:enumeration value="ISO 27001"/>
                    <xsd:enumeration value="ISO 27701"/>
                    <xsd:enumeration value="ISAE 3402 Type 2 / SOC1 Type 2"/>
                    <xsd:enumeration value="ISAE 3000 Type 2 / SOC2 Type 2"/>
                    <xsd:enumeration value="ISAE 3000 Type 2 / SOC3"/>
                    <xsd:enumeration value="ISO 14001"/>
                    <xsd:enumeration value="ISO 50001"/>
                    <xsd:enumeration value="ISO 13485"/>
                    <xsd:enumeration value="PCI-DSS"/>
                    <xsd:enumeration value="ISO 20000"/>
                    <xsd:enumeration value="ISO 31000"/>
                    <xsd:enumeration value="ISO 45001"/>
                    <xsd:enumeration value="ISO 62304"/>
                    <xsd:enumeration value="CMMI"/>
                    <xsd:enumeration value="SA 8000"/>
                    <xsd:enumeration value="SOX"/>
                    <xsd:enumeration value="ISO 14968"/>
                    <xsd:enumeration value="ISO 14971"/>
                    <xsd:enumeration value="ISO 80002-2"/>
                    <xsd:enumeration value="IEC 62304"/>
                    <xsd:enumeration value="21 CFR Part 820"/>
                    <xsd:enumeration value="Key ISMS"/>
                    <xsd:enumeration value="Key Data Privacy"/>
                    <xsd:enumeration value="LSH"/>
                    <xsd:enumeration value="###"/>
                  </xsd:restriction>
                </xsd:simpleType>
              </xsd:element>
            </xsd:sequence>
          </xsd:extension>
        </xsd:complexContent>
      </xsd:complexType>
    </xsd:element>
    <xsd:element name="Subarea" ma:index="12" ma:displayName="Subarea" ma:format="Dropdown" ma:internalName="Subarea" ma:readOnly="false">
      <xsd:simpleType>
        <xsd:restriction base="dms:Choice">
          <xsd:enumeration value="ISMS Management"/>
          <xsd:enumeration value="Physical Security"/>
          <xsd:enumeration value="Data Privacy"/>
          <xsd:enumeration value="Project/account security"/>
          <xsd:enumeration value="Software assets"/>
          <xsd:enumeration value="Hardware assets"/>
          <xsd:enumeration value="Access and network management"/>
          <xsd:enumeration value="Risk management"/>
          <xsd:enumeration value="IT &amp; IT Security services"/>
          <xsd:enumeration value="Change; management"/>
          <xsd:enumeration value="Application security"/>
          <xsd:enumeration value="People management"/>
          <xsd:enumeration value="Rules for users"/>
          <xsd:enumeration value="Internal audit"/>
          <xsd:enumeration value="Vendor management"/>
          <xsd:enumeration value="Location level regulatory documents"/>
          <xsd:enumeration value="Incident management"/>
          <xsd:enumeration value="Business Continuity"/>
          <xsd:enumeration value="###"/>
        </xsd:restriction>
      </xsd:simpleType>
    </xsd:element>
    <xsd:element name="DocumentArea" ma:index="13" nillable="true" ma:displayName="Document Area" ma:default="###" ma:internalName="DocumentArea">
      <xsd:complexType>
        <xsd:complexContent>
          <xsd:extension base="dms:MultiChoice">
            <xsd:sequence>
              <xsd:element name="Value" maxOccurs="unbounded" minOccurs="0" nillable="true">
                <xsd:simpleType>
                  <xsd:restriction base="dms:Choice">
                    <xsd:enumeration value="Access and Network Management"/>
                    <xsd:enumeration value="Application Security"/>
                    <xsd:enumeration value="Artifact Management"/>
                    <xsd:enumeration value="Business Continuity"/>
                    <xsd:enumeration value="Computerized System Validation"/>
                    <xsd:enumeration value="Corporate Governance"/>
                    <xsd:enumeration value="Corrective and Preventive Actions"/>
                    <xsd:enumeration value="Data Privacy"/>
                    <xsd:enumeration value="Environment, Health and Safety Management"/>
                    <xsd:enumeration value="Hardening Standards and Baselines"/>
                    <xsd:enumeration value="Hardware Assets"/>
                    <xsd:enumeration value="Incident Management"/>
                    <xsd:enumeration value="Information Management"/>
                    <xsd:enumeration value="Information Security"/>
                    <xsd:enumeration value="Internal Audit"/>
                    <xsd:enumeration value="IT Service Management"/>
                    <xsd:enumeration value="IT Support"/>
                    <xsd:enumeration value="Logical Data Protection"/>
                    <xsd:enumeration value="Maintenance and Support"/>
                    <xsd:enumeration value="People Management"/>
                    <xsd:enumeration value="Physical Infrastructure"/>
                    <xsd:enumeration value="Physical Product Design and Development"/>
                    <xsd:enumeration value="Physical Security"/>
                    <xsd:enumeration value="Procurement and Vendor Management"/>
                    <xsd:enumeration value="Project Management"/>
                    <xsd:enumeration value="Presales Services"/>
                    <xsd:enumeration value="QMS and ISMS Management"/>
                    <xsd:enumeration value="Risk Management"/>
                    <xsd:enumeration value="Security"/>
                    <xsd:enumeration value="Service Design"/>
                    <xsd:enumeration value="Service Operation"/>
                    <xsd:enumeration value="Service Transition"/>
                    <xsd:enumeration value="Software Assets"/>
                    <xsd:enumeration value="Software Development"/>
                    <xsd:enumeration value="Software Development for LSH"/>
                    <xsd:enumeration value="Software Testing"/>
                    <xsd:enumeration value="Work Outside the Office"/>
                    <xsd:enumeration value="###"/>
                  </xsd:restriction>
                </xsd:simpleType>
              </xsd:element>
            </xsd:sequence>
          </xsd:extension>
        </xsd:complexContent>
      </xsd:complexType>
    </xsd:element>
    <xsd:element name="TemplatesTextContent" ma:index="14" nillable="true" ma:displayName="TemplatesTextContent" ma:hidden="true" ma:internalName="TemplatesTextContent" ma:readOnly="false">
      <xsd:simpleType>
        <xsd:restriction base="dms:Note"/>
      </xsd:simpleType>
    </xsd:element>
    <xsd:element name="Document_x0020_Approver_x0020__x0028_position_x0029_" ma:index="16" nillable="true" ma:displayName="Approver Position" ma:hidden="true" ma:internalName="Document_x0020_Approver_x0020__x0028_position_x0029_" ma:readOnly="false">
      <xsd:simpleType>
        <xsd:restriction base="dms:Text">
          <xsd:maxLength value="255"/>
        </xsd:restriction>
      </xsd:simpleType>
    </xsd:element>
    <xsd:element name="Document_x0020_Owner_x0020__x0028_position_x0029_" ma:index="26" nillable="true" ma:displayName="Document Owner (position)" ma:hidden="true" ma:internalName="Document_x0020_Owner_x0020__x0028_position_x0029_" ma:readOnly="false">
      <xsd:simpleType>
        <xsd:restriction base="dms:Text">
          <xsd:maxLength value="255"/>
        </xsd:restriction>
      </xsd:simpleType>
    </xsd:element>
    <xsd:element name="MediaServiceAutoKeyPoints" ma:index="27" nillable="true" ma:displayName="MediaServiceAutoKeyPoints" ma:hidden="true" ma:internalName="MediaServiceAutoKeyPoints" ma:readOnly="true">
      <xsd:simpleType>
        <xsd:restriction base="dms:Note"/>
      </xsd:simpleType>
    </xsd:element>
    <xsd:element name="MediaServiceKeyPoints" ma:index="28" nillable="true" ma:displayName="KeyPoints" ma:hidden="true" ma:internalName="MediaServiceKeyPoints" ma:readOnly="true">
      <xsd:simpleType>
        <xsd:restriction base="dms:Note"/>
      </xsd:simpleType>
    </xsd:element>
    <xsd:element name="SharedWithUsers" ma:index="29"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0" nillable="true" ma:displayName="Shared With Details" ma:hidden="true" ma:internalName="SharedWithDetails" ma:readOnly="true">
      <xsd:simpleType>
        <xsd:restriction base="dms:Note"/>
      </xsd:simpleType>
    </xsd:element>
    <xsd:element name="MediaServiceObjectDetectorVersions" ma:index="32" nillable="true" ma:displayName="MediaServiceObjectDetectorVersions"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FriendlyURL" ma:index="34" nillable="true" ma:displayName="FriendlyURL" ma:indexed="true" ma:internalName="FriendlyURL">
      <xsd:simpleType>
        <xsd:restriction base="dms:Text">
          <xsd:maxLength value="255"/>
        </xsd:restriction>
      </xsd:simpleType>
    </xsd:element>
    <xsd:element name="MediaServiceMetadata" ma:index="35" nillable="true" ma:displayName="MediaServiceMetadata" ma:hidden="true" ma:internalName="MediaServiceMetadata" ma:readOnly="true">
      <xsd:simpleType>
        <xsd:restriction base="dms:Note"/>
      </xsd:simpleType>
    </xsd:element>
    <xsd:element name="MediaServiceFastMetadata" ma:index="36"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f73596d-a490-4938-9ae7-6f2abd4edc7d" elementFormDefault="qualified">
    <xsd:import namespace="http://schemas.microsoft.com/office/2006/documentManagement/types"/>
    <xsd:import namespace="http://schemas.microsoft.com/office/infopath/2007/PartnerControls"/>
    <xsd:element name="_dlc_DocIdPersistId" ma:index="18" nillable="true" ma:displayName="Persist ID" ma:description="Keep ID on add." ma:hidden="true" ma:internalName="_dlc_DocIdPersistId" ma:readOnly="false">
      <xsd:simpleType>
        <xsd:restriction base="dms:Boolean"/>
      </xsd:simpleType>
    </xsd:element>
    <xsd:element name="_dlc_DocId" ma:index="24" nillable="true" ma:displayName="Document ID Value" ma:description="The value of the document ID assigned to this item." ma:hidden="true" ma:internalName="_dlc_DocId" ma:readOnly="false">
      <xsd:simpleType>
        <xsd:restriction base="dms:Text"/>
      </xsd:simpleType>
    </xsd:element>
    <xsd:element name="_dlc_DocIdUrl" ma:index="31" nillable="true" ma:displayName="Document ID" ma:description="Permanent link to this document." ma:hidden="true" ma:internalName="_dlc_DocIdUrl" ma:readOnly="false">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ma:displayName="Category"/>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2f73596d-a490-4938-9ae7-6f2abd4edc7d">EPAM-1788376749-144</_dlc_DocId>
    <_dlc_DocIdUrl xmlns="2f73596d-a490-4938-9ae7-6f2abd4edc7d">
      <Url>https://epam.sharepoint.com/sites/policy/_layouts/15/DocIdRedir.aspx?ID=EPAM-1788376749-144</Url>
      <Description>EPAM-1788376749-144</Description>
    </_dlc_DocIdUrl>
    <_dlc_DocIdPersistId xmlns="2f73596d-a490-4938-9ae7-6f2abd4edc7d" xsi:nil="true"/>
    <Company xmlns="http://schemas.microsoft.com/sharepoint/v3">EPAM</Company>
    <DocumentArea xmlns="a17c10a8-bd22-4f4b-9c5c-c3dc02494c46">
      <Value>Presales Services</Value>
    </DocumentArea>
    <Subarea xmlns="a17c10a8-bd22-4f4b-9c5c-c3dc02494c46">###</Subarea>
    <Document_x0020_Approver_x0020__x0028_position_x0029_ xmlns="a17c10a8-bd22-4f4b-9c5c-c3dc02494c46">Manager, Pre-sales Solution Consulting</Document_x0020_Approver_x0020__x0028_position_x0029_>
    <Document_x0020_Owner_x0020__x0028_position_x0029_ xmlns="a17c10a8-bd22-4f4b-9c5c-c3dc02494c46">Manager, Pre-sales Solution Consulting</Document_x0020_Owner_x0020__x0028_position_x0029_>
    <EPAMDocumentID_x0020_ xmlns="a17c10a8-bd22-4f4b-9c5c-c3dc02494c46">EPAM_Template-1339</EPAMDocumentID_x0020_>
    <SharedWithUsers xmlns="a17c10a8-bd22-4f4b-9c5c-c3dc02494c46">
      <UserInfo>
        <DisplayName>Aliaksandra Kruk</DisplayName>
        <AccountId>359</AccountId>
        <AccountType/>
      </UserInfo>
    </SharedWithUsers>
    <TemplatesTextContent xmlns="a17c10a8-bd22-4f4b-9c5c-c3dc02494c46">2024
EPAM Presales Template
</TemplatesTextContent>
    <SubjectDoc xmlns="a17c10a8-bd22-4f4b-9c5c-c3dc02494c46">Template</SubjectDoc>
    <FriendlyURL xmlns="a17c10a8-bd22-4f4b-9c5c-c3dc02494c46">files/templates-examples/presales-template.potx</FriendlyURL>
    <BriefDescription xmlns="a17c10a8-bd22-4f4b-9c5c-c3dc02494c46">This template should be used for all EPAM corporate presentations to be consistent with the corporate EPAM Design Guideline.</BriefDescription>
    <WorkStorage xmlns="a17c10a8-bd22-4f4b-9c5c-c3dc02494c46">
      <Url>https://epam.sharepoint.com/sites/policy/work/Shared Documents/Work Product Templates/Support functions/Presales/RFP, RFI, Client Pitch</Url>
      <Description>/sites/policy/work/Shared Documents/Work Product Templates/Support functions/Presales/RFP, RFI, Client Pitch</Description>
    </WorkStorage>
    <PageName xmlns="a17c10a8-bd22-4f4b-9c5c-c3dc02494c46">
      <Url>https://policy.epam.com/pages/templates-examples/presales-template</Url>
      <Description>Template: Presales Template</Description>
    </PageName>
    <OrganizationalUnit xmlns="a17c10a8-bd22-4f4b-9c5c-c3dc02494c46">
      <Url>https://people.epam.com/network/1/74b04c2c-65f1-418e-8434-603d9963a4f9/structure</Url>
      <Description>Presales Services</Description>
    </OrganizationalUnit>
    <LocationCountry xmlns="a17c10a8-bd22-4f4b-9c5c-c3dc02494c46">
      <Value>Global</Value>
    </LocationCountry>
    <LastApprovalDate xmlns="a17c10a8-bd22-4f4b-9c5c-c3dc02494c46">2025-03-12T21:00:00+00:00</LastApprovalDate>
    <LastApproverName xmlns="a17c10a8-bd22-4f4b-9c5c-c3dc02494c46">Alena Zakharyeva</LastApproverName>
    <Standards xmlns="a17c10a8-bd22-4f4b-9c5c-c3dc02494c46">
      <Value>###</Value>
    </Standards>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9AA8BE-4206-4096-8C92-EC815A50DE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17c10a8-bd22-4f4b-9c5c-c3dc02494c46"/>
    <ds:schemaRef ds:uri="2f73596d-a490-4938-9ae7-6f2abd4edc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2E3419-B313-4514-AD24-D56E1F80A63A}">
  <ds:schemaRefs>
    <ds:schemaRef ds:uri="http://purl.org/dc/dcmitype/"/>
    <ds:schemaRef ds:uri="http://purl.org/dc/terms/"/>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http://schemas.microsoft.com/office/2006/metadata/properties"/>
    <ds:schemaRef ds:uri="2f73596d-a490-4938-9ae7-6f2abd4edc7d"/>
    <ds:schemaRef ds:uri="a17c10a8-bd22-4f4b-9c5c-c3dc02494c46"/>
    <ds:schemaRef ds:uri="http://schemas.microsoft.com/sharepoint/v3"/>
  </ds:schemaRefs>
</ds:datastoreItem>
</file>

<file path=customXml/itemProps3.xml><?xml version="1.0" encoding="utf-8"?>
<ds:datastoreItem xmlns:ds="http://schemas.openxmlformats.org/officeDocument/2006/customXml" ds:itemID="{98E07A2F-D365-4BAE-8C15-D4627D54E876}">
  <ds:schemaRefs>
    <ds:schemaRef ds:uri="http://schemas.microsoft.com/sharepoint/events"/>
  </ds:schemaRefs>
</ds:datastoreItem>
</file>

<file path=customXml/itemProps4.xml><?xml version="1.0" encoding="utf-8"?>
<ds:datastoreItem xmlns:ds="http://schemas.openxmlformats.org/officeDocument/2006/customXml" ds:itemID="{87CA341C-74C1-4577-8C96-EF2605DC52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133</TotalTime>
  <Words>1894</Words>
  <Application>Microsoft Macintosh PowerPoint</Application>
  <PresentationFormat>Widescreen</PresentationFormat>
  <Paragraphs>237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Courier New</vt:lpstr>
      <vt:lpstr>Human Sans</vt:lpstr>
      <vt:lpstr>EPAM Master 2024.1</vt:lpstr>
      <vt:lpstr>React Native's View Modules</vt:lpstr>
      <vt:lpstr>Agenda</vt:lpstr>
      <vt:lpstr>The Shadow Tree: The Blueprint of Your UI</vt:lpstr>
      <vt:lpstr>The Shadow Tree: The Blueprint of Your UI</vt:lpstr>
      <vt:lpstr>Fabric: Rendering Engine</vt:lpstr>
      <vt:lpstr>When to build a Native View</vt:lpstr>
      <vt:lpstr>When to build a Native View</vt:lpstr>
      <vt:lpstr>Building UI with TurboModules</vt:lpstr>
      <vt:lpstr>TurboModules for Views - The Spec</vt:lpstr>
      <vt:lpstr>TurboModules for Views - iOS (ObjC)</vt:lpstr>
      <vt:lpstr>TurboModules for Views - iOS (Swift)</vt:lpstr>
      <vt:lpstr>TurboModules for Views - Android</vt:lpstr>
      <vt:lpstr>TurboModules for Views - Android</vt:lpstr>
      <vt:lpstr>Embedding RN in Native Apps</vt:lpstr>
      <vt:lpstr>Embedding RN in Native Apps - iOS</vt:lpstr>
      <vt:lpstr>Embedding RN in Native Apps - Android</vt:lpstr>
      <vt:lpstr>Embedding RN in Native Apps - Android</vt:lpstr>
      <vt:lpstr>Summary &amp; Key Takeaways</vt:lpstr>
    </vt:vector>
  </TitlesOfParts>
  <Company>EPAM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Template</dc:subject>
  <dc:creator/>
  <cp:lastModifiedBy>Oleksandr Cherevach</cp:lastModifiedBy>
  <cp:revision>3</cp:revision>
  <dcterms:created xsi:type="dcterms:W3CDTF">2025-08-22T14:07:28Z</dcterms:created>
  <dcterms:modified xsi:type="dcterms:W3CDTF">2025-09-05T12:12:34Z</dcterms:modified>
  <cp:category>Quality Management System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bc01fb2a-2413-41f8-a7c8-8cce0a8bf980</vt:lpwstr>
  </property>
  <property fmtid="{D5CDD505-2E9C-101B-9397-08002B2CF9AE}" pid="3" name="ContentTypeId">
    <vt:lpwstr>0x0101006F5799D5350E4747858630C5700DFDF00046CFA168D8AB1B4D937A734D2015792B</vt:lpwstr>
  </property>
  <property fmtid="{D5CDD505-2E9C-101B-9397-08002B2CF9AE}" pid="4" name="MSIP_Label_2a535040-0af2-483f-adc3-a132c21e3e2b_Enabled">
    <vt:lpwstr>true</vt:lpwstr>
  </property>
  <property fmtid="{D5CDD505-2E9C-101B-9397-08002B2CF9AE}" pid="5" name="MSIP_Label_2a535040-0af2-483f-adc3-a132c21e3e2b_SetDate">
    <vt:lpwstr>2024-03-20T07:18:10Z</vt:lpwstr>
  </property>
  <property fmtid="{D5CDD505-2E9C-101B-9397-08002B2CF9AE}" pid="6" name="WinBoxCategory">
    <vt:lpwstr>1694;#EPAM Brands|138ba158-137f-466f-aa50-862e94e55058</vt:lpwstr>
  </property>
  <property fmtid="{D5CDD505-2E9C-101B-9397-08002B2CF9AE}" pid="7" name="MSIP_Label_2a535040-0af2-483f-adc3-a132c21e3e2b_SiteId">
    <vt:lpwstr>b41b72d0-4e9f-4c26-8a69-f949f367c91d</vt:lpwstr>
  </property>
  <property fmtid="{D5CDD505-2E9C-101B-9397-08002B2CF9AE}" pid="8" name="MSIP_Label_2a535040-0af2-483f-adc3-a132c21e3e2b_Method">
    <vt:lpwstr>Standard</vt:lpwstr>
  </property>
  <property fmtid="{D5CDD505-2E9C-101B-9397-08002B2CF9AE}" pid="9" name="MSIP_Label_2a535040-0af2-483f-adc3-a132c21e3e2b_ContentBits">
    <vt:lpwstr>0</vt:lpwstr>
  </property>
  <property fmtid="{D5CDD505-2E9C-101B-9397-08002B2CF9AE}" pid="10" name="MSIP_Label_2a535040-0af2-483f-adc3-a132c21e3e2b_Name">
    <vt:lpwstr>EPAM_Confidential</vt:lpwstr>
  </property>
  <property fmtid="{D5CDD505-2E9C-101B-9397-08002B2CF9AE}" pid="11" name="Company">
    <vt:lpwstr>EPAM</vt:lpwstr>
  </property>
  <property fmtid="{D5CDD505-2E9C-101B-9397-08002B2CF9AE}" pid="12" name="MSIP_Label_2a535040-0af2-483f-adc3-a132c21e3e2b_ActionId">
    <vt:lpwstr>e0f7920a-5184-431d-ab76-048d571a5b6f</vt:lpwstr>
  </property>
  <property fmtid="{D5CDD505-2E9C-101B-9397-08002B2CF9AE}" pid="13" name="publishedVersion">
    <vt:lpwstr>9.4</vt:lpwstr>
  </property>
  <property fmtid="{D5CDD505-2E9C-101B-9397-08002B2CF9AE}" pid="14" name="EPAMDocumentID">
    <vt:lpwstr>EPAM_Template-1339</vt:lpwstr>
  </property>
  <property fmtid="{D5CDD505-2E9C-101B-9397-08002B2CF9AE}" pid="15" name="Review Period">
    <vt:r8>5</vt:r8>
  </property>
  <property fmtid="{D5CDD505-2E9C-101B-9397-08002B2CF9AE}" pid="16" name="RequiredReviewDate">
    <vt:filetime>2030-02-26T21:00:00Z</vt:filetime>
  </property>
  <property fmtid="{D5CDD505-2E9C-101B-9397-08002B2CF9AE}" pid="17" name="OriginalId">
    <vt:r8>312</vt:r8>
  </property>
</Properties>
</file>